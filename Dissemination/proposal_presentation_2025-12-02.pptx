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78" r:id="rId2"/>
    <p:sldId id="256" r:id="rId3"/>
    <p:sldId id="280" r:id="rId4"/>
    <p:sldId id="257" r:id="rId5"/>
    <p:sldId id="306" r:id="rId6"/>
    <p:sldId id="305" r:id="rId7"/>
    <p:sldId id="279" r:id="rId8"/>
    <p:sldId id="286" r:id="rId9"/>
    <p:sldId id="304" r:id="rId10"/>
    <p:sldId id="320" r:id="rId11"/>
    <p:sldId id="316" r:id="rId12"/>
    <p:sldId id="317" r:id="rId13"/>
    <p:sldId id="288" r:id="rId14"/>
    <p:sldId id="277" r:id="rId15"/>
    <p:sldId id="322" r:id="rId16"/>
    <p:sldId id="291" r:id="rId17"/>
    <p:sldId id="312" r:id="rId18"/>
    <p:sldId id="269" r:id="rId19"/>
    <p:sldId id="293" r:id="rId20"/>
    <p:sldId id="321" r:id="rId21"/>
    <p:sldId id="314" r:id="rId22"/>
    <p:sldId id="310" r:id="rId23"/>
    <p:sldId id="319" r:id="rId24"/>
    <p:sldId id="294" r:id="rId25"/>
    <p:sldId id="318" r:id="rId26"/>
    <p:sldId id="270" r:id="rId27"/>
    <p:sldId id="313" r:id="rId28"/>
    <p:sldId id="295" r:id="rId29"/>
    <p:sldId id="272" r:id="rId30"/>
    <p:sldId id="323"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210C580-3026-9AF9-79BE-A7B04CD2095D}" name="Wiggins, Kimberly" initials="KW" userId="S::kimberly.wiggins@cuanschutz.edu::23e41ff0-8327-47b3-bfa5-f65afc7e2c9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71501" autoAdjust="0"/>
  </p:normalViewPr>
  <p:slideViewPr>
    <p:cSldViewPr snapToGrid="0" snapToObjects="1">
      <p:cViewPr varScale="1">
        <p:scale>
          <a:sx n="60" d="100"/>
          <a:sy n="60" d="100"/>
        </p:scale>
        <p:origin x="1315" y="48"/>
      </p:cViewPr>
      <p:guideLst>
        <p:guide orient="horz" pos="2160"/>
        <p:guide pos="3840"/>
      </p:guideLst>
    </p:cSldViewPr>
  </p:slideViewPr>
  <p:notesTextViewPr>
    <p:cViewPr>
      <p:scale>
        <a:sx n="3" d="2"/>
        <a:sy n="3" d="2"/>
      </p:scale>
      <p:origin x="0" y="-432"/>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ggins, Kimberly" userId="23e41ff0-8327-47b3-bfa5-f65afc7e2c9d" providerId="ADAL" clId="{A0F97D8C-61E4-466C-8936-6742A1A2904A}"/>
    <pc:docChg chg="custSel addSld delSld modSld sldOrd">
      <pc:chgData name="Wiggins, Kimberly" userId="23e41ff0-8327-47b3-bfa5-f65afc7e2c9d" providerId="ADAL" clId="{A0F97D8C-61E4-466C-8936-6742A1A2904A}" dt="2025-12-05T16:58:59.835" v="2042" actId="20577"/>
      <pc:docMkLst>
        <pc:docMk/>
      </pc:docMkLst>
      <pc:sldChg chg="modSp mod modNotesTx">
        <pc:chgData name="Wiggins, Kimberly" userId="23e41ff0-8327-47b3-bfa5-f65afc7e2c9d" providerId="ADAL" clId="{A0F97D8C-61E4-466C-8936-6742A1A2904A}" dt="2025-12-05T16:58:59.835" v="2042" actId="20577"/>
        <pc:sldMkLst>
          <pc:docMk/>
          <pc:sldMk cId="1172627519" sldId="278"/>
        </pc:sldMkLst>
        <pc:spChg chg="mod">
          <ac:chgData name="Wiggins, Kimberly" userId="23e41ff0-8327-47b3-bfa5-f65afc7e2c9d" providerId="ADAL" clId="{A0F97D8C-61E4-466C-8936-6742A1A2904A}" dt="2025-12-05T14:02:26.148" v="1054" actId="255"/>
          <ac:spMkLst>
            <pc:docMk/>
            <pc:sldMk cId="1172627519" sldId="278"/>
            <ac:spMk id="3" creationId="{3B59CE64-9048-7476-A51F-42DA85688201}"/>
          </ac:spMkLst>
        </pc:spChg>
      </pc:sldChg>
      <pc:sldChg chg="modNotesTx">
        <pc:chgData name="Wiggins, Kimberly" userId="23e41ff0-8327-47b3-bfa5-f65afc7e2c9d" providerId="ADAL" clId="{A0F97D8C-61E4-466C-8936-6742A1A2904A}" dt="2025-12-02T18:33:39.867" v="433" actId="20577"/>
        <pc:sldMkLst>
          <pc:docMk/>
          <pc:sldMk cId="3991017946" sldId="279"/>
        </pc:sldMkLst>
      </pc:sldChg>
      <pc:sldChg chg="modSp mod modNotesTx">
        <pc:chgData name="Wiggins, Kimberly" userId="23e41ff0-8327-47b3-bfa5-f65afc7e2c9d" providerId="ADAL" clId="{A0F97D8C-61E4-466C-8936-6742A1A2904A}" dt="2025-12-02T18:39:15.576" v="720" actId="20577"/>
        <pc:sldMkLst>
          <pc:docMk/>
          <pc:sldMk cId="2898447613" sldId="286"/>
        </pc:sldMkLst>
        <pc:spChg chg="mod">
          <ac:chgData name="Wiggins, Kimberly" userId="23e41ff0-8327-47b3-bfa5-f65afc7e2c9d" providerId="ADAL" clId="{A0F97D8C-61E4-466C-8936-6742A1A2904A}" dt="2025-12-02T18:34:42.492" v="505" actId="20577"/>
          <ac:spMkLst>
            <pc:docMk/>
            <pc:sldMk cId="2898447613" sldId="286"/>
            <ac:spMk id="3" creationId="{00000000-0000-0000-0000-000000000000}"/>
          </ac:spMkLst>
        </pc:spChg>
      </pc:sldChg>
      <pc:sldChg chg="addSp delSp modSp mod ord">
        <pc:chgData name="Wiggins, Kimberly" userId="23e41ff0-8327-47b3-bfa5-f65afc7e2c9d" providerId="ADAL" clId="{A0F97D8C-61E4-466C-8936-6742A1A2904A}" dt="2025-12-02T18:37:44.018" v="707"/>
        <pc:sldMkLst>
          <pc:docMk/>
          <pc:sldMk cId="3297362352" sldId="288"/>
        </pc:sldMkLst>
        <pc:spChg chg="mod">
          <ac:chgData name="Wiggins, Kimberly" userId="23e41ff0-8327-47b3-bfa5-f65afc7e2c9d" providerId="ADAL" clId="{A0F97D8C-61E4-466C-8936-6742A1A2904A}" dt="2025-12-02T18:36:40.039" v="599" actId="20577"/>
          <ac:spMkLst>
            <pc:docMk/>
            <pc:sldMk cId="3297362352" sldId="288"/>
            <ac:spMk id="2" creationId="{00000000-0000-0000-0000-000000000000}"/>
          </ac:spMkLst>
        </pc:spChg>
        <pc:graphicFrameChg chg="add mod ord modGraphic">
          <ac:chgData name="Wiggins, Kimberly" userId="23e41ff0-8327-47b3-bfa5-f65afc7e2c9d" providerId="ADAL" clId="{A0F97D8C-61E4-466C-8936-6742A1A2904A}" dt="2025-12-02T18:36:28.475" v="582" actId="20577"/>
          <ac:graphicFrameMkLst>
            <pc:docMk/>
            <pc:sldMk cId="3297362352" sldId="288"/>
            <ac:graphicFrameMk id="4" creationId="{2932B841-ABF3-9449-426D-86610A8977C9}"/>
          </ac:graphicFrameMkLst>
        </pc:graphicFrameChg>
      </pc:sldChg>
      <pc:sldChg chg="modSp mod ord modNotesTx">
        <pc:chgData name="Wiggins, Kimberly" userId="23e41ff0-8327-47b3-bfa5-f65afc7e2c9d" providerId="ADAL" clId="{A0F97D8C-61E4-466C-8936-6742A1A2904A}" dt="2025-12-02T18:40:58.058" v="846" actId="1076"/>
        <pc:sldMkLst>
          <pc:docMk/>
          <pc:sldMk cId="1914201621" sldId="304"/>
        </pc:sldMkLst>
        <pc:spChg chg="mod">
          <ac:chgData name="Wiggins, Kimberly" userId="23e41ff0-8327-47b3-bfa5-f65afc7e2c9d" providerId="ADAL" clId="{A0F97D8C-61E4-466C-8936-6742A1A2904A}" dt="2025-12-02T18:40:58.058" v="846" actId="1076"/>
          <ac:spMkLst>
            <pc:docMk/>
            <pc:sldMk cId="1914201621" sldId="304"/>
            <ac:spMk id="9" creationId="{1698A83F-C2E4-4DF4-A5BF-9CF970E9564B}"/>
          </ac:spMkLst>
        </pc:spChg>
      </pc:sldChg>
      <pc:sldChg chg="modSp mod modNotesTx">
        <pc:chgData name="Wiggins, Kimberly" userId="23e41ff0-8327-47b3-bfa5-f65afc7e2c9d" providerId="ADAL" clId="{A0F97D8C-61E4-466C-8936-6742A1A2904A}" dt="2025-12-02T18:33:12.360" v="386" actId="6549"/>
        <pc:sldMkLst>
          <pc:docMk/>
          <pc:sldMk cId="1915304552" sldId="305"/>
        </pc:sldMkLst>
        <pc:spChg chg="mod">
          <ac:chgData name="Wiggins, Kimberly" userId="23e41ff0-8327-47b3-bfa5-f65afc7e2c9d" providerId="ADAL" clId="{A0F97D8C-61E4-466C-8936-6742A1A2904A}" dt="2025-12-02T18:32:51.479" v="376" actId="20577"/>
          <ac:spMkLst>
            <pc:docMk/>
            <pc:sldMk cId="1915304552" sldId="305"/>
            <ac:spMk id="6" creationId="{D6A28261-EF1D-EA35-C850-2C6475085D62}"/>
          </ac:spMkLst>
        </pc:spChg>
      </pc:sldChg>
      <pc:sldChg chg="addSp modSp mod modNotesTx">
        <pc:chgData name="Wiggins, Kimberly" userId="23e41ff0-8327-47b3-bfa5-f65afc7e2c9d" providerId="ADAL" clId="{A0F97D8C-61E4-466C-8936-6742A1A2904A}" dt="2025-12-02T18:31:26.006" v="253" actId="20577"/>
        <pc:sldMkLst>
          <pc:docMk/>
          <pc:sldMk cId="1056603715" sldId="306"/>
        </pc:sldMkLst>
        <pc:spChg chg="add mod">
          <ac:chgData name="Wiggins, Kimberly" userId="23e41ff0-8327-47b3-bfa5-f65afc7e2c9d" providerId="ADAL" clId="{A0F97D8C-61E4-466C-8936-6742A1A2904A}" dt="2025-12-02T18:31:10.976" v="206" actId="20577"/>
          <ac:spMkLst>
            <pc:docMk/>
            <pc:sldMk cId="1056603715" sldId="306"/>
            <ac:spMk id="6" creationId="{F2A88500-47B7-3368-67C2-0FBAE86E550C}"/>
          </ac:spMkLst>
        </pc:spChg>
        <pc:spChg chg="mod">
          <ac:chgData name="Wiggins, Kimberly" userId="23e41ff0-8327-47b3-bfa5-f65afc7e2c9d" providerId="ADAL" clId="{A0F97D8C-61E4-466C-8936-6742A1A2904A}" dt="2025-12-02T18:31:26.006" v="253" actId="20577"/>
          <ac:spMkLst>
            <pc:docMk/>
            <pc:sldMk cId="1056603715" sldId="306"/>
            <ac:spMk id="11" creationId="{18F17B3D-30E0-4170-AEC9-D75A18A3BDA9}"/>
          </ac:spMkLst>
        </pc:spChg>
      </pc:sldChg>
      <pc:sldChg chg="mod modShow">
        <pc:chgData name="Wiggins, Kimberly" userId="23e41ff0-8327-47b3-bfa5-f65afc7e2c9d" providerId="ADAL" clId="{A0F97D8C-61E4-466C-8936-6742A1A2904A}" dt="2025-12-05T16:53:10.150" v="1649" actId="729"/>
        <pc:sldMkLst>
          <pc:docMk/>
          <pc:sldMk cId="4094651452" sldId="314"/>
        </pc:sldMkLst>
      </pc:sldChg>
      <pc:sldChg chg="addSp delSp modSp add mod">
        <pc:chgData name="Wiggins, Kimberly" userId="23e41ff0-8327-47b3-bfa5-f65afc7e2c9d" providerId="ADAL" clId="{A0F97D8C-61E4-466C-8936-6742A1A2904A}" dt="2025-12-02T18:37:40.275" v="705" actId="20577"/>
        <pc:sldMkLst>
          <pc:docMk/>
          <pc:sldMk cId="192295631" sldId="316"/>
        </pc:sldMkLst>
        <pc:spChg chg="mod">
          <ac:chgData name="Wiggins, Kimberly" userId="23e41ff0-8327-47b3-bfa5-f65afc7e2c9d" providerId="ADAL" clId="{A0F97D8C-61E4-466C-8936-6742A1A2904A}" dt="2025-12-02T18:36:48.332" v="617" actId="20577"/>
          <ac:spMkLst>
            <pc:docMk/>
            <pc:sldMk cId="192295631" sldId="316"/>
            <ac:spMk id="2" creationId="{AA6F2CFE-E428-1254-86A7-11638D663DCB}"/>
          </ac:spMkLst>
        </pc:spChg>
        <pc:graphicFrameChg chg="add mod ord modGraphic">
          <ac:chgData name="Wiggins, Kimberly" userId="23e41ff0-8327-47b3-bfa5-f65afc7e2c9d" providerId="ADAL" clId="{A0F97D8C-61E4-466C-8936-6742A1A2904A}" dt="2025-12-02T18:37:40.275" v="705" actId="20577"/>
          <ac:graphicFrameMkLst>
            <pc:docMk/>
            <pc:sldMk cId="192295631" sldId="316"/>
            <ac:graphicFrameMk id="6" creationId="{DAE36BB2-EB3B-9167-64C7-0B4AB9F282AC}"/>
          </ac:graphicFrameMkLst>
        </pc:graphicFrameChg>
      </pc:sldChg>
      <pc:sldChg chg="add">
        <pc:chgData name="Wiggins, Kimberly" userId="23e41ff0-8327-47b3-bfa5-f65afc7e2c9d" providerId="ADAL" clId="{A0F97D8C-61E4-466C-8936-6742A1A2904A}" dt="2025-12-02T18:38:26.284" v="712" actId="2890"/>
        <pc:sldMkLst>
          <pc:docMk/>
          <pc:sldMk cId="1964491328" sldId="317"/>
        </pc:sldMkLst>
      </pc:sldChg>
      <pc:sldChg chg="modNotesTx">
        <pc:chgData name="Wiggins, Kimberly" userId="23e41ff0-8327-47b3-bfa5-f65afc7e2c9d" providerId="ADAL" clId="{A0F97D8C-61E4-466C-8936-6742A1A2904A}" dt="2025-12-05T16:53:07.156" v="1648" actId="20577"/>
        <pc:sldMkLst>
          <pc:docMk/>
          <pc:sldMk cId="447210562" sldId="321"/>
        </pc:sldMkLst>
      </pc:sldChg>
    </pc:docChg>
  </pc:docChgLst>
  <pc:docChgLst>
    <pc:chgData name="Wiggins, Kimberly" userId="23e41ff0-8327-47b3-bfa5-f65afc7e2c9d" providerId="ADAL" clId="{E3A54D00-39C6-4649-915D-C83A1E33B0B1}"/>
    <pc:docChg chg="undo custSel addSld delSld modSld sldOrd">
      <pc:chgData name="Wiggins, Kimberly" userId="23e41ff0-8327-47b3-bfa5-f65afc7e2c9d" providerId="ADAL" clId="{E3A54D00-39C6-4649-915D-C83A1E33B0B1}" dt="2025-12-05T01:30:47.921" v="10661" actId="20577"/>
      <pc:docMkLst>
        <pc:docMk/>
      </pc:docMkLst>
      <pc:sldChg chg="modSp mod">
        <pc:chgData name="Wiggins, Kimberly" userId="23e41ff0-8327-47b3-bfa5-f65afc7e2c9d" providerId="ADAL" clId="{E3A54D00-39C6-4649-915D-C83A1E33B0B1}" dt="2025-12-05T00:21:12.995" v="8774" actId="20577"/>
        <pc:sldMkLst>
          <pc:docMk/>
          <pc:sldMk cId="0" sldId="256"/>
        </pc:sldMkLst>
        <pc:spChg chg="mod">
          <ac:chgData name="Wiggins, Kimberly" userId="23e41ff0-8327-47b3-bfa5-f65afc7e2c9d" providerId="ADAL" clId="{E3A54D00-39C6-4649-915D-C83A1E33B0B1}" dt="2025-12-04T23:13:30.771" v="6919" actId="120"/>
          <ac:spMkLst>
            <pc:docMk/>
            <pc:sldMk cId="0" sldId="256"/>
            <ac:spMk id="2" creationId="{00000000-0000-0000-0000-000000000000}"/>
          </ac:spMkLst>
        </pc:spChg>
        <pc:spChg chg="mod">
          <ac:chgData name="Wiggins, Kimberly" userId="23e41ff0-8327-47b3-bfa5-f65afc7e2c9d" providerId="ADAL" clId="{E3A54D00-39C6-4649-915D-C83A1E33B0B1}" dt="2025-12-05T00:21:12.995" v="8774" actId="20577"/>
          <ac:spMkLst>
            <pc:docMk/>
            <pc:sldMk cId="0" sldId="256"/>
            <ac:spMk id="3" creationId="{00000000-0000-0000-0000-000000000000}"/>
          </ac:spMkLst>
        </pc:spChg>
      </pc:sldChg>
      <pc:sldChg chg="modSp mod modNotesTx">
        <pc:chgData name="Wiggins, Kimberly" userId="23e41ff0-8327-47b3-bfa5-f65afc7e2c9d" providerId="ADAL" clId="{E3A54D00-39C6-4649-915D-C83A1E33B0B1}" dt="2025-12-05T00:22:56.765" v="8879" actId="20577"/>
        <pc:sldMkLst>
          <pc:docMk/>
          <pc:sldMk cId="0" sldId="257"/>
        </pc:sldMkLst>
        <pc:spChg chg="mod">
          <ac:chgData name="Wiggins, Kimberly" userId="23e41ff0-8327-47b3-bfa5-f65afc7e2c9d" providerId="ADAL" clId="{E3A54D00-39C6-4649-915D-C83A1E33B0B1}" dt="2025-12-04T23:17:18.785" v="6987" actId="207"/>
          <ac:spMkLst>
            <pc:docMk/>
            <pc:sldMk cId="0" sldId="257"/>
            <ac:spMk id="3" creationId="{00000000-0000-0000-0000-000000000000}"/>
          </ac:spMkLst>
        </pc:spChg>
      </pc:sldChg>
      <pc:sldChg chg="del ord">
        <pc:chgData name="Wiggins, Kimberly" userId="23e41ff0-8327-47b3-bfa5-f65afc7e2c9d" providerId="ADAL" clId="{E3A54D00-39C6-4649-915D-C83A1E33B0B1}" dt="2025-12-04T18:09:12.273" v="2733" actId="47"/>
        <pc:sldMkLst>
          <pc:docMk/>
          <pc:sldMk cId="0" sldId="261"/>
        </pc:sldMkLst>
      </pc:sldChg>
      <pc:sldChg chg="del">
        <pc:chgData name="Wiggins, Kimberly" userId="23e41ff0-8327-47b3-bfa5-f65afc7e2c9d" providerId="ADAL" clId="{E3A54D00-39C6-4649-915D-C83A1E33B0B1}" dt="2025-12-04T18:11:31.708" v="2839" actId="47"/>
        <pc:sldMkLst>
          <pc:docMk/>
          <pc:sldMk cId="0" sldId="262"/>
        </pc:sldMkLst>
      </pc:sldChg>
      <pc:sldChg chg="modSp del mod modShow">
        <pc:chgData name="Wiggins, Kimberly" userId="23e41ff0-8327-47b3-bfa5-f65afc7e2c9d" providerId="ADAL" clId="{E3A54D00-39C6-4649-915D-C83A1E33B0B1}" dt="2025-12-04T22:37:33.076" v="5274" actId="47"/>
        <pc:sldMkLst>
          <pc:docMk/>
          <pc:sldMk cId="0" sldId="263"/>
        </pc:sldMkLst>
        <pc:spChg chg="mod">
          <ac:chgData name="Wiggins, Kimberly" userId="23e41ff0-8327-47b3-bfa5-f65afc7e2c9d" providerId="ADAL" clId="{E3A54D00-39C6-4649-915D-C83A1E33B0B1}" dt="2025-12-04T18:02:12.456" v="2488"/>
          <ac:spMkLst>
            <pc:docMk/>
            <pc:sldMk cId="0" sldId="263"/>
            <ac:spMk id="3" creationId="{00000000-0000-0000-0000-000000000000}"/>
          </ac:spMkLst>
        </pc:spChg>
      </pc:sldChg>
      <pc:sldChg chg="add del">
        <pc:chgData name="Wiggins, Kimberly" userId="23e41ff0-8327-47b3-bfa5-f65afc7e2c9d" providerId="ADAL" clId="{E3A54D00-39C6-4649-915D-C83A1E33B0B1}" dt="2025-12-04T18:33:12.467" v="4250" actId="47"/>
        <pc:sldMkLst>
          <pc:docMk/>
          <pc:sldMk cId="0" sldId="264"/>
        </pc:sldMkLst>
      </pc:sldChg>
      <pc:sldChg chg="del">
        <pc:chgData name="Wiggins, Kimberly" userId="23e41ff0-8327-47b3-bfa5-f65afc7e2c9d" providerId="ADAL" clId="{E3A54D00-39C6-4649-915D-C83A1E33B0B1}" dt="2025-12-04T18:33:15.718" v="4253" actId="47"/>
        <pc:sldMkLst>
          <pc:docMk/>
          <pc:sldMk cId="0" sldId="265"/>
        </pc:sldMkLst>
      </pc:sldChg>
      <pc:sldChg chg="del">
        <pc:chgData name="Wiggins, Kimberly" userId="23e41ff0-8327-47b3-bfa5-f65afc7e2c9d" providerId="ADAL" clId="{E3A54D00-39C6-4649-915D-C83A1E33B0B1}" dt="2025-12-04T18:28:25.451" v="3661" actId="47"/>
        <pc:sldMkLst>
          <pc:docMk/>
          <pc:sldMk cId="0" sldId="267"/>
        </pc:sldMkLst>
      </pc:sldChg>
      <pc:sldChg chg="del">
        <pc:chgData name="Wiggins, Kimberly" userId="23e41ff0-8327-47b3-bfa5-f65afc7e2c9d" providerId="ADAL" clId="{E3A54D00-39C6-4649-915D-C83A1E33B0B1}" dt="2025-12-04T18:34:51.759" v="4387" actId="47"/>
        <pc:sldMkLst>
          <pc:docMk/>
          <pc:sldMk cId="0" sldId="268"/>
        </pc:sldMkLst>
      </pc:sldChg>
      <pc:sldChg chg="modSp del mod ord modNotesTx">
        <pc:chgData name="Wiggins, Kimberly" userId="23e41ff0-8327-47b3-bfa5-f65afc7e2c9d" providerId="ADAL" clId="{E3A54D00-39C6-4649-915D-C83A1E33B0B1}" dt="2025-12-04T23:48:56.381" v="8033" actId="2696"/>
        <pc:sldMkLst>
          <pc:docMk/>
          <pc:sldMk cId="1664767894" sldId="269"/>
        </pc:sldMkLst>
        <pc:spChg chg="mod">
          <ac:chgData name="Wiggins, Kimberly" userId="23e41ff0-8327-47b3-bfa5-f65afc7e2c9d" providerId="ADAL" clId="{E3A54D00-39C6-4649-915D-C83A1E33B0B1}" dt="2025-12-04T22:25:38.283" v="4606" actId="120"/>
          <ac:spMkLst>
            <pc:docMk/>
            <pc:sldMk cId="1664767894" sldId="269"/>
            <ac:spMk id="2" creationId="{00000000-0000-0000-0000-000000000000}"/>
          </ac:spMkLst>
        </pc:spChg>
        <pc:spChg chg="mod">
          <ac:chgData name="Wiggins, Kimberly" userId="23e41ff0-8327-47b3-bfa5-f65afc7e2c9d" providerId="ADAL" clId="{E3A54D00-39C6-4649-915D-C83A1E33B0B1}" dt="2025-12-04T22:35:46.037" v="5229" actId="20577"/>
          <ac:spMkLst>
            <pc:docMk/>
            <pc:sldMk cId="1664767894" sldId="269"/>
            <ac:spMk id="3" creationId="{00000000-0000-0000-0000-000000000000}"/>
          </ac:spMkLst>
        </pc:spChg>
      </pc:sldChg>
      <pc:sldChg chg="addSp delSp modSp mod ord">
        <pc:chgData name="Wiggins, Kimberly" userId="23e41ff0-8327-47b3-bfa5-f65afc7e2c9d" providerId="ADAL" clId="{E3A54D00-39C6-4649-915D-C83A1E33B0B1}" dt="2025-12-04T23:02:55.145" v="6400"/>
        <pc:sldMkLst>
          <pc:docMk/>
          <pc:sldMk cId="0" sldId="270"/>
        </pc:sldMkLst>
        <pc:spChg chg="mod">
          <ac:chgData name="Wiggins, Kimberly" userId="23e41ff0-8327-47b3-bfa5-f65afc7e2c9d" providerId="ADAL" clId="{E3A54D00-39C6-4649-915D-C83A1E33B0B1}" dt="2025-12-04T22:41:46.322" v="5640" actId="108"/>
          <ac:spMkLst>
            <pc:docMk/>
            <pc:sldMk cId="0" sldId="270"/>
            <ac:spMk id="2" creationId="{00000000-0000-0000-0000-000000000000}"/>
          </ac:spMkLst>
        </pc:spChg>
        <pc:spChg chg="mod">
          <ac:chgData name="Wiggins, Kimberly" userId="23e41ff0-8327-47b3-bfa5-f65afc7e2c9d" providerId="ADAL" clId="{E3A54D00-39C6-4649-915D-C83A1E33B0B1}" dt="2025-12-04T22:43:42.178" v="5663" actId="20577"/>
          <ac:spMkLst>
            <pc:docMk/>
            <pc:sldMk cId="0" sldId="270"/>
            <ac:spMk id="3" creationId="{00000000-0000-0000-0000-000000000000}"/>
          </ac:spMkLst>
        </pc:spChg>
        <pc:picChg chg="del">
          <ac:chgData name="Wiggins, Kimberly" userId="23e41ff0-8327-47b3-bfa5-f65afc7e2c9d" providerId="ADAL" clId="{E3A54D00-39C6-4649-915D-C83A1E33B0B1}" dt="2025-12-04T22:41:55.786" v="5641" actId="478"/>
          <ac:picMkLst>
            <pc:docMk/>
            <pc:sldMk cId="0" sldId="270"/>
            <ac:picMk id="4" creationId="{00000000-0000-0000-0000-000000000000}"/>
          </ac:picMkLst>
        </pc:picChg>
        <pc:picChg chg="add mod">
          <ac:chgData name="Wiggins, Kimberly" userId="23e41ff0-8327-47b3-bfa5-f65afc7e2c9d" providerId="ADAL" clId="{E3A54D00-39C6-4649-915D-C83A1E33B0B1}" dt="2025-12-04T22:45:12.051" v="5683" actId="1076"/>
          <ac:picMkLst>
            <pc:docMk/>
            <pc:sldMk cId="0" sldId="270"/>
            <ac:picMk id="6" creationId="{79C3FBBC-A05C-433C-AEA5-1075B86CCCD2}"/>
          </ac:picMkLst>
        </pc:picChg>
        <pc:picChg chg="add del mod">
          <ac:chgData name="Wiggins, Kimberly" userId="23e41ff0-8327-47b3-bfa5-f65afc7e2c9d" providerId="ADAL" clId="{E3A54D00-39C6-4649-915D-C83A1E33B0B1}" dt="2025-12-04T22:45:00.938" v="5677" actId="478"/>
          <ac:picMkLst>
            <pc:docMk/>
            <pc:sldMk cId="0" sldId="270"/>
            <ac:picMk id="7" creationId="{2A9092E1-F455-4412-8277-3BF78113D625}"/>
          </ac:picMkLst>
        </pc:picChg>
      </pc:sldChg>
      <pc:sldChg chg="del">
        <pc:chgData name="Wiggins, Kimberly" userId="23e41ff0-8327-47b3-bfa5-f65afc7e2c9d" providerId="ADAL" clId="{E3A54D00-39C6-4649-915D-C83A1E33B0B1}" dt="2025-12-04T23:03:00.339" v="6401" actId="47"/>
        <pc:sldMkLst>
          <pc:docMk/>
          <pc:sldMk cId="0" sldId="271"/>
        </pc:sldMkLst>
      </pc:sldChg>
      <pc:sldChg chg="modSp mod modNotesTx">
        <pc:chgData name="Wiggins, Kimberly" userId="23e41ff0-8327-47b3-bfa5-f65afc7e2c9d" providerId="ADAL" clId="{E3A54D00-39C6-4649-915D-C83A1E33B0B1}" dt="2025-12-04T23:56:15.802" v="8501" actId="20577"/>
        <pc:sldMkLst>
          <pc:docMk/>
          <pc:sldMk cId="0" sldId="272"/>
        </pc:sldMkLst>
        <pc:spChg chg="mod">
          <ac:chgData name="Wiggins, Kimberly" userId="23e41ff0-8327-47b3-bfa5-f65afc7e2c9d" providerId="ADAL" clId="{E3A54D00-39C6-4649-915D-C83A1E33B0B1}" dt="2025-12-04T23:03:15.554" v="6404" actId="120"/>
          <ac:spMkLst>
            <pc:docMk/>
            <pc:sldMk cId="0" sldId="272"/>
            <ac:spMk id="2" creationId="{00000000-0000-0000-0000-000000000000}"/>
          </ac:spMkLst>
        </pc:spChg>
      </pc:sldChg>
      <pc:sldChg chg="modSp del mod">
        <pc:chgData name="Wiggins, Kimberly" userId="23e41ff0-8327-47b3-bfa5-f65afc7e2c9d" providerId="ADAL" clId="{E3A54D00-39C6-4649-915D-C83A1E33B0B1}" dt="2025-12-04T23:03:31.774" v="6406" actId="47"/>
        <pc:sldMkLst>
          <pc:docMk/>
          <pc:sldMk cId="0" sldId="273"/>
        </pc:sldMkLst>
        <pc:spChg chg="mod">
          <ac:chgData name="Wiggins, Kimberly" userId="23e41ff0-8327-47b3-bfa5-f65afc7e2c9d" providerId="ADAL" clId="{E3A54D00-39C6-4649-915D-C83A1E33B0B1}" dt="2025-12-04T23:03:24.087" v="6405" actId="108"/>
          <ac:spMkLst>
            <pc:docMk/>
            <pc:sldMk cId="0" sldId="273"/>
            <ac:spMk id="2" creationId="{00000000-0000-0000-0000-000000000000}"/>
          </ac:spMkLst>
        </pc:spChg>
      </pc:sldChg>
      <pc:sldChg chg="del">
        <pc:chgData name="Wiggins, Kimberly" userId="23e41ff0-8327-47b3-bfa5-f65afc7e2c9d" providerId="ADAL" clId="{E3A54D00-39C6-4649-915D-C83A1E33B0B1}" dt="2025-12-04T18:09:27.105" v="2735" actId="47"/>
        <pc:sldMkLst>
          <pc:docMk/>
          <pc:sldMk cId="4260825239" sldId="276"/>
        </pc:sldMkLst>
      </pc:sldChg>
      <pc:sldChg chg="addSp modSp mod ord modNotesTx">
        <pc:chgData name="Wiggins, Kimberly" userId="23e41ff0-8327-47b3-bfa5-f65afc7e2c9d" providerId="ADAL" clId="{E3A54D00-39C6-4649-915D-C83A1E33B0B1}" dt="2025-12-05T01:30:47.921" v="10661" actId="20577"/>
        <pc:sldMkLst>
          <pc:docMk/>
          <pc:sldMk cId="4155561830" sldId="277"/>
        </pc:sldMkLst>
        <pc:spChg chg="mod">
          <ac:chgData name="Wiggins, Kimberly" userId="23e41ff0-8327-47b3-bfa5-f65afc7e2c9d" providerId="ADAL" clId="{E3A54D00-39C6-4649-915D-C83A1E33B0B1}" dt="2025-12-05T01:28:37.755" v="10572" actId="27636"/>
          <ac:spMkLst>
            <pc:docMk/>
            <pc:sldMk cId="4155561830" sldId="277"/>
            <ac:spMk id="3" creationId="{B2FC71AF-9760-9F05-A119-5D75D414F187}"/>
          </ac:spMkLst>
        </pc:spChg>
        <pc:picChg chg="add mod">
          <ac:chgData name="Wiggins, Kimberly" userId="23e41ff0-8327-47b3-bfa5-f65afc7e2c9d" providerId="ADAL" clId="{E3A54D00-39C6-4649-915D-C83A1E33B0B1}" dt="2025-12-05T01:30:41.599" v="10652" actId="1076"/>
          <ac:picMkLst>
            <pc:docMk/>
            <pc:sldMk cId="4155561830" sldId="277"/>
            <ac:picMk id="5" creationId="{8C5E17FD-161E-4299-8C24-9FAD8A39CEB7}"/>
          </ac:picMkLst>
        </pc:picChg>
      </pc:sldChg>
      <pc:sldChg chg="modNotesTx">
        <pc:chgData name="Wiggins, Kimberly" userId="23e41ff0-8327-47b3-bfa5-f65afc7e2c9d" providerId="ADAL" clId="{E3A54D00-39C6-4649-915D-C83A1E33B0B1}" dt="2025-12-05T00:19:28.798" v="8711" actId="20577"/>
        <pc:sldMkLst>
          <pc:docMk/>
          <pc:sldMk cId="1172627519" sldId="278"/>
        </pc:sldMkLst>
      </pc:sldChg>
      <pc:sldChg chg="addSp delSp modSp mod">
        <pc:chgData name="Wiggins, Kimberly" userId="23e41ff0-8327-47b3-bfa5-f65afc7e2c9d" providerId="ADAL" clId="{E3A54D00-39C6-4649-915D-C83A1E33B0B1}" dt="2025-12-04T23:26:01.177" v="7319" actId="14100"/>
        <pc:sldMkLst>
          <pc:docMk/>
          <pc:sldMk cId="3991017946" sldId="279"/>
        </pc:sldMkLst>
        <pc:spChg chg="mod">
          <ac:chgData name="Wiggins, Kimberly" userId="23e41ff0-8327-47b3-bfa5-f65afc7e2c9d" providerId="ADAL" clId="{E3A54D00-39C6-4649-915D-C83A1E33B0B1}" dt="2025-12-04T23:25:44.017" v="7310" actId="20577"/>
          <ac:spMkLst>
            <pc:docMk/>
            <pc:sldMk cId="3991017946" sldId="279"/>
            <ac:spMk id="5" creationId="{4A248289-9758-183F-73D1-1630D8CF1A1C}"/>
          </ac:spMkLst>
        </pc:spChg>
        <pc:spChg chg="add mod">
          <ac:chgData name="Wiggins, Kimberly" userId="23e41ff0-8327-47b3-bfa5-f65afc7e2c9d" providerId="ADAL" clId="{E3A54D00-39C6-4649-915D-C83A1E33B0B1}" dt="2025-12-04T23:25:54.251" v="7318" actId="20577"/>
          <ac:spMkLst>
            <pc:docMk/>
            <pc:sldMk cId="3991017946" sldId="279"/>
            <ac:spMk id="12" creationId="{D507753B-1838-40D9-941B-F7335E22F8A4}"/>
          </ac:spMkLst>
        </pc:spChg>
        <pc:picChg chg="mod">
          <ac:chgData name="Wiggins, Kimberly" userId="23e41ff0-8327-47b3-bfa5-f65afc7e2c9d" providerId="ADAL" clId="{E3A54D00-39C6-4649-915D-C83A1E33B0B1}" dt="2025-12-04T23:25:19.689" v="7302" actId="1076"/>
          <ac:picMkLst>
            <pc:docMk/>
            <pc:sldMk cId="3991017946" sldId="279"/>
            <ac:picMk id="4" creationId="{C731D0BB-A423-7013-B8A8-7F2F5C60D87F}"/>
          </ac:picMkLst>
        </pc:picChg>
        <pc:picChg chg="add del mod">
          <ac:chgData name="Wiggins, Kimberly" userId="23e41ff0-8327-47b3-bfa5-f65afc7e2c9d" providerId="ADAL" clId="{E3A54D00-39C6-4649-915D-C83A1E33B0B1}" dt="2025-12-04T23:24:52.002" v="7296" actId="478"/>
          <ac:picMkLst>
            <pc:docMk/>
            <pc:sldMk cId="3991017946" sldId="279"/>
            <ac:picMk id="9" creationId="{A6A6AFA0-2373-4A7A-9F85-ADFD506C14A8}"/>
          </ac:picMkLst>
        </pc:picChg>
        <pc:picChg chg="add mod">
          <ac:chgData name="Wiggins, Kimberly" userId="23e41ff0-8327-47b3-bfa5-f65afc7e2c9d" providerId="ADAL" clId="{E3A54D00-39C6-4649-915D-C83A1E33B0B1}" dt="2025-12-04T23:26:01.177" v="7319" actId="14100"/>
          <ac:picMkLst>
            <pc:docMk/>
            <pc:sldMk cId="3991017946" sldId="279"/>
            <ac:picMk id="11" creationId="{0EC6D2E3-6D5F-4D95-A2B0-F6FF6B92EDB7}"/>
          </ac:picMkLst>
        </pc:picChg>
      </pc:sldChg>
      <pc:sldChg chg="modSp mod">
        <pc:chgData name="Wiggins, Kimberly" userId="23e41ff0-8327-47b3-bfa5-f65afc7e2c9d" providerId="ADAL" clId="{E3A54D00-39C6-4649-915D-C83A1E33B0B1}" dt="2025-12-04T23:17:09.688" v="6986" actId="120"/>
        <pc:sldMkLst>
          <pc:docMk/>
          <pc:sldMk cId="1904601363" sldId="280"/>
        </pc:sldMkLst>
        <pc:spChg chg="mod">
          <ac:chgData name="Wiggins, Kimberly" userId="23e41ff0-8327-47b3-bfa5-f65afc7e2c9d" providerId="ADAL" clId="{E3A54D00-39C6-4649-915D-C83A1E33B0B1}" dt="2025-12-04T23:17:09.688" v="6986" actId="120"/>
          <ac:spMkLst>
            <pc:docMk/>
            <pc:sldMk cId="1904601363" sldId="280"/>
            <ac:spMk id="2" creationId="{00000000-0000-0000-0000-000000000000}"/>
          </ac:spMkLst>
        </pc:spChg>
        <pc:spChg chg="mod">
          <ac:chgData name="Wiggins, Kimberly" userId="23e41ff0-8327-47b3-bfa5-f65afc7e2c9d" providerId="ADAL" clId="{E3A54D00-39C6-4649-915D-C83A1E33B0B1}" dt="2025-12-04T18:02:12.456" v="2488"/>
          <ac:spMkLst>
            <pc:docMk/>
            <pc:sldMk cId="1904601363" sldId="280"/>
            <ac:spMk id="3" creationId="{00000000-0000-0000-0000-000000000000}"/>
          </ac:spMkLst>
        </pc:spChg>
      </pc:sldChg>
      <pc:sldChg chg="del">
        <pc:chgData name="Wiggins, Kimberly" userId="23e41ff0-8327-47b3-bfa5-f65afc7e2c9d" providerId="ADAL" clId="{E3A54D00-39C6-4649-915D-C83A1E33B0B1}" dt="2025-12-04T23:03:43.039" v="6408" actId="47"/>
        <pc:sldMkLst>
          <pc:docMk/>
          <pc:sldMk cId="1821324306" sldId="282"/>
        </pc:sldMkLst>
      </pc:sldChg>
      <pc:sldChg chg="modSp del">
        <pc:chgData name="Wiggins, Kimberly" userId="23e41ff0-8327-47b3-bfa5-f65afc7e2c9d" providerId="ADAL" clId="{E3A54D00-39C6-4649-915D-C83A1E33B0B1}" dt="2025-12-04T23:03:49.878" v="6409" actId="47"/>
        <pc:sldMkLst>
          <pc:docMk/>
          <pc:sldMk cId="977960015" sldId="284"/>
        </pc:sldMkLst>
        <pc:spChg chg="mod">
          <ac:chgData name="Wiggins, Kimberly" userId="23e41ff0-8327-47b3-bfa5-f65afc7e2c9d" providerId="ADAL" clId="{E3A54D00-39C6-4649-915D-C83A1E33B0B1}" dt="2025-12-04T18:02:12.456" v="2488"/>
          <ac:spMkLst>
            <pc:docMk/>
            <pc:sldMk cId="977960015" sldId="284"/>
            <ac:spMk id="9" creationId="{1698A83F-C2E4-4DF4-A5BF-9CF970E9564B}"/>
          </ac:spMkLst>
        </pc:spChg>
      </pc:sldChg>
      <pc:sldChg chg="modSp mod modNotes modNotesTx">
        <pc:chgData name="Wiggins, Kimberly" userId="23e41ff0-8327-47b3-bfa5-f65afc7e2c9d" providerId="ADAL" clId="{E3A54D00-39C6-4649-915D-C83A1E33B0B1}" dt="2025-12-05T00:19:45.385" v="8763" actId="20577"/>
        <pc:sldMkLst>
          <pc:docMk/>
          <pc:sldMk cId="2898447613" sldId="286"/>
        </pc:sldMkLst>
        <pc:spChg chg="mod">
          <ac:chgData name="Wiggins, Kimberly" userId="23e41ff0-8327-47b3-bfa5-f65afc7e2c9d" providerId="ADAL" clId="{E3A54D00-39C6-4649-915D-C83A1E33B0B1}" dt="2025-12-04T23:19:49.365" v="7254" actId="20577"/>
          <ac:spMkLst>
            <pc:docMk/>
            <pc:sldMk cId="2898447613" sldId="286"/>
            <ac:spMk id="3" creationId="{00000000-0000-0000-0000-000000000000}"/>
          </ac:spMkLst>
        </pc:spChg>
      </pc:sldChg>
      <pc:sldChg chg="modSp del">
        <pc:chgData name="Wiggins, Kimberly" userId="23e41ff0-8327-47b3-bfa5-f65afc7e2c9d" providerId="ADAL" clId="{E3A54D00-39C6-4649-915D-C83A1E33B0B1}" dt="2025-12-04T23:04:19.102" v="6413" actId="47"/>
        <pc:sldMkLst>
          <pc:docMk/>
          <pc:sldMk cId="1866446174" sldId="287"/>
        </pc:sldMkLst>
        <pc:spChg chg="mod">
          <ac:chgData name="Wiggins, Kimberly" userId="23e41ff0-8327-47b3-bfa5-f65afc7e2c9d" providerId="ADAL" clId="{E3A54D00-39C6-4649-915D-C83A1E33B0B1}" dt="2025-12-04T18:02:12.456" v="2488"/>
          <ac:spMkLst>
            <pc:docMk/>
            <pc:sldMk cId="1866446174" sldId="287"/>
            <ac:spMk id="9" creationId="{1698A83F-C2E4-4DF4-A5BF-9CF970E9564B}"/>
          </ac:spMkLst>
        </pc:spChg>
      </pc:sldChg>
      <pc:sldChg chg="addSp delSp modSp mod ord modNotesTx">
        <pc:chgData name="Wiggins, Kimberly" userId="23e41ff0-8327-47b3-bfa5-f65afc7e2c9d" providerId="ADAL" clId="{E3A54D00-39C6-4649-915D-C83A1E33B0B1}" dt="2025-12-05T00:38:52.665" v="9199" actId="20577"/>
        <pc:sldMkLst>
          <pc:docMk/>
          <pc:sldMk cId="3297362352" sldId="288"/>
        </pc:sldMkLst>
        <pc:spChg chg="mod">
          <ac:chgData name="Wiggins, Kimberly" userId="23e41ff0-8327-47b3-bfa5-f65afc7e2c9d" providerId="ADAL" clId="{E3A54D00-39C6-4649-915D-C83A1E33B0B1}" dt="2025-12-04T18:08:36.501" v="2724" actId="14100"/>
          <ac:spMkLst>
            <pc:docMk/>
            <pc:sldMk cId="3297362352" sldId="288"/>
            <ac:spMk id="2" creationId="{00000000-0000-0000-0000-000000000000}"/>
          </ac:spMkLst>
        </pc:spChg>
        <pc:spChg chg="add mod">
          <ac:chgData name="Wiggins, Kimberly" userId="23e41ff0-8327-47b3-bfa5-f65afc7e2c9d" providerId="ADAL" clId="{E3A54D00-39C6-4649-915D-C83A1E33B0B1}" dt="2025-12-04T23:51:32.029" v="8119" actId="255"/>
          <ac:spMkLst>
            <pc:docMk/>
            <pc:sldMk cId="3297362352" sldId="288"/>
            <ac:spMk id="6" creationId="{391AA1AB-216B-4907-A2A9-73097AF1A9F5}"/>
          </ac:spMkLst>
        </pc:spChg>
        <pc:graphicFrameChg chg="mod modGraphic">
          <ac:chgData name="Wiggins, Kimberly" userId="23e41ff0-8327-47b3-bfa5-f65afc7e2c9d" providerId="ADAL" clId="{E3A54D00-39C6-4649-915D-C83A1E33B0B1}" dt="2025-12-04T23:36:02.992" v="7510"/>
          <ac:graphicFrameMkLst>
            <pc:docMk/>
            <pc:sldMk cId="3297362352" sldId="288"/>
            <ac:graphicFrameMk id="4" creationId="{2932B841-ABF3-9449-426D-86610A8977C9}"/>
          </ac:graphicFrameMkLst>
        </pc:graphicFrameChg>
        <pc:graphicFrameChg chg="add del mod modGraphic">
          <ac:chgData name="Wiggins, Kimberly" userId="23e41ff0-8327-47b3-bfa5-f65afc7e2c9d" providerId="ADAL" clId="{E3A54D00-39C6-4649-915D-C83A1E33B0B1}" dt="2025-12-04T17:39:01.744" v="1644" actId="478"/>
          <ac:graphicFrameMkLst>
            <pc:docMk/>
            <pc:sldMk cId="3297362352" sldId="288"/>
            <ac:graphicFrameMk id="5" creationId="{EB5880C8-AD89-4525-B240-72002E197DA2}"/>
          </ac:graphicFrameMkLst>
        </pc:graphicFrameChg>
      </pc:sldChg>
      <pc:sldChg chg="del">
        <pc:chgData name="Wiggins, Kimberly" userId="23e41ff0-8327-47b3-bfa5-f65afc7e2c9d" providerId="ADAL" clId="{E3A54D00-39C6-4649-915D-C83A1E33B0B1}" dt="2025-12-04T18:11:54.392" v="2876" actId="47"/>
        <pc:sldMkLst>
          <pc:docMk/>
          <pc:sldMk cId="2209216353" sldId="289"/>
        </pc:sldMkLst>
      </pc:sldChg>
      <pc:sldChg chg="add del">
        <pc:chgData name="Wiggins, Kimberly" userId="23e41ff0-8327-47b3-bfa5-f65afc7e2c9d" providerId="ADAL" clId="{E3A54D00-39C6-4649-915D-C83A1E33B0B1}" dt="2025-12-04T18:12:15.083" v="2882" actId="47"/>
        <pc:sldMkLst>
          <pc:docMk/>
          <pc:sldMk cId="3851132941" sldId="290"/>
        </pc:sldMkLst>
      </pc:sldChg>
      <pc:sldChg chg="modSp mod ord">
        <pc:chgData name="Wiggins, Kimberly" userId="23e41ff0-8327-47b3-bfa5-f65afc7e2c9d" providerId="ADAL" clId="{E3A54D00-39C6-4649-915D-C83A1E33B0B1}" dt="2025-12-05T00:42:44.025" v="9203" actId="27636"/>
        <pc:sldMkLst>
          <pc:docMk/>
          <pc:sldMk cId="2729579942" sldId="291"/>
        </pc:sldMkLst>
        <pc:spChg chg="mod">
          <ac:chgData name="Wiggins, Kimberly" userId="23e41ff0-8327-47b3-bfa5-f65afc7e2c9d" providerId="ADAL" clId="{E3A54D00-39C6-4649-915D-C83A1E33B0B1}" dt="2025-12-05T00:42:44.025" v="9203" actId="27636"/>
          <ac:spMkLst>
            <pc:docMk/>
            <pc:sldMk cId="2729579942" sldId="291"/>
            <ac:spMk id="4" creationId="{B64A999C-23E8-45BD-B036-C6D1D2126E28}"/>
          </ac:spMkLst>
        </pc:spChg>
      </pc:sldChg>
      <pc:sldChg chg="del">
        <pc:chgData name="Wiggins, Kimberly" userId="23e41ff0-8327-47b3-bfa5-f65afc7e2c9d" providerId="ADAL" clId="{E3A54D00-39C6-4649-915D-C83A1E33B0B1}" dt="2025-12-04T23:03:36.412" v="6407" actId="47"/>
        <pc:sldMkLst>
          <pc:docMk/>
          <pc:sldMk cId="515583281" sldId="292"/>
        </pc:sldMkLst>
      </pc:sldChg>
      <pc:sldChg chg="modSp mod ord modNotesTx">
        <pc:chgData name="Wiggins, Kimberly" userId="23e41ff0-8327-47b3-bfa5-f65afc7e2c9d" providerId="ADAL" clId="{E3A54D00-39C6-4649-915D-C83A1E33B0B1}" dt="2025-12-04T23:30:41.941" v="7482"/>
        <pc:sldMkLst>
          <pc:docMk/>
          <pc:sldMk cId="947753151" sldId="293"/>
        </pc:sldMkLst>
        <pc:graphicFrameChg chg="mod">
          <ac:chgData name="Wiggins, Kimberly" userId="23e41ff0-8327-47b3-bfa5-f65afc7e2c9d" providerId="ADAL" clId="{E3A54D00-39C6-4649-915D-C83A1E33B0B1}" dt="2025-12-04T23:16:42.303" v="6985" actId="14100"/>
          <ac:graphicFrameMkLst>
            <pc:docMk/>
            <pc:sldMk cId="947753151" sldId="293"/>
            <ac:graphicFrameMk id="6" creationId="{642E130C-6B0A-4265-8BE4-B38309259F5B}"/>
          </ac:graphicFrameMkLst>
        </pc:graphicFrameChg>
      </pc:sldChg>
      <pc:sldChg chg="modSp mod modNotesTx">
        <pc:chgData name="Wiggins, Kimberly" userId="23e41ff0-8327-47b3-bfa5-f65afc7e2c9d" providerId="ADAL" clId="{E3A54D00-39C6-4649-915D-C83A1E33B0B1}" dt="2025-12-05T00:54:48.956" v="9338" actId="20577"/>
        <pc:sldMkLst>
          <pc:docMk/>
          <pc:sldMk cId="3785389557" sldId="294"/>
        </pc:sldMkLst>
        <pc:spChg chg="mod">
          <ac:chgData name="Wiggins, Kimberly" userId="23e41ff0-8327-47b3-bfa5-f65afc7e2c9d" providerId="ADAL" clId="{E3A54D00-39C6-4649-915D-C83A1E33B0B1}" dt="2025-12-04T18:32:11.044" v="4112" actId="20577"/>
          <ac:spMkLst>
            <pc:docMk/>
            <pc:sldMk cId="3785389557" sldId="294"/>
            <ac:spMk id="2" creationId="{F451110E-D4DB-AB8B-2871-5F3284CFA3ED}"/>
          </ac:spMkLst>
        </pc:spChg>
        <pc:spChg chg="mod">
          <ac:chgData name="Wiggins, Kimberly" userId="23e41ff0-8327-47b3-bfa5-f65afc7e2c9d" providerId="ADAL" clId="{E3A54D00-39C6-4649-915D-C83A1E33B0B1}" dt="2025-12-05T00:54:48.956" v="9338" actId="20577"/>
          <ac:spMkLst>
            <pc:docMk/>
            <pc:sldMk cId="3785389557" sldId="294"/>
            <ac:spMk id="4" creationId="{B64A999C-23E8-45BD-B036-C6D1D2126E28}"/>
          </ac:spMkLst>
        </pc:spChg>
      </pc:sldChg>
      <pc:sldChg chg="add del">
        <pc:chgData name="Wiggins, Kimberly" userId="23e41ff0-8327-47b3-bfa5-f65afc7e2c9d" providerId="ADAL" clId="{E3A54D00-39C6-4649-915D-C83A1E33B0B1}" dt="2025-12-04T18:12:17.646" v="2883" actId="47"/>
        <pc:sldMkLst>
          <pc:docMk/>
          <pc:sldMk cId="4221947186" sldId="296"/>
        </pc:sldMkLst>
      </pc:sldChg>
      <pc:sldChg chg="del">
        <pc:chgData name="Wiggins, Kimberly" userId="23e41ff0-8327-47b3-bfa5-f65afc7e2c9d" providerId="ADAL" clId="{E3A54D00-39C6-4649-915D-C83A1E33B0B1}" dt="2025-12-04T23:09:10.791" v="6858" actId="47"/>
        <pc:sldMkLst>
          <pc:docMk/>
          <pc:sldMk cId="2701605144" sldId="300"/>
        </pc:sldMkLst>
      </pc:sldChg>
      <pc:sldChg chg="add del ord">
        <pc:chgData name="Wiggins, Kimberly" userId="23e41ff0-8327-47b3-bfa5-f65afc7e2c9d" providerId="ADAL" clId="{E3A54D00-39C6-4649-915D-C83A1E33B0B1}" dt="2025-12-04T23:07:12.089" v="6591" actId="47"/>
        <pc:sldMkLst>
          <pc:docMk/>
          <pc:sldMk cId="3121572204" sldId="301"/>
        </pc:sldMkLst>
      </pc:sldChg>
      <pc:sldChg chg="del">
        <pc:chgData name="Wiggins, Kimberly" userId="23e41ff0-8327-47b3-bfa5-f65afc7e2c9d" providerId="ADAL" clId="{E3A54D00-39C6-4649-915D-C83A1E33B0B1}" dt="2025-12-04T23:09:05.812" v="6857" actId="47"/>
        <pc:sldMkLst>
          <pc:docMk/>
          <pc:sldMk cId="3890296756" sldId="302"/>
        </pc:sldMkLst>
      </pc:sldChg>
      <pc:sldChg chg="modSp del mod">
        <pc:chgData name="Wiggins, Kimberly" userId="23e41ff0-8327-47b3-bfa5-f65afc7e2c9d" providerId="ADAL" clId="{E3A54D00-39C6-4649-915D-C83A1E33B0B1}" dt="2025-12-04T23:08:42.242" v="6840" actId="47"/>
        <pc:sldMkLst>
          <pc:docMk/>
          <pc:sldMk cId="3766785831" sldId="303"/>
        </pc:sldMkLst>
        <pc:spChg chg="mod">
          <ac:chgData name="Wiggins, Kimberly" userId="23e41ff0-8327-47b3-bfa5-f65afc7e2c9d" providerId="ADAL" clId="{E3A54D00-39C6-4649-915D-C83A1E33B0B1}" dt="2025-12-04T23:08:26.841" v="6835" actId="21"/>
          <ac:spMkLst>
            <pc:docMk/>
            <pc:sldMk cId="3766785831" sldId="303"/>
            <ac:spMk id="9" creationId="{1698A83F-C2E4-4DF4-A5BF-9CF970E9564B}"/>
          </ac:spMkLst>
        </pc:spChg>
      </pc:sldChg>
      <pc:sldChg chg="modSp mod modNotesTx">
        <pc:chgData name="Wiggins, Kimberly" userId="23e41ff0-8327-47b3-bfa5-f65afc7e2c9d" providerId="ADAL" clId="{E3A54D00-39C6-4649-915D-C83A1E33B0B1}" dt="2025-12-05T00:27:39.092" v="8880"/>
        <pc:sldMkLst>
          <pc:docMk/>
          <pc:sldMk cId="1914201621" sldId="304"/>
        </pc:sldMkLst>
        <pc:spChg chg="mod">
          <ac:chgData name="Wiggins, Kimberly" userId="23e41ff0-8327-47b3-bfa5-f65afc7e2c9d" providerId="ADAL" clId="{E3A54D00-39C6-4649-915D-C83A1E33B0B1}" dt="2025-12-04T23:26:51.639" v="7322" actId="20577"/>
          <ac:spMkLst>
            <pc:docMk/>
            <pc:sldMk cId="1914201621" sldId="304"/>
            <ac:spMk id="9" creationId="{1698A83F-C2E4-4DF4-A5BF-9CF970E9564B}"/>
          </ac:spMkLst>
        </pc:spChg>
      </pc:sldChg>
      <pc:sldChg chg="modSp modNotes">
        <pc:chgData name="Wiggins, Kimberly" userId="23e41ff0-8327-47b3-bfa5-f65afc7e2c9d" providerId="ADAL" clId="{E3A54D00-39C6-4649-915D-C83A1E33B0B1}" dt="2025-12-04T18:02:12.456" v="2488"/>
        <pc:sldMkLst>
          <pc:docMk/>
          <pc:sldMk cId="1915304552" sldId="305"/>
        </pc:sldMkLst>
        <pc:spChg chg="mod">
          <ac:chgData name="Wiggins, Kimberly" userId="23e41ff0-8327-47b3-bfa5-f65afc7e2c9d" providerId="ADAL" clId="{E3A54D00-39C6-4649-915D-C83A1E33B0B1}" dt="2025-12-04T18:02:12.456" v="2488"/>
          <ac:spMkLst>
            <pc:docMk/>
            <pc:sldMk cId="1915304552" sldId="305"/>
            <ac:spMk id="6" creationId="{D6A28261-EF1D-EA35-C850-2C6475085D62}"/>
          </ac:spMkLst>
        </pc:spChg>
      </pc:sldChg>
      <pc:sldChg chg="modSp">
        <pc:chgData name="Wiggins, Kimberly" userId="23e41ff0-8327-47b3-bfa5-f65afc7e2c9d" providerId="ADAL" clId="{E3A54D00-39C6-4649-915D-C83A1E33B0B1}" dt="2025-12-04T18:02:12.456" v="2488"/>
        <pc:sldMkLst>
          <pc:docMk/>
          <pc:sldMk cId="1056603715" sldId="306"/>
        </pc:sldMkLst>
        <pc:spChg chg="mod">
          <ac:chgData name="Wiggins, Kimberly" userId="23e41ff0-8327-47b3-bfa5-f65afc7e2c9d" providerId="ADAL" clId="{E3A54D00-39C6-4649-915D-C83A1E33B0B1}" dt="2025-12-04T18:02:12.456" v="2488"/>
          <ac:spMkLst>
            <pc:docMk/>
            <pc:sldMk cId="1056603715" sldId="306"/>
            <ac:spMk id="6" creationId="{F2A88500-47B7-3368-67C2-0FBAE86E550C}"/>
          </ac:spMkLst>
        </pc:spChg>
      </pc:sldChg>
      <pc:sldChg chg="del">
        <pc:chgData name="Wiggins, Kimberly" userId="23e41ff0-8327-47b3-bfa5-f65afc7e2c9d" providerId="ADAL" clId="{E3A54D00-39C6-4649-915D-C83A1E33B0B1}" dt="2025-12-04T18:33:14.296" v="4252" actId="47"/>
        <pc:sldMkLst>
          <pc:docMk/>
          <pc:sldMk cId="3900340979" sldId="307"/>
        </pc:sldMkLst>
      </pc:sldChg>
      <pc:sldChg chg="del">
        <pc:chgData name="Wiggins, Kimberly" userId="23e41ff0-8327-47b3-bfa5-f65afc7e2c9d" providerId="ADAL" clId="{E3A54D00-39C6-4649-915D-C83A1E33B0B1}" dt="2025-12-04T18:32:59.092" v="4245" actId="47"/>
        <pc:sldMkLst>
          <pc:docMk/>
          <pc:sldMk cId="2831739865" sldId="308"/>
        </pc:sldMkLst>
      </pc:sldChg>
      <pc:sldChg chg="add del">
        <pc:chgData name="Wiggins, Kimberly" userId="23e41ff0-8327-47b3-bfa5-f65afc7e2c9d" providerId="ADAL" clId="{E3A54D00-39C6-4649-915D-C83A1E33B0B1}" dt="2025-12-04T18:33:12.918" v="4251" actId="47"/>
        <pc:sldMkLst>
          <pc:docMk/>
          <pc:sldMk cId="329999177" sldId="309"/>
        </pc:sldMkLst>
      </pc:sldChg>
      <pc:sldChg chg="addSp delSp modSp mod ord modNotesTx">
        <pc:chgData name="Wiggins, Kimberly" userId="23e41ff0-8327-47b3-bfa5-f65afc7e2c9d" providerId="ADAL" clId="{E3A54D00-39C6-4649-915D-C83A1E33B0B1}" dt="2025-12-04T23:47:27.721" v="8032" actId="20577"/>
        <pc:sldMkLst>
          <pc:docMk/>
          <pc:sldMk cId="13428540" sldId="310"/>
        </pc:sldMkLst>
        <pc:spChg chg="mod">
          <ac:chgData name="Wiggins, Kimberly" userId="23e41ff0-8327-47b3-bfa5-f65afc7e2c9d" providerId="ADAL" clId="{E3A54D00-39C6-4649-915D-C83A1E33B0B1}" dt="2025-12-04T23:47:11.198" v="7993" actId="20577"/>
          <ac:spMkLst>
            <pc:docMk/>
            <pc:sldMk cId="13428540" sldId="310"/>
            <ac:spMk id="2" creationId="{0A5C5334-DB1A-C472-0A56-1B1D6C23C89F}"/>
          </ac:spMkLst>
        </pc:spChg>
        <pc:spChg chg="del mod">
          <ac:chgData name="Wiggins, Kimberly" userId="23e41ff0-8327-47b3-bfa5-f65afc7e2c9d" providerId="ADAL" clId="{E3A54D00-39C6-4649-915D-C83A1E33B0B1}" dt="2025-12-04T18:13:18.117" v="2887" actId="3680"/>
          <ac:spMkLst>
            <pc:docMk/>
            <pc:sldMk cId="13428540" sldId="310"/>
            <ac:spMk id="4" creationId="{BA5E5E96-B6A1-0990-2275-75BE81B93E17}"/>
          </ac:spMkLst>
        </pc:spChg>
        <pc:spChg chg="add del mod">
          <ac:chgData name="Wiggins, Kimberly" userId="23e41ff0-8327-47b3-bfa5-f65afc7e2c9d" providerId="ADAL" clId="{E3A54D00-39C6-4649-915D-C83A1E33B0B1}" dt="2025-12-04T18:17:39.465" v="3163" actId="478"/>
          <ac:spMkLst>
            <pc:docMk/>
            <pc:sldMk cId="13428540" sldId="310"/>
            <ac:spMk id="5" creationId="{AC40D8C7-DBF5-45C0-BF73-C4D6C45D3621}"/>
          </ac:spMkLst>
        </pc:spChg>
        <pc:graphicFrameChg chg="add mod ord modGraphic">
          <ac:chgData name="Wiggins, Kimberly" userId="23e41ff0-8327-47b3-bfa5-f65afc7e2c9d" providerId="ADAL" clId="{E3A54D00-39C6-4649-915D-C83A1E33B0B1}" dt="2025-12-04T23:47:27.721" v="8032" actId="20577"/>
          <ac:graphicFrameMkLst>
            <pc:docMk/>
            <pc:sldMk cId="13428540" sldId="310"/>
            <ac:graphicFrameMk id="3" creationId="{916E46CA-BF9C-4C65-9178-9C66800F5AC9}"/>
          </ac:graphicFrameMkLst>
        </pc:graphicFrameChg>
      </pc:sldChg>
      <pc:sldChg chg="del">
        <pc:chgData name="Wiggins, Kimberly" userId="23e41ff0-8327-47b3-bfa5-f65afc7e2c9d" providerId="ADAL" clId="{E3A54D00-39C6-4649-915D-C83A1E33B0B1}" dt="2025-12-04T18:12:31.244" v="2884" actId="47"/>
        <pc:sldMkLst>
          <pc:docMk/>
          <pc:sldMk cId="1685533343" sldId="311"/>
        </pc:sldMkLst>
      </pc:sldChg>
      <pc:sldChg chg="addSp delSp modSp mod ord">
        <pc:chgData name="Wiggins, Kimberly" userId="23e41ff0-8327-47b3-bfa5-f65afc7e2c9d" providerId="ADAL" clId="{E3A54D00-39C6-4649-915D-C83A1E33B0B1}" dt="2025-12-05T00:42:39.576" v="9201"/>
        <pc:sldMkLst>
          <pc:docMk/>
          <pc:sldMk cId="1218832171" sldId="312"/>
        </pc:sldMkLst>
        <pc:spChg chg="del">
          <ac:chgData name="Wiggins, Kimberly" userId="23e41ff0-8327-47b3-bfa5-f65afc7e2c9d" providerId="ADAL" clId="{E3A54D00-39C6-4649-915D-C83A1E33B0B1}" dt="2025-12-04T18:25:39.306" v="3569" actId="478"/>
          <ac:spMkLst>
            <pc:docMk/>
            <pc:sldMk cId="1218832171" sldId="312"/>
            <ac:spMk id="4" creationId="{BF23A31F-AA52-067C-5A23-EC75954B7FDD}"/>
          </ac:spMkLst>
        </pc:spChg>
        <pc:spChg chg="add del mod">
          <ac:chgData name="Wiggins, Kimberly" userId="23e41ff0-8327-47b3-bfa5-f65afc7e2c9d" providerId="ADAL" clId="{E3A54D00-39C6-4649-915D-C83A1E33B0B1}" dt="2025-12-04T18:25:44.964" v="3570" actId="3680"/>
          <ac:spMkLst>
            <pc:docMk/>
            <pc:sldMk cId="1218832171" sldId="312"/>
            <ac:spMk id="5" creationId="{116F6B97-F6FC-4D29-BF8E-F2B78D2E96A5}"/>
          </ac:spMkLst>
        </pc:spChg>
        <pc:graphicFrameChg chg="add mod ord modGraphic">
          <ac:chgData name="Wiggins, Kimberly" userId="23e41ff0-8327-47b3-bfa5-f65afc7e2c9d" providerId="ADAL" clId="{E3A54D00-39C6-4649-915D-C83A1E33B0B1}" dt="2025-12-04T23:35:12.715" v="7502" actId="113"/>
          <ac:graphicFrameMkLst>
            <pc:docMk/>
            <pc:sldMk cId="1218832171" sldId="312"/>
            <ac:graphicFrameMk id="6" creationId="{63A0BC9A-7ED6-4D27-AADC-065EEF4DD136}"/>
          </ac:graphicFrameMkLst>
        </pc:graphicFrameChg>
      </pc:sldChg>
      <pc:sldChg chg="addSp modSp mod ord modNotesTx">
        <pc:chgData name="Wiggins, Kimberly" userId="23e41ff0-8327-47b3-bfa5-f65afc7e2c9d" providerId="ADAL" clId="{E3A54D00-39C6-4649-915D-C83A1E33B0B1}" dt="2025-12-05T01:16:27.459" v="10175" actId="20577"/>
        <pc:sldMkLst>
          <pc:docMk/>
          <pc:sldMk cId="2910859451" sldId="313"/>
        </pc:sldMkLst>
        <pc:spChg chg="mod">
          <ac:chgData name="Wiggins, Kimberly" userId="23e41ff0-8327-47b3-bfa5-f65afc7e2c9d" providerId="ADAL" clId="{E3A54D00-39C6-4649-915D-C83A1E33B0B1}" dt="2025-12-05T01:10:51.137" v="9549" actId="20577"/>
          <ac:spMkLst>
            <pc:docMk/>
            <pc:sldMk cId="2910859451" sldId="313"/>
            <ac:spMk id="2" creationId="{5BAAD3B6-7312-10B9-2E8A-A9433DE73C91}"/>
          </ac:spMkLst>
        </pc:spChg>
        <pc:spChg chg="mod">
          <ac:chgData name="Wiggins, Kimberly" userId="23e41ff0-8327-47b3-bfa5-f65afc7e2c9d" providerId="ADAL" clId="{E3A54D00-39C6-4649-915D-C83A1E33B0B1}" dt="2025-12-05T01:15:45.862" v="10171" actId="313"/>
          <ac:spMkLst>
            <pc:docMk/>
            <pc:sldMk cId="2910859451" sldId="313"/>
            <ac:spMk id="3" creationId="{F437C6CD-52CF-4D93-778E-C311B88DC646}"/>
          </ac:spMkLst>
        </pc:spChg>
        <pc:spChg chg="add mod">
          <ac:chgData name="Wiggins, Kimberly" userId="23e41ff0-8327-47b3-bfa5-f65afc7e2c9d" providerId="ADAL" clId="{E3A54D00-39C6-4649-915D-C83A1E33B0B1}" dt="2025-12-05T01:13:59.556" v="9875" actId="20577"/>
          <ac:spMkLst>
            <pc:docMk/>
            <pc:sldMk cId="2910859451" sldId="313"/>
            <ac:spMk id="5" creationId="{FA625E73-33F2-448D-873F-0BAF5F856597}"/>
          </ac:spMkLst>
        </pc:spChg>
      </pc:sldChg>
      <pc:sldChg chg="modSp mod ord modShow">
        <pc:chgData name="Wiggins, Kimberly" userId="23e41ff0-8327-47b3-bfa5-f65afc7e2c9d" providerId="ADAL" clId="{E3A54D00-39C6-4649-915D-C83A1E33B0B1}" dt="2025-12-04T23:46:32.549" v="7992" actId="729"/>
        <pc:sldMkLst>
          <pc:docMk/>
          <pc:sldMk cId="4094651452" sldId="314"/>
        </pc:sldMkLst>
        <pc:spChg chg="mod">
          <ac:chgData name="Wiggins, Kimberly" userId="23e41ff0-8327-47b3-bfa5-f65afc7e2c9d" providerId="ADAL" clId="{E3A54D00-39C6-4649-915D-C83A1E33B0B1}" dt="2025-12-04T18:29:23.964" v="3689" actId="20577"/>
          <ac:spMkLst>
            <pc:docMk/>
            <pc:sldMk cId="4094651452" sldId="314"/>
            <ac:spMk id="2" creationId="{19C3FA78-5E4F-CD31-DEF9-67A49572735E}"/>
          </ac:spMkLst>
        </pc:spChg>
        <pc:picChg chg="mod">
          <ac:chgData name="Wiggins, Kimberly" userId="23e41ff0-8327-47b3-bfa5-f65afc7e2c9d" providerId="ADAL" clId="{E3A54D00-39C6-4649-915D-C83A1E33B0B1}" dt="2025-12-04T23:43:25.093" v="7921" actId="1076"/>
          <ac:picMkLst>
            <pc:docMk/>
            <pc:sldMk cId="4094651452" sldId="314"/>
            <ac:picMk id="7" creationId="{E06DB17F-C4E7-76B8-F1C6-EB5E1D32D258}"/>
          </ac:picMkLst>
        </pc:picChg>
      </pc:sldChg>
      <pc:sldChg chg="modSp del modNotesTx">
        <pc:chgData name="Wiggins, Kimberly" userId="23e41ff0-8327-47b3-bfa5-f65afc7e2c9d" providerId="ADAL" clId="{E3A54D00-39C6-4649-915D-C83A1E33B0B1}" dt="2025-12-04T23:27:03.731" v="7323" actId="47"/>
        <pc:sldMkLst>
          <pc:docMk/>
          <pc:sldMk cId="820461216" sldId="315"/>
        </pc:sldMkLst>
        <pc:spChg chg="mod">
          <ac:chgData name="Wiggins, Kimberly" userId="23e41ff0-8327-47b3-bfa5-f65afc7e2c9d" providerId="ADAL" clId="{E3A54D00-39C6-4649-915D-C83A1E33B0B1}" dt="2025-12-04T18:02:12.456" v="2488"/>
          <ac:spMkLst>
            <pc:docMk/>
            <pc:sldMk cId="820461216" sldId="315"/>
            <ac:spMk id="3" creationId="{A7014A72-4CA9-9CEA-ED86-8FB6070CF621}"/>
          </ac:spMkLst>
        </pc:spChg>
      </pc:sldChg>
      <pc:sldChg chg="modSp mod modNotes modNotesTx">
        <pc:chgData name="Wiggins, Kimberly" userId="23e41ff0-8327-47b3-bfa5-f65afc7e2c9d" providerId="ADAL" clId="{E3A54D00-39C6-4649-915D-C83A1E33B0B1}" dt="2025-12-05T00:32:30.379" v="8899" actId="20577"/>
        <pc:sldMkLst>
          <pc:docMk/>
          <pc:sldMk cId="192295631" sldId="316"/>
        </pc:sldMkLst>
        <pc:spChg chg="mod">
          <ac:chgData name="Wiggins, Kimberly" userId="23e41ff0-8327-47b3-bfa5-f65afc7e2c9d" providerId="ADAL" clId="{E3A54D00-39C6-4649-915D-C83A1E33B0B1}" dt="2025-12-04T15:24:25.606" v="19" actId="20577"/>
          <ac:spMkLst>
            <pc:docMk/>
            <pc:sldMk cId="192295631" sldId="316"/>
            <ac:spMk id="2" creationId="{AA6F2CFE-E428-1254-86A7-11638D663DCB}"/>
          </ac:spMkLst>
        </pc:spChg>
        <pc:graphicFrameChg chg="mod modGraphic">
          <ac:chgData name="Wiggins, Kimberly" userId="23e41ff0-8327-47b3-bfa5-f65afc7e2c9d" providerId="ADAL" clId="{E3A54D00-39C6-4649-915D-C83A1E33B0B1}" dt="2025-12-05T00:32:30.379" v="8899" actId="20577"/>
          <ac:graphicFrameMkLst>
            <pc:docMk/>
            <pc:sldMk cId="192295631" sldId="316"/>
            <ac:graphicFrameMk id="6" creationId="{DAE36BB2-EB3B-9167-64C7-0B4AB9F282AC}"/>
          </ac:graphicFrameMkLst>
        </pc:graphicFrameChg>
      </pc:sldChg>
      <pc:sldChg chg="addSp delSp modSp mod ord modNotesTx">
        <pc:chgData name="Wiggins, Kimberly" userId="23e41ff0-8327-47b3-bfa5-f65afc7e2c9d" providerId="ADAL" clId="{E3A54D00-39C6-4649-915D-C83A1E33B0B1}" dt="2025-12-04T23:51:47.487" v="8121"/>
        <pc:sldMkLst>
          <pc:docMk/>
          <pc:sldMk cId="1964491328" sldId="317"/>
        </pc:sldMkLst>
        <pc:spChg chg="mod">
          <ac:chgData name="Wiggins, Kimberly" userId="23e41ff0-8327-47b3-bfa5-f65afc7e2c9d" providerId="ADAL" clId="{E3A54D00-39C6-4649-915D-C83A1E33B0B1}" dt="2025-12-04T23:05:52.725" v="6458" actId="20577"/>
          <ac:spMkLst>
            <pc:docMk/>
            <pc:sldMk cId="1964491328" sldId="317"/>
            <ac:spMk id="2" creationId="{0BDF1290-DECC-9FA8-26A0-00E1E0C0CA08}"/>
          </ac:spMkLst>
        </pc:spChg>
        <pc:spChg chg="del mod">
          <ac:chgData name="Wiggins, Kimberly" userId="23e41ff0-8327-47b3-bfa5-f65afc7e2c9d" providerId="ADAL" clId="{E3A54D00-39C6-4649-915D-C83A1E33B0B1}" dt="2025-12-04T23:05:30.806" v="6419" actId="478"/>
          <ac:spMkLst>
            <pc:docMk/>
            <pc:sldMk cId="1964491328" sldId="317"/>
            <ac:spMk id="3" creationId="{3DBC14C1-B03D-B663-08AA-32C5C769991B}"/>
          </ac:spMkLst>
        </pc:spChg>
        <pc:spChg chg="add del mod">
          <ac:chgData name="Wiggins, Kimberly" userId="23e41ff0-8327-47b3-bfa5-f65afc7e2c9d" providerId="ADAL" clId="{E3A54D00-39C6-4649-915D-C83A1E33B0B1}" dt="2025-12-04T23:05:40.032" v="6423" actId="478"/>
          <ac:spMkLst>
            <pc:docMk/>
            <pc:sldMk cId="1964491328" sldId="317"/>
            <ac:spMk id="4" creationId="{00D6803C-DDF9-4D73-AE37-37E6F8EFCF70}"/>
          </ac:spMkLst>
        </pc:spChg>
        <pc:spChg chg="add mod">
          <ac:chgData name="Wiggins, Kimberly" userId="23e41ff0-8327-47b3-bfa5-f65afc7e2c9d" providerId="ADAL" clId="{E3A54D00-39C6-4649-915D-C83A1E33B0B1}" dt="2025-12-04T23:06:28.603" v="6460" actId="113"/>
          <ac:spMkLst>
            <pc:docMk/>
            <pc:sldMk cId="1964491328" sldId="317"/>
            <ac:spMk id="6" creationId="{03B2704F-DF12-44E4-B7C5-5FA7BF2DF2C8}"/>
          </ac:spMkLst>
        </pc:spChg>
        <pc:picChg chg="del">
          <ac:chgData name="Wiggins, Kimberly" userId="23e41ff0-8327-47b3-bfa5-f65afc7e2c9d" providerId="ADAL" clId="{E3A54D00-39C6-4649-915D-C83A1E33B0B1}" dt="2025-12-04T23:49:03.908" v="8034"/>
          <ac:picMkLst>
            <pc:docMk/>
            <pc:sldMk cId="1964491328" sldId="317"/>
            <ac:picMk id="7" creationId="{D6380931-AB7D-4C84-ACF9-7A3EAEC61737}"/>
          </ac:picMkLst>
        </pc:picChg>
      </pc:sldChg>
      <pc:sldChg chg="addSp modSp add mod ord">
        <pc:chgData name="Wiggins, Kimberly" userId="23e41ff0-8327-47b3-bfa5-f65afc7e2c9d" providerId="ADAL" clId="{E3A54D00-39C6-4649-915D-C83A1E33B0B1}" dt="2025-12-05T00:55:10.461" v="9353" actId="20577"/>
        <pc:sldMkLst>
          <pc:docMk/>
          <pc:sldMk cId="1114158113" sldId="318"/>
        </pc:sldMkLst>
        <pc:spChg chg="mod">
          <ac:chgData name="Wiggins, Kimberly" userId="23e41ff0-8327-47b3-bfa5-f65afc7e2c9d" providerId="ADAL" clId="{E3A54D00-39C6-4649-915D-C83A1E33B0B1}" dt="2025-12-04T18:23:27.723" v="3514" actId="20577"/>
          <ac:spMkLst>
            <pc:docMk/>
            <pc:sldMk cId="1114158113" sldId="318"/>
            <ac:spMk id="2" creationId="{0A5C5334-DB1A-C472-0A56-1B1D6C23C89F}"/>
          </ac:spMkLst>
        </pc:spChg>
        <pc:spChg chg="add mod">
          <ac:chgData name="Wiggins, Kimberly" userId="23e41ff0-8327-47b3-bfa5-f65afc7e2c9d" providerId="ADAL" clId="{E3A54D00-39C6-4649-915D-C83A1E33B0B1}" dt="2025-12-05T00:55:10.461" v="9353" actId="20577"/>
          <ac:spMkLst>
            <pc:docMk/>
            <pc:sldMk cId="1114158113" sldId="318"/>
            <ac:spMk id="4" creationId="{8993A845-8414-4EB8-8DE4-C9513DE1BD56}"/>
          </ac:spMkLst>
        </pc:spChg>
        <pc:graphicFrameChg chg="mod">
          <ac:chgData name="Wiggins, Kimberly" userId="23e41ff0-8327-47b3-bfa5-f65afc7e2c9d" providerId="ADAL" clId="{E3A54D00-39C6-4649-915D-C83A1E33B0B1}" dt="2025-12-04T18:34:35.372" v="4386" actId="1076"/>
          <ac:graphicFrameMkLst>
            <pc:docMk/>
            <pc:sldMk cId="1114158113" sldId="318"/>
            <ac:graphicFrameMk id="3" creationId="{916E46CA-BF9C-4C65-9178-9C66800F5AC9}"/>
          </ac:graphicFrameMkLst>
        </pc:graphicFrameChg>
      </pc:sldChg>
      <pc:sldChg chg="addSp delSp modSp add mod modShow modNotesTx">
        <pc:chgData name="Wiggins, Kimberly" userId="23e41ff0-8327-47b3-bfa5-f65afc7e2c9d" providerId="ADAL" clId="{E3A54D00-39C6-4649-915D-C83A1E33B0B1}" dt="2025-12-05T01:24:33.334" v="10221" actId="729"/>
        <pc:sldMkLst>
          <pc:docMk/>
          <pc:sldMk cId="2100497460" sldId="319"/>
        </pc:sldMkLst>
        <pc:spChg chg="mod">
          <ac:chgData name="Wiggins, Kimberly" userId="23e41ff0-8327-47b3-bfa5-f65afc7e2c9d" providerId="ADAL" clId="{E3A54D00-39C6-4649-915D-C83A1E33B0B1}" dt="2025-12-04T22:36:49.321" v="5238" actId="27636"/>
          <ac:spMkLst>
            <pc:docMk/>
            <pc:sldMk cId="2100497460" sldId="319"/>
            <ac:spMk id="2" creationId="{00000000-0000-0000-0000-000000000000}"/>
          </ac:spMkLst>
        </pc:spChg>
        <pc:spChg chg="del">
          <ac:chgData name="Wiggins, Kimberly" userId="23e41ff0-8327-47b3-bfa5-f65afc7e2c9d" providerId="ADAL" clId="{E3A54D00-39C6-4649-915D-C83A1E33B0B1}" dt="2025-12-04T22:36:32.268" v="5233" actId="478"/>
          <ac:spMkLst>
            <pc:docMk/>
            <pc:sldMk cId="2100497460" sldId="319"/>
            <ac:spMk id="3" creationId="{00000000-0000-0000-0000-000000000000}"/>
          </ac:spMkLst>
        </pc:spChg>
        <pc:spChg chg="add del mod">
          <ac:chgData name="Wiggins, Kimberly" userId="23e41ff0-8327-47b3-bfa5-f65afc7e2c9d" providerId="ADAL" clId="{E3A54D00-39C6-4649-915D-C83A1E33B0B1}" dt="2025-12-04T22:36:33.749" v="5234" actId="478"/>
          <ac:spMkLst>
            <pc:docMk/>
            <pc:sldMk cId="2100497460" sldId="319"/>
            <ac:spMk id="5" creationId="{6A5A1EC0-23CC-442D-A061-8D1E9723205E}"/>
          </ac:spMkLst>
        </pc:spChg>
        <pc:picChg chg="add mod">
          <ac:chgData name="Wiggins, Kimberly" userId="23e41ff0-8327-47b3-bfa5-f65afc7e2c9d" providerId="ADAL" clId="{E3A54D00-39C6-4649-915D-C83A1E33B0B1}" dt="2025-12-04T22:37:11.494" v="5273" actId="14100"/>
          <ac:picMkLst>
            <pc:docMk/>
            <pc:sldMk cId="2100497460" sldId="319"/>
            <ac:picMk id="7" creationId="{5F7B1C4D-5EDF-4F46-B34D-0E0AC4CD3436}"/>
          </ac:picMkLst>
        </pc:picChg>
      </pc:sldChg>
      <pc:sldChg chg="delSp modSp add mod ord">
        <pc:chgData name="Wiggins, Kimberly" userId="23e41ff0-8327-47b3-bfa5-f65afc7e2c9d" providerId="ADAL" clId="{E3A54D00-39C6-4649-915D-C83A1E33B0B1}" dt="2025-12-05T00:28:45.729" v="8895" actId="122"/>
        <pc:sldMkLst>
          <pc:docMk/>
          <pc:sldMk cId="1971106656" sldId="320"/>
        </pc:sldMkLst>
        <pc:spChg chg="mod">
          <ac:chgData name="Wiggins, Kimberly" userId="23e41ff0-8327-47b3-bfa5-f65afc7e2c9d" providerId="ADAL" clId="{E3A54D00-39C6-4649-915D-C83A1E33B0B1}" dt="2025-12-04T23:27:49.815" v="7331" actId="20577"/>
          <ac:spMkLst>
            <pc:docMk/>
            <pc:sldMk cId="1971106656" sldId="320"/>
            <ac:spMk id="2" creationId="{0BDF1290-DECC-9FA8-26A0-00E1E0C0CA08}"/>
          </ac:spMkLst>
        </pc:spChg>
        <pc:spChg chg="del mod">
          <ac:chgData name="Wiggins, Kimberly" userId="23e41ff0-8327-47b3-bfa5-f65afc7e2c9d" providerId="ADAL" clId="{E3A54D00-39C6-4649-915D-C83A1E33B0B1}" dt="2025-12-05T00:28:37.618" v="8892" actId="478"/>
          <ac:spMkLst>
            <pc:docMk/>
            <pc:sldMk cId="1971106656" sldId="320"/>
            <ac:spMk id="3" creationId="{3DBC14C1-B03D-B663-08AA-32C5C769991B}"/>
          </ac:spMkLst>
        </pc:spChg>
        <pc:spChg chg="mod">
          <ac:chgData name="Wiggins, Kimberly" userId="23e41ff0-8327-47b3-bfa5-f65afc7e2c9d" providerId="ADAL" clId="{E3A54D00-39C6-4649-915D-C83A1E33B0B1}" dt="2025-12-05T00:28:45.729" v="8895" actId="122"/>
          <ac:spMkLst>
            <pc:docMk/>
            <pc:sldMk cId="1971106656" sldId="320"/>
            <ac:spMk id="4" creationId="{00D6803C-DDF9-4D73-AE37-37E6F8EFCF70}"/>
          </ac:spMkLst>
        </pc:spChg>
      </pc:sldChg>
      <pc:sldChg chg="addSp delSp modSp add mod ord delDesignElem chgLayout">
        <pc:chgData name="Wiggins, Kimberly" userId="23e41ff0-8327-47b3-bfa5-f65afc7e2c9d" providerId="ADAL" clId="{E3A54D00-39C6-4649-915D-C83A1E33B0B1}" dt="2025-12-04T23:46:26.011" v="7991" actId="20577"/>
        <pc:sldMkLst>
          <pc:docMk/>
          <pc:sldMk cId="447210562" sldId="321"/>
        </pc:sldMkLst>
        <pc:spChg chg="mod ord">
          <ac:chgData name="Wiggins, Kimberly" userId="23e41ff0-8327-47b3-bfa5-f65afc7e2c9d" providerId="ADAL" clId="{E3A54D00-39C6-4649-915D-C83A1E33B0B1}" dt="2025-12-04T23:46:26.011" v="7991" actId="20577"/>
          <ac:spMkLst>
            <pc:docMk/>
            <pc:sldMk cId="447210562" sldId="321"/>
            <ac:spMk id="2" creationId="{19C3FA78-5E4F-CD31-DEF9-67A49572735E}"/>
          </ac:spMkLst>
        </pc:spChg>
        <pc:spChg chg="add del mod ord">
          <ac:chgData name="Wiggins, Kimberly" userId="23e41ff0-8327-47b3-bfa5-f65afc7e2c9d" providerId="ADAL" clId="{E3A54D00-39C6-4649-915D-C83A1E33B0B1}" dt="2025-12-04T23:41:05.695" v="7714" actId="478"/>
          <ac:spMkLst>
            <pc:docMk/>
            <pc:sldMk cId="447210562" sldId="321"/>
            <ac:spMk id="4" creationId="{E31AA5A7-DD82-4880-9521-DFCF7F989E7F}"/>
          </ac:spMkLst>
        </pc:spChg>
        <pc:spChg chg="add del mod">
          <ac:chgData name="Wiggins, Kimberly" userId="23e41ff0-8327-47b3-bfa5-f65afc7e2c9d" providerId="ADAL" clId="{E3A54D00-39C6-4649-915D-C83A1E33B0B1}" dt="2025-12-04T23:46:18.401" v="7977" actId="478"/>
          <ac:spMkLst>
            <pc:docMk/>
            <pc:sldMk cId="447210562" sldId="321"/>
            <ac:spMk id="5" creationId="{49B8926F-3CAC-470A-B31E-3A3E0E0DD571}"/>
          </ac:spMkLst>
        </pc:spChg>
        <pc:spChg chg="del">
          <ac:chgData name="Wiggins, Kimberly" userId="23e41ff0-8327-47b3-bfa5-f65afc7e2c9d" providerId="ADAL" clId="{E3A54D00-39C6-4649-915D-C83A1E33B0B1}" dt="2025-12-04T23:41:00.738" v="7713" actId="700"/>
          <ac:spMkLst>
            <pc:docMk/>
            <pc:sldMk cId="447210562" sldId="321"/>
            <ac:spMk id="21" creationId="{3C54F4CE-85F0-46ED-80DA-9518C9251AD1}"/>
          </ac:spMkLst>
        </pc:spChg>
        <pc:spChg chg="del">
          <ac:chgData name="Wiggins, Kimberly" userId="23e41ff0-8327-47b3-bfa5-f65afc7e2c9d" providerId="ADAL" clId="{E3A54D00-39C6-4649-915D-C83A1E33B0B1}" dt="2025-12-04T23:41:00.738" v="7713" actId="700"/>
          <ac:spMkLst>
            <pc:docMk/>
            <pc:sldMk cId="447210562" sldId="321"/>
            <ac:spMk id="22" creationId="{DADD1FCA-8ACB-4958-81DD-4CDD6D3E1921}"/>
          </ac:spMkLst>
        </pc:spChg>
        <pc:graphicFrameChg chg="add mod modGraphic">
          <ac:chgData name="Wiggins, Kimberly" userId="23e41ff0-8327-47b3-bfa5-f65afc7e2c9d" providerId="ADAL" clId="{E3A54D00-39C6-4649-915D-C83A1E33B0B1}" dt="2025-12-04T23:45:52.682" v="7963" actId="20577"/>
          <ac:graphicFrameMkLst>
            <pc:docMk/>
            <pc:sldMk cId="447210562" sldId="321"/>
            <ac:graphicFrameMk id="3" creationId="{DC9842AA-039C-470C-A6F9-598614EBB2BC}"/>
          </ac:graphicFrameMkLst>
        </pc:graphicFrameChg>
        <pc:picChg chg="del">
          <ac:chgData name="Wiggins, Kimberly" userId="23e41ff0-8327-47b3-bfa5-f65afc7e2c9d" providerId="ADAL" clId="{E3A54D00-39C6-4649-915D-C83A1E33B0B1}" dt="2025-12-04T23:38:17.394" v="7516" actId="478"/>
          <ac:picMkLst>
            <pc:docMk/>
            <pc:sldMk cId="447210562" sldId="321"/>
            <ac:picMk id="7" creationId="{E06DB17F-C4E7-76B8-F1C6-EB5E1D32D258}"/>
          </ac:picMkLst>
        </pc:picChg>
      </pc:sldChg>
      <pc:sldChg chg="addSp delSp modSp new mod modClrScheme chgLayout">
        <pc:chgData name="Wiggins, Kimberly" userId="23e41ff0-8327-47b3-bfa5-f65afc7e2c9d" providerId="ADAL" clId="{E3A54D00-39C6-4649-915D-C83A1E33B0B1}" dt="2025-12-04T23:52:38.474" v="8140" actId="478"/>
        <pc:sldMkLst>
          <pc:docMk/>
          <pc:sldMk cId="3633425136" sldId="322"/>
        </pc:sldMkLst>
        <pc:spChg chg="del mod ord">
          <ac:chgData name="Wiggins, Kimberly" userId="23e41ff0-8327-47b3-bfa5-f65afc7e2c9d" providerId="ADAL" clId="{E3A54D00-39C6-4649-915D-C83A1E33B0B1}" dt="2025-12-04T23:52:15.898" v="8127" actId="700"/>
          <ac:spMkLst>
            <pc:docMk/>
            <pc:sldMk cId="3633425136" sldId="322"/>
            <ac:spMk id="2" creationId="{FBBDE396-2358-44E7-AF1E-33C610B88EB5}"/>
          </ac:spMkLst>
        </pc:spChg>
        <pc:spChg chg="del mod ord">
          <ac:chgData name="Wiggins, Kimberly" userId="23e41ff0-8327-47b3-bfa5-f65afc7e2c9d" providerId="ADAL" clId="{E3A54D00-39C6-4649-915D-C83A1E33B0B1}" dt="2025-12-04T23:52:15.898" v="8127" actId="700"/>
          <ac:spMkLst>
            <pc:docMk/>
            <pc:sldMk cId="3633425136" sldId="322"/>
            <ac:spMk id="3" creationId="{F659792D-C892-496E-BBF5-B8B4CC5AA337}"/>
          </ac:spMkLst>
        </pc:spChg>
        <pc:spChg chg="add mod ord">
          <ac:chgData name="Wiggins, Kimberly" userId="23e41ff0-8327-47b3-bfa5-f65afc7e2c9d" providerId="ADAL" clId="{E3A54D00-39C6-4649-915D-C83A1E33B0B1}" dt="2025-12-04T23:52:36.471" v="8139" actId="120"/>
          <ac:spMkLst>
            <pc:docMk/>
            <pc:sldMk cId="3633425136" sldId="322"/>
            <ac:spMk id="4" creationId="{83094DEA-1881-4F96-A767-E139F682FC0D}"/>
          </ac:spMkLst>
        </pc:spChg>
        <pc:spChg chg="add del mod ord">
          <ac:chgData name="Wiggins, Kimberly" userId="23e41ff0-8327-47b3-bfa5-f65afc7e2c9d" providerId="ADAL" clId="{E3A54D00-39C6-4649-915D-C83A1E33B0B1}" dt="2025-12-04T23:52:27.232" v="8137" actId="700"/>
          <ac:spMkLst>
            <pc:docMk/>
            <pc:sldMk cId="3633425136" sldId="322"/>
            <ac:spMk id="5" creationId="{EC608D7F-9B3E-4C42-9491-C2630F3C211B}"/>
          </ac:spMkLst>
        </pc:spChg>
        <pc:spChg chg="add del mod ord">
          <ac:chgData name="Wiggins, Kimberly" userId="23e41ff0-8327-47b3-bfa5-f65afc7e2c9d" providerId="ADAL" clId="{E3A54D00-39C6-4649-915D-C83A1E33B0B1}" dt="2025-12-04T23:52:38.474" v="8140" actId="478"/>
          <ac:spMkLst>
            <pc:docMk/>
            <pc:sldMk cId="3633425136" sldId="322"/>
            <ac:spMk id="6" creationId="{75B307A5-C183-4C7A-928C-FA7CED6BB2BA}"/>
          </ac:spMkLst>
        </pc:spChg>
      </pc:sldChg>
      <pc:sldChg chg="delSp modSp add mod modNotesTx">
        <pc:chgData name="Wiggins, Kimberly" userId="23e41ff0-8327-47b3-bfa5-f65afc7e2c9d" providerId="ADAL" clId="{E3A54D00-39C6-4649-915D-C83A1E33B0B1}" dt="2025-12-04T23:57:20.450" v="8618" actId="20577"/>
        <pc:sldMkLst>
          <pc:docMk/>
          <pc:sldMk cId="2446703741" sldId="323"/>
        </pc:sldMkLst>
        <pc:spChg chg="mod">
          <ac:chgData name="Wiggins, Kimberly" userId="23e41ff0-8327-47b3-bfa5-f65afc7e2c9d" providerId="ADAL" clId="{E3A54D00-39C6-4649-915D-C83A1E33B0B1}" dt="2025-12-04T23:57:02.783" v="8592" actId="120"/>
          <ac:spMkLst>
            <pc:docMk/>
            <pc:sldMk cId="2446703741" sldId="323"/>
            <ac:spMk id="2" creationId="{00000000-0000-0000-0000-000000000000}"/>
          </ac:spMkLst>
        </pc:spChg>
        <pc:spChg chg="del mod">
          <ac:chgData name="Wiggins, Kimberly" userId="23e41ff0-8327-47b3-bfa5-f65afc7e2c9d" providerId="ADAL" clId="{E3A54D00-39C6-4649-915D-C83A1E33B0B1}" dt="2025-12-04T23:56:47.620" v="8589" actId="478"/>
          <ac:spMkLst>
            <pc:docMk/>
            <pc:sldMk cId="2446703741" sldId="323"/>
            <ac:spMk id="3" creationId="{00000000-0000-0000-0000-000000000000}"/>
          </ac:spMkLst>
        </pc:spChg>
      </pc:sldChg>
      <pc:sldChg chg="modSp add del mod">
        <pc:chgData name="Wiggins, Kimberly" userId="23e41ff0-8327-47b3-bfa5-f65afc7e2c9d" providerId="ADAL" clId="{E3A54D00-39C6-4649-915D-C83A1E33B0B1}" dt="2025-12-05T01:24:16.069" v="10220" actId="47"/>
        <pc:sldMkLst>
          <pc:docMk/>
          <pc:sldMk cId="3818586400" sldId="324"/>
        </pc:sldMkLst>
        <pc:spChg chg="mod">
          <ac:chgData name="Wiggins, Kimberly" userId="23e41ff0-8327-47b3-bfa5-f65afc7e2c9d" providerId="ADAL" clId="{E3A54D00-39C6-4649-915D-C83A1E33B0B1}" dt="2025-12-05T01:17:32.949" v="10219" actId="20577"/>
          <ac:spMkLst>
            <pc:docMk/>
            <pc:sldMk cId="3818586400" sldId="324"/>
            <ac:spMk id="2" creationId="{5BAAD3B6-7312-10B9-2E8A-A9433DE73C9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1309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5FB3F-532A-3937-03C2-15E0621460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DAF4D-21F6-36C3-DED9-C122C527F4C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DB67A8D-E8B3-1E13-E3F6-4B5B42769FA9}"/>
              </a:ext>
            </a:extLst>
          </p:cNvPr>
          <p:cNvSpPr>
            <a:spLocks noGrp="1"/>
          </p:cNvSpPr>
          <p:nvPr>
            <p:ph type="body" sz="quarter" idx="3"/>
          </p:nvPr>
        </p:nvSpPr>
        <p:spPr/>
        <p:txBody>
          <a:bodyPr/>
          <a:lstStyle/>
          <a:p>
            <a:r>
              <a:rPr dirty="0"/>
              <a:t>Introduce yourself, </a:t>
            </a:r>
            <a:r>
              <a:rPr lang="en-US" dirty="0"/>
              <a:t>thank you for being here and being willing to be on my committee. I’m sincerely looking forward to your input. </a:t>
            </a:r>
          </a:p>
          <a:p>
            <a:r>
              <a:rPr lang="en-US" dirty="0"/>
              <a:t>By night I’m a PhD student, started in 2020, passed my comps in the spring, this is my proposal, and I hope to defend next semester. </a:t>
            </a:r>
          </a:p>
          <a:p>
            <a:r>
              <a:rPr lang="en-US" dirty="0"/>
              <a:t>By day I’m a … </a:t>
            </a:r>
          </a:p>
          <a:p>
            <a:r>
              <a:rPr lang="en-US" dirty="0"/>
              <a:t>CAMPHIRE: Colorado Ambulatory Partnership for Heal Innovation and Research Excellence.</a:t>
            </a:r>
          </a:p>
          <a:p>
            <a:r>
              <a:rPr lang="en-US" dirty="0"/>
              <a:t>Interested in the Literature review, relevant to work.</a:t>
            </a:r>
          </a:p>
          <a:p>
            <a:r>
              <a:rPr lang="en-US" dirty="0"/>
              <a:t>Got this under 30 minutes last night, but I’m really nervous </a:t>
            </a:r>
            <a:r>
              <a:rPr lang="en-US"/>
              <a:t>so we’ll see!!</a:t>
            </a:r>
            <a:endParaRPr dirty="0"/>
          </a:p>
        </p:txBody>
      </p:sp>
      <p:sp>
        <p:nvSpPr>
          <p:cNvPr id="4" name="Slide Number Placeholder 3">
            <a:extLst>
              <a:ext uri="{FF2B5EF4-FFF2-40B4-BE49-F238E27FC236}">
                <a16:creationId xmlns:a16="http://schemas.microsoft.com/office/drawing/2014/main" id="{02011EF3-D4B7-876E-F668-F984AD2DDB96}"/>
              </a:ext>
            </a:extLst>
          </p:cNvPr>
          <p:cNvSpPr>
            <a:spLocks noGrp="1"/>
          </p:cNvSpPr>
          <p:nvPr>
            <p:ph type="sldNum" sz="quarter" idx="5"/>
          </p:nvPr>
        </p:nvSpPr>
        <p:spPr/>
      </p:sp>
    </p:spTree>
    <p:extLst>
      <p:ext uri="{BB962C8B-B14F-4D97-AF65-F5344CB8AC3E}">
        <p14:creationId xmlns:p14="http://schemas.microsoft.com/office/powerpoint/2010/main" val="1359979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yourself, outline agenda for 30-minute talk.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Explain why modeling healthcare costs matters and challenges posed by skewed data.</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36425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Explain why modeling healthcare costs matters and challenges posed by skewed data.</a:t>
            </a:r>
            <a:endParaRPr lang="en-US" dirty="0"/>
          </a:p>
          <a:p>
            <a:r>
              <a:rPr lang="en-US" dirty="0"/>
              <a:t>Let’s take a look at some of these characteristics in more detail, and then how it’s been addressed.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Mass at zero: Mixed discrete-continuous random variables with two basic statistical features: </a:t>
            </a:r>
            <a:r>
              <a:rPr lang="en-US" dirty="0" err="1"/>
              <a:t>y_i</a:t>
            </a:r>
            <a:r>
              <a:rPr lang="en-US" dirty="0"/>
              <a:t> &gt; 0 and </a:t>
            </a:r>
            <a:r>
              <a:rPr lang="en-US" dirty="0" err="1"/>
              <a:t>y_i</a:t>
            </a:r>
            <a:r>
              <a:rPr lang="en-US" dirty="0"/>
              <a:t> = 0, observed often enough that there are compelling substantive and statistical reasons for special treatment, with mass at point zero rending a single index model undesirable. </a:t>
            </a:r>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97896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531D-B8B5-A9AE-7EBF-24D9EB80A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ED330-8E7E-096A-5745-F4A8436345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EA31653-F60D-12A1-0F84-BA22377CF5F4}"/>
              </a:ext>
            </a:extLst>
          </p:cNvPr>
          <p:cNvSpPr>
            <a:spLocks noGrp="1"/>
          </p:cNvSpPr>
          <p:nvPr>
            <p:ph type="body" sz="quarter" idx="3"/>
          </p:nvPr>
        </p:nvSpPr>
        <p:spPr/>
        <p:txBody>
          <a:bodyPr/>
          <a:lstStyle/>
          <a:p>
            <a:pPr marL="285750" indent="-285750">
              <a:buFont typeface="Arial" panose="020B0604020202020204" pitchFamily="34" charset="0"/>
              <a:buChar char="•"/>
            </a:pPr>
            <a:r>
              <a:rPr lang="en-US" sz="2200" dirty="0"/>
              <a:t>Mullahy (2024): healthcare spending for US civilian, noninstitutionalized population surpassed $2 trillion; 14% of the population had no expenditures at all; 5% accounted for nearly 50% of all healthcare spending</a:t>
            </a:r>
          </a:p>
          <a:p>
            <a:pPr marL="285750" indent="-285750">
              <a:buFont typeface="Arial" panose="020B0604020202020204" pitchFamily="34" charset="0"/>
              <a:buChar char="•"/>
            </a:pPr>
            <a:r>
              <a:rPr lang="en-US" sz="2200"/>
              <a:t>Holle et al. </a:t>
            </a:r>
            <a:r>
              <a:rPr lang="en-US" sz="2200" dirty="0"/>
              <a:t>(2021) study spanning 17 years: 50% of annual health care expenditures consistently attributed to 4.2-4.8% of the U.S. population. Nonspenders stayed consistently around 20%</a:t>
            </a:r>
          </a:p>
          <a:p>
            <a:pPr marL="285750" indent="-285750">
              <a:buFont typeface="Arial" panose="020B0604020202020204" pitchFamily="34" charset="0"/>
              <a:buChar char="•"/>
            </a:pPr>
            <a:r>
              <a:rPr lang="en-US" sz="2200" err="1"/>
              <a:t>Wodchis</a:t>
            </a:r>
            <a:r>
              <a:rPr lang="en-US" sz="2200"/>
              <a:t> et al. </a:t>
            </a:r>
            <a:r>
              <a:rPr lang="en-US" sz="2200" dirty="0"/>
              <a:t>(2016) 3-yr study of high-cost users: 1/3 of high-cost users (individuals with 5% of costs) in 2009 </a:t>
            </a:r>
            <a:r>
              <a:rPr lang="en-US" sz="2200" i="1" dirty="0"/>
              <a:t>remained in this category for the two years following</a:t>
            </a:r>
            <a:r>
              <a:rPr lang="en-US" sz="2200" dirty="0"/>
              <a:t>.</a:t>
            </a:r>
          </a:p>
          <a:p>
            <a:pPr marL="285750" indent="-285750">
              <a:buFont typeface="Arial" panose="020B0604020202020204" pitchFamily="34" charset="0"/>
              <a:buChar char="•"/>
            </a:pPr>
            <a:r>
              <a:rPr lang="en-US" sz="2200" dirty="0"/>
              <a:t>Global issue</a:t>
            </a:r>
          </a:p>
        </p:txBody>
      </p:sp>
      <p:sp>
        <p:nvSpPr>
          <p:cNvPr id="4" name="Slide Number Placeholder 3">
            <a:extLst>
              <a:ext uri="{FF2B5EF4-FFF2-40B4-BE49-F238E27FC236}">
                <a16:creationId xmlns:a16="http://schemas.microsoft.com/office/drawing/2014/main" id="{E4FD6D2E-6254-D817-7F81-F3B10ACA0368}"/>
              </a:ext>
            </a:extLst>
          </p:cNvPr>
          <p:cNvSpPr>
            <a:spLocks noGrp="1"/>
          </p:cNvSpPr>
          <p:nvPr>
            <p:ph type="sldNum" sz="quarter" idx="5"/>
          </p:nvPr>
        </p:nvSpPr>
        <p:spPr/>
      </p:sp>
    </p:spTree>
    <p:extLst>
      <p:ext uri="{BB962C8B-B14F-4D97-AF65-F5344CB8AC3E}">
        <p14:creationId xmlns:p14="http://schemas.microsoft.com/office/powerpoint/2010/main" val="452231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531D-B8B5-A9AE-7EBF-24D9EB80A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ED330-8E7E-096A-5745-F4A8436345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EA31653-F60D-12A1-0F84-BA22377CF5F4}"/>
              </a:ext>
            </a:extLst>
          </p:cNvPr>
          <p:cNvSpPr>
            <a:spLocks noGrp="1"/>
          </p:cNvSpPr>
          <p:nvPr>
            <p:ph type="body" sz="quarter" idx="3"/>
          </p:nvPr>
        </p:nvSpPr>
        <p:spPr/>
        <p:txBody>
          <a:bodyPr/>
          <a:lstStyle/>
          <a:p>
            <a:pPr marL="171450" indent="-171450">
              <a:buFont typeface="Arial" panose="020B0604020202020204" pitchFamily="34" charset="0"/>
              <a:buChar char="•"/>
            </a:pPr>
            <a:r>
              <a:rPr lang="en-US" dirty="0"/>
              <a:t>Mine looks like most, but this one went to $2million… like most.</a:t>
            </a:r>
            <a:endParaRPr dirty="0"/>
          </a:p>
        </p:txBody>
      </p:sp>
      <p:sp>
        <p:nvSpPr>
          <p:cNvPr id="4" name="Slide Number Placeholder 3">
            <a:extLst>
              <a:ext uri="{FF2B5EF4-FFF2-40B4-BE49-F238E27FC236}">
                <a16:creationId xmlns:a16="http://schemas.microsoft.com/office/drawing/2014/main" id="{E4FD6D2E-6254-D817-7F81-F3B10ACA0368}"/>
              </a:ext>
            </a:extLst>
          </p:cNvPr>
          <p:cNvSpPr>
            <a:spLocks noGrp="1"/>
          </p:cNvSpPr>
          <p:nvPr>
            <p:ph type="sldNum" sz="quarter" idx="5"/>
          </p:nvPr>
        </p:nvSpPr>
        <p:spPr/>
      </p:sp>
    </p:spTree>
    <p:extLst>
      <p:ext uri="{BB962C8B-B14F-4D97-AF65-F5344CB8AC3E}">
        <p14:creationId xmlns:p14="http://schemas.microsoft.com/office/powerpoint/2010/main" val="2053080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My husband was one of these. These are real people.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‘classical outliers’ that arouse some suspicion or deviate markedly from other members in the sample. They might deviate markedly, but they’re expected (don’t deviate markedly from what we expect in HCE)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“When researchers ignore abnormal observations, especially with respect to dependent variables, their empirical results can be misleading. Unfortunately, the fact remains underappreciated in studies of political science…” (Choi, 2022)</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endParaRPr lang="en-US" sz="1200" dirty="0"/>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219670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531D-B8B5-A9AE-7EBF-24D9EB80A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ED330-8E7E-096A-5745-F4A8436345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EA31653-F60D-12A1-0F84-BA22377CF5F4}"/>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Variance more concentrated around high-cost cases, amplified by presence of extreme values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342900" indent="-342900">
              <a:buFont typeface="Arial" panose="020B0604020202020204" pitchFamily="34" charset="0"/>
              <a:buChar char="•"/>
            </a:pPr>
            <a:r>
              <a:rPr lang="en-US" sz="2200" dirty="0"/>
              <a:t>“ … outcomes were estimates with large standard errors, very sensitive to high-cost patients: </a:t>
            </a:r>
          </a:p>
          <a:p>
            <a:pPr marL="800100" lvl="1" indent="-342900">
              <a:buFont typeface="Arial" panose="020B0604020202020204" pitchFamily="34" charset="0"/>
              <a:buChar char="•"/>
            </a:pPr>
            <a:r>
              <a:rPr lang="en-US" sz="2200" dirty="0"/>
              <a:t>“Part of the explanation of the large standard errors is the strongly skewed distribution of health care costs with a small fraction of the population accounting for a large share of the total health spending and mean costs well above median cost. </a:t>
            </a:r>
            <a:r>
              <a:rPr lang="en-US" sz="2200" b="1" dirty="0"/>
              <a:t>Variance </a:t>
            </a:r>
            <a:r>
              <a:rPr lang="en-US" sz="2200" dirty="0"/>
              <a:t>is even more concentrated in the high-cost cases, and exacerbated by the presence of large outliers. As a result, </a:t>
            </a:r>
            <a:r>
              <a:rPr lang="en-US" sz="2200" b="1" dirty="0"/>
              <a:t>even sophisticated models with large sets of control variables are faced with a portion of high costs not well captured by the model</a:t>
            </a:r>
            <a:r>
              <a:rPr lang="en-US" sz="2200" dirty="0"/>
              <a:t>.” (Geurts et al., 2022) </a:t>
            </a:r>
          </a:p>
          <a:p>
            <a:pPr marL="342900" indent="-342900">
              <a:buFont typeface="Arial" panose="020B0604020202020204" pitchFamily="34" charset="0"/>
              <a:buChar char="•"/>
            </a:pPr>
            <a:r>
              <a:rPr lang="en-US" sz="2200" dirty="0"/>
              <a:t>In heavy-tailed or outlier-prone distributions, predicted regression lines tend to track outlying observations more closely, fitting them at the expense of the rest of the sample data in order to minimize the sum of squared errors, and producing estimated results that are likely to encourage researchers to make incorrect inferences about the data (Choi, 2009).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Use of GLM: by allowing the variance of the outcome to exist as a function of its predicted value through the choice of appropriate distributional family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dirty="0"/>
          </a:p>
        </p:txBody>
      </p:sp>
      <p:sp>
        <p:nvSpPr>
          <p:cNvPr id="4" name="Slide Number Placeholder 3">
            <a:extLst>
              <a:ext uri="{FF2B5EF4-FFF2-40B4-BE49-F238E27FC236}">
                <a16:creationId xmlns:a16="http://schemas.microsoft.com/office/drawing/2014/main" id="{E4FD6D2E-6254-D817-7F81-F3B10ACA0368}"/>
              </a:ext>
            </a:extLst>
          </p:cNvPr>
          <p:cNvSpPr>
            <a:spLocks noGrp="1"/>
          </p:cNvSpPr>
          <p:nvPr>
            <p:ph type="sldNum" sz="quarter" idx="5"/>
          </p:nvPr>
        </p:nvSpPr>
        <p:spPr/>
      </p:sp>
    </p:spTree>
    <p:extLst>
      <p:ext uri="{BB962C8B-B14F-4D97-AF65-F5344CB8AC3E}">
        <p14:creationId xmlns:p14="http://schemas.microsoft.com/office/powerpoint/2010/main" val="245309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29512-AB78-F98C-1595-77C19EB480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39F21-0DCC-BC57-B7E6-CAB1186D281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C132D01-3EC2-AFE4-358C-73BBD9690E96}"/>
              </a:ext>
            </a:extLst>
          </p:cNvPr>
          <p:cNvSpPr>
            <a:spLocks noGrp="1"/>
          </p:cNvSpPr>
          <p:nvPr>
            <p:ph type="body" sz="quarter" idx="3"/>
          </p:nvPr>
        </p:nvSpPr>
        <p:spPr/>
        <p:txBody>
          <a:bodyPr/>
          <a:lstStyle/>
          <a:p>
            <a:r>
              <a:t>Explain why OLS fails under these conditions.</a:t>
            </a:r>
          </a:p>
        </p:txBody>
      </p:sp>
      <p:sp>
        <p:nvSpPr>
          <p:cNvPr id="4" name="Slide Number Placeholder 3">
            <a:extLst>
              <a:ext uri="{FF2B5EF4-FFF2-40B4-BE49-F238E27FC236}">
                <a16:creationId xmlns:a16="http://schemas.microsoft.com/office/drawing/2014/main" id="{4CD33D4C-0968-BA9E-7B2F-EF6B6C17F96C}"/>
              </a:ext>
            </a:extLst>
          </p:cNvPr>
          <p:cNvSpPr>
            <a:spLocks noGrp="1"/>
          </p:cNvSpPr>
          <p:nvPr>
            <p:ph type="sldNum" sz="quarter" idx="5"/>
          </p:nvPr>
        </p:nvSpPr>
        <p:spPr/>
      </p:sp>
    </p:spTree>
    <p:extLst>
      <p:ext uri="{BB962C8B-B14F-4D97-AF65-F5344CB8AC3E}">
        <p14:creationId xmlns:p14="http://schemas.microsoft.com/office/powerpoint/2010/main" val="19381029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F8E3A-3142-2A8B-BEC3-1AB7F12420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A82FA-5EC4-5CC6-FDE7-CBE07C28765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AC15B07-7421-4884-52A5-6080E2529FEE}"/>
              </a:ext>
            </a:extLst>
          </p:cNvPr>
          <p:cNvSpPr>
            <a:spLocks noGrp="1"/>
          </p:cNvSpPr>
          <p:nvPr>
            <p:ph type="body" sz="quarter" idx="3"/>
          </p:nvPr>
        </p:nvSpPr>
        <p:spPr/>
        <p:txBody>
          <a:bodyPr/>
          <a:lstStyle/>
          <a:p>
            <a:r>
              <a:rPr lang="en-US" dirty="0"/>
              <a:t>Single best may not exist: </a:t>
            </a:r>
          </a:p>
          <a:p>
            <a:pPr marL="285750" indent="-285750">
              <a:buFont typeface="Arial" panose="020B0604020202020204" pitchFamily="34" charset="0"/>
              <a:buChar char="•"/>
            </a:pPr>
            <a:r>
              <a:rPr lang="en-US" sz="1200" dirty="0"/>
              <a:t>Multiple models should be tried (guided by economic theory and underlying distribution of the HCE data)</a:t>
            </a:r>
          </a:p>
          <a:p>
            <a:pPr marL="285750" indent="-285750">
              <a:buFont typeface="Arial" panose="020B0604020202020204" pitchFamily="34" charset="0"/>
              <a:buChar char="•"/>
            </a:pPr>
            <a:r>
              <a:rPr lang="en-US" sz="1200" dirty="0"/>
              <a:t>Leone et al (2019) review of 1833 studies (2006-2014): “There is no universally correct solution when it comes to identifying and treating influential observations … all approaches invariably require judgment and care on researchers’ part”</a:t>
            </a:r>
          </a:p>
          <a:p>
            <a:endParaRPr lang="en-US" dirty="0"/>
          </a:p>
          <a:p>
            <a:r>
              <a:rPr lang="en-US" dirty="0"/>
              <a:t>Sullivan: “</a:t>
            </a:r>
            <a:r>
              <a:rPr lang="en-US" sz="1800" dirty="0">
                <a:solidFill>
                  <a:srgbClr val="000000"/>
                </a:solidFill>
                <a:effectLst/>
                <a:latin typeface="Times New Roman" panose="02020603050405020304" pitchFamily="18" charset="0"/>
                <a:ea typeface="Calibri" panose="020F0502020204030204" pitchFamily="34" charset="0"/>
              </a:rPr>
              <a:t>surprisingly diverse array of methods used to discover and treat outliers”, noting widely varying – or even more concerning, non-existent – approaches to outlier detection. They write that even the top business journals were, “strikingly deficient in consistently reporting whether outliers were considered and how they were detected, particularly regarding the non-disclosure of a level of significance. …</a:t>
            </a:r>
          </a:p>
          <a:p>
            <a:r>
              <a:rPr lang="en-US" sz="1800" dirty="0">
                <a:solidFill>
                  <a:srgbClr val="000000"/>
                </a:solidFill>
                <a:effectLst/>
                <a:latin typeface="Times New Roman" panose="02020603050405020304" pitchFamily="18" charset="0"/>
                <a:ea typeface="Calibri" panose="020F0502020204030204" pitchFamily="34" charset="0"/>
              </a:rPr>
              <a:t>“Such inconsistencies make it difficult, if not impossible, to precisely replicate those studies, to make comparisons with the results of related studies, or to reconcile conflicting results between studies” (Leone et al., 2019) They found that only 68% of papers reviewed even mentioned influential observations or describe their approach to identify or treat observations, leaving nearly one-third (32%) neither mentioning influential observations or not clearly describing their approach to identify such observations. </a:t>
            </a:r>
          </a:p>
          <a:p>
            <a:pPr marL="285750" indent="-285750">
              <a:buFontTx/>
              <a:buChar char="-"/>
            </a:pPr>
            <a:r>
              <a:rPr lang="en-US" sz="1800" dirty="0">
                <a:solidFill>
                  <a:srgbClr val="000000"/>
                </a:solidFill>
                <a:effectLst/>
                <a:latin typeface="Times New Roman" panose="02020603050405020304" pitchFamily="18" charset="0"/>
                <a:ea typeface="Calibri" panose="020F0502020204030204" pitchFamily="34" charset="0"/>
              </a:rPr>
              <a:t>Abbreviated discourse: </a:t>
            </a:r>
            <a:r>
              <a:rPr lang="en-US" sz="1800" dirty="0">
                <a:effectLst/>
                <a:latin typeface="Times New Roman" panose="02020603050405020304" pitchFamily="18" charset="0"/>
                <a:ea typeface="Calibri" panose="020F0502020204030204" pitchFamily="34" charset="0"/>
              </a:rPr>
              <a:t>Even where they are mentioned, textbooks or methodological suggestions have historically paid little attention to false detection rates or overall level of significance for any one method. </a:t>
            </a:r>
          </a:p>
          <a:p>
            <a:pPr marL="171450" indent="-171450">
              <a:buFontTx/>
              <a:buChar char="-"/>
            </a:pPr>
            <a:endParaRPr lang="en-US" sz="1800" dirty="0">
              <a:effectLst/>
              <a:latin typeface="Times New Roman" panose="02020603050405020304" pitchFamily="18" charset="0"/>
              <a:ea typeface="Calibri" panose="020F0502020204030204" pitchFamily="34" charset="0"/>
            </a:endParaRPr>
          </a:p>
          <a:p>
            <a:pPr marL="0" indent="0">
              <a:buFont typeface="Arial" panose="020B0604020202020204" pitchFamily="34" charset="0"/>
              <a:buNone/>
            </a:pPr>
            <a:r>
              <a:rPr lang="en-US" sz="1800" dirty="0">
                <a:effectLst/>
                <a:latin typeface="Times New Roman" panose="02020603050405020304" pitchFamily="18" charset="0"/>
                <a:ea typeface="Calibri" panose="020F0502020204030204" pitchFamily="34" charset="0"/>
              </a:rPr>
              <a:t>Reasons: </a:t>
            </a:r>
          </a:p>
          <a:p>
            <a:pPr marL="342900" indent="-342900">
              <a:buFont typeface="Arial" panose="020B0604020202020204" pitchFamily="34" charset="0"/>
              <a:buChar char="•"/>
            </a:pPr>
            <a:r>
              <a:rPr lang="en-US" sz="1200" dirty="0"/>
              <a:t>Each method has +/-, but no acceptance of any method as a reasonable compromise between ease of implementation and effectiveness. </a:t>
            </a:r>
          </a:p>
          <a:p>
            <a:pPr marL="342900" indent="-342900">
              <a:buFont typeface="Arial" panose="020B0604020202020204" pitchFamily="34" charset="0"/>
              <a:buChar char="•"/>
            </a:pPr>
            <a:r>
              <a:rPr lang="en-US" sz="1200" dirty="0"/>
              <a:t>Textbooks include details, but many advise users implement several or all methods: challenging for researchers up against time or financial constraints</a:t>
            </a:r>
          </a:p>
          <a:p>
            <a:pPr marL="342900" indent="-342900">
              <a:buFont typeface="Arial" panose="020B0604020202020204" pitchFamily="34" charset="0"/>
              <a:buChar char="•"/>
            </a:pPr>
            <a:r>
              <a:rPr lang="en-US" sz="1200" dirty="0"/>
              <a:t>Using several methods can be problematic itself as it can lead to familiar problem of multiple comparisons</a:t>
            </a:r>
          </a:p>
          <a:p>
            <a:pPr marL="342900" indent="-342900">
              <a:buFont typeface="Arial" panose="020B0604020202020204" pitchFamily="34" charset="0"/>
              <a:buChar char="•"/>
            </a:pPr>
            <a:r>
              <a:rPr lang="en-US" sz="1200" dirty="0"/>
              <a:t>Many commonly used methods today evolved from rules-of-thumb or conventional wisdom evolved from periods with limited computational resources (hence low dimensionality, etc.)</a:t>
            </a:r>
          </a:p>
          <a:p>
            <a:pPr marL="0" indent="0">
              <a:buFontTx/>
              <a:buNone/>
            </a:pPr>
            <a:endParaRPr dirty="0"/>
          </a:p>
        </p:txBody>
      </p:sp>
      <p:sp>
        <p:nvSpPr>
          <p:cNvPr id="4" name="Slide Number Placeholder 3">
            <a:extLst>
              <a:ext uri="{FF2B5EF4-FFF2-40B4-BE49-F238E27FC236}">
                <a16:creationId xmlns:a16="http://schemas.microsoft.com/office/drawing/2014/main" id="{EAAC7A67-742D-A4FE-D07D-A354C3C61C0F}"/>
              </a:ext>
            </a:extLst>
          </p:cNvPr>
          <p:cNvSpPr>
            <a:spLocks noGrp="1"/>
          </p:cNvSpPr>
          <p:nvPr>
            <p:ph type="sldNum" sz="quarter" idx="5"/>
          </p:nvPr>
        </p:nvSpPr>
        <p:spPr/>
      </p:sp>
    </p:spTree>
    <p:extLst>
      <p:ext uri="{BB962C8B-B14F-4D97-AF65-F5344CB8AC3E}">
        <p14:creationId xmlns:p14="http://schemas.microsoft.com/office/powerpoint/2010/main" val="351035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29512-AB78-F98C-1595-77C19EB480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39F21-0DCC-BC57-B7E6-CAB1186D281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C132D01-3EC2-AFE4-358C-73BBD9690E96}"/>
              </a:ext>
            </a:extLst>
          </p:cNvPr>
          <p:cNvSpPr>
            <a:spLocks noGrp="1"/>
          </p:cNvSpPr>
          <p:nvPr>
            <p:ph type="body" sz="quarter" idx="3"/>
          </p:nvPr>
        </p:nvSpPr>
        <p:spPr/>
        <p:txBody>
          <a:bodyPr/>
          <a:lstStyle/>
          <a:p>
            <a:pPr marL="0" indent="0">
              <a:buNone/>
            </a:pPr>
            <a:r>
              <a:rPr lang="en-US" dirty="0"/>
              <a:t>From a paper we use at work to guide how we handle our economic modeling: </a:t>
            </a:r>
          </a:p>
          <a:p>
            <a:pPr marL="0" indent="0">
              <a:buNone/>
            </a:pPr>
            <a:r>
              <a:rPr lang="en-US" dirty="0"/>
              <a:t>Example of how unsatisfactory this documentation is </a:t>
            </a:r>
          </a:p>
          <a:p>
            <a:pPr marL="228600" indent="-228600">
              <a:buAutoNum type="arabicParenR"/>
            </a:pPr>
            <a:r>
              <a:rPr lang="en-US" dirty="0"/>
              <a:t>Why not? </a:t>
            </a:r>
          </a:p>
          <a:p>
            <a:pPr marL="228600" indent="-228600">
              <a:buAutoNum type="arabicParenR"/>
            </a:pPr>
            <a:r>
              <a:rPr lang="en-US" dirty="0"/>
              <a:t>No justification?</a:t>
            </a:r>
            <a:endParaRPr dirty="0"/>
          </a:p>
        </p:txBody>
      </p:sp>
      <p:sp>
        <p:nvSpPr>
          <p:cNvPr id="4" name="Slide Number Placeholder 3">
            <a:extLst>
              <a:ext uri="{FF2B5EF4-FFF2-40B4-BE49-F238E27FC236}">
                <a16:creationId xmlns:a16="http://schemas.microsoft.com/office/drawing/2014/main" id="{4CD33D4C-0968-BA9E-7B2F-EF6B6C17F96C}"/>
              </a:ext>
            </a:extLst>
          </p:cNvPr>
          <p:cNvSpPr>
            <a:spLocks noGrp="1"/>
          </p:cNvSpPr>
          <p:nvPr>
            <p:ph type="sldNum" sz="quarter" idx="5"/>
          </p:nvPr>
        </p:nvSpPr>
        <p:spPr/>
      </p:sp>
    </p:spTree>
    <p:extLst>
      <p:ext uri="{BB962C8B-B14F-4D97-AF65-F5344CB8AC3E}">
        <p14:creationId xmlns:p14="http://schemas.microsoft.com/office/powerpoint/2010/main" val="19839299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Mea</a:t>
            </a:r>
            <a:r>
              <a:rPr lang="en-US" dirty="0"/>
              <a:t> Culpa: Data Transformation intro was in Data Treatment section… fixed now, but bad in version I sent them.</a:t>
            </a:r>
          </a:p>
          <a:p>
            <a:r>
              <a:rPr lang="en-US" dirty="0"/>
              <a:t>Data Transformation: ALL data points, not just extreme values. Rescales entire target. Data Treatment in a preprocessing step is treating only portion of the data (in preprocessing) – altering/ capping extreme values directly, leaving the rest of the target untouched.</a:t>
            </a:r>
          </a:p>
          <a:p>
            <a:r>
              <a:rPr lang="en-US" dirty="0"/>
              <a:t>Log Transformation: Special case of Box-Cox when lambda=0</a:t>
            </a:r>
          </a:p>
          <a:p>
            <a:r>
              <a:rPr lang="en-US" dirty="0"/>
              <a:t>Truncation: Remove</a:t>
            </a:r>
          </a:p>
          <a:p>
            <a:r>
              <a:rPr lang="en-US" dirty="0"/>
              <a:t>Winsorization: </a:t>
            </a:r>
            <a:r>
              <a:rPr lang="en-US" sz="1800" dirty="0">
                <a:effectLst/>
                <a:latin typeface="Times New Roman" panose="02020603050405020304" pitchFamily="18" charset="0"/>
                <a:ea typeface="Calibri" panose="020F0502020204030204" pitchFamily="34" charset="0"/>
              </a:rPr>
              <a:t>a </a:t>
            </a:r>
            <a:r>
              <a:rPr lang="en-US" sz="1800" i="1" dirty="0">
                <a:effectLst/>
                <a:latin typeface="Times New Roman" panose="02020603050405020304" pitchFamily="18" charset="0"/>
                <a:ea typeface="Calibri" panose="020F0502020204030204" pitchFamily="34" charset="0"/>
              </a:rPr>
              <a:t>symmetric</a:t>
            </a:r>
            <a:r>
              <a:rPr lang="en-US" sz="1800" dirty="0">
                <a:effectLst/>
                <a:latin typeface="Times New Roman" panose="02020603050405020304" pitchFamily="18" charset="0"/>
                <a:ea typeface="Calibri" panose="020F0502020204030204" pitchFamily="34" charset="0"/>
              </a:rPr>
              <a:t> process that, rather than removing extreme values, instead replaces the smallest </a:t>
            </a:r>
            <a:r>
              <a:rPr lang="en-US" sz="1800" i="1" dirty="0">
                <a:effectLst/>
                <a:latin typeface="Times New Roman" panose="02020603050405020304" pitchFamily="18" charset="0"/>
                <a:ea typeface="Calibri" panose="020F0502020204030204" pitchFamily="34" charset="0"/>
              </a:rPr>
              <a:t>k</a:t>
            </a:r>
            <a:r>
              <a:rPr lang="en-US" sz="1800" dirty="0">
                <a:effectLst/>
                <a:latin typeface="Times New Roman" panose="02020603050405020304" pitchFamily="18" charset="0"/>
                <a:ea typeface="Calibri" panose="020F0502020204030204" pitchFamily="34" charset="0"/>
              </a:rPr>
              <a:t> and largest </a:t>
            </a:r>
            <a:r>
              <a:rPr lang="en-US" sz="1800" i="1" dirty="0">
                <a:effectLst/>
                <a:latin typeface="Times New Roman" panose="02020603050405020304" pitchFamily="18" charset="0"/>
                <a:ea typeface="Calibri" panose="020F0502020204030204" pitchFamily="34" charset="0"/>
              </a:rPr>
              <a:t>k</a:t>
            </a:r>
            <a:r>
              <a:rPr lang="en-US" sz="1800" dirty="0">
                <a:effectLst/>
                <a:latin typeface="Times New Roman" panose="02020603050405020304" pitchFamily="18" charset="0"/>
                <a:ea typeface="Calibri" panose="020F0502020204030204" pitchFamily="34" charset="0"/>
              </a:rPr>
              <a:t> data values with less extreme values at that cutoff point </a:t>
            </a:r>
          </a:p>
          <a:p>
            <a:pPr marL="342900" indent="-342900">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 </a:t>
            </a:r>
            <a:r>
              <a:rPr lang="en-US" sz="2400" dirty="0"/>
              <a:t>Variation in terminology and operationalization of terms</a:t>
            </a:r>
          </a:p>
          <a:p>
            <a:pPr marL="800100" lvl="1" indent="-342900">
              <a:buFont typeface="Arial" panose="020B0604020202020204" pitchFamily="34" charset="0"/>
              <a:buChar char="•"/>
            </a:pPr>
            <a:r>
              <a:rPr lang="en-US" sz="2400" dirty="0"/>
              <a:t>Leone et al (2019): of the 532 studies that used winsorization, 63% winsorized all variables, 6% winsorized only dependent variable, 10% winsorized all independent variables, 18% wrote (“Leave out some variables”), and 3% reported winsorization but did not specify how.</a:t>
            </a:r>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150857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6192-4698-B189-165A-EEF443F45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74830-ECC7-C3D7-9582-792F7C6946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D02620-6427-68B2-6DA8-9D5D33287D14}"/>
              </a:ext>
            </a:extLst>
          </p:cNvPr>
          <p:cNvSpPr>
            <a:spLocks noGrp="1"/>
          </p:cNvSpPr>
          <p:nvPr>
            <p:ph type="body" sz="quarter" idx="3"/>
          </p:nvPr>
        </p:nvSpPr>
        <p:spPr/>
        <p:txBody>
          <a:bodyPr/>
          <a:lstStyle/>
          <a:p>
            <a:r>
              <a:rPr lang="en-US" dirty="0"/>
              <a:t>In the policy world, common to see </a:t>
            </a:r>
            <a:r>
              <a:rPr lang="en-US"/>
              <a:t>DiD analysis. </a:t>
            </a:r>
            <a:r>
              <a:rPr lang="en-US" dirty="0"/>
              <a:t>Observational study data. Studies differential effect of a treatment on a ‘treatment group’ vs control group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QE method, can use observational data, estimates the effect of a treatment by mean changes in spending over time for a treatment group to mean changes in a control group, with the latter representing expected outcome had the project not been implemented</a:t>
            </a:r>
          </a:p>
          <a:p>
            <a:endParaRPr lang="en-US" dirty="0"/>
          </a:p>
          <a:p>
            <a:r>
              <a:rPr lang="en-US" dirty="0"/>
              <a:t>Strengths</a:t>
            </a:r>
          </a:p>
          <a:p>
            <a:pPr lvl="1">
              <a:buFont typeface="Arial" panose="020B0604020202020204" pitchFamily="34" charset="0"/>
              <a:buChar char="•"/>
            </a:pPr>
            <a:r>
              <a:rPr lang="en-US" dirty="0"/>
              <a:t>Allows researchers to adjust for unobserved, time-invariant confounders and to estimate treatment effects in quasi-experimental settings (or where randomization not feasible)</a:t>
            </a:r>
          </a:p>
          <a:p>
            <a:pPr lvl="1">
              <a:buFont typeface="Arial" panose="020B0604020202020204" pitchFamily="34" charset="0"/>
              <a:buChar char="•"/>
            </a:pPr>
            <a:r>
              <a:rPr lang="en-US" dirty="0"/>
              <a:t>Particularly useful where only a subset of population and pre/post intervention data available for both treated and control groups</a:t>
            </a:r>
          </a:p>
          <a:p>
            <a:r>
              <a:rPr lang="en-US" dirty="0"/>
              <a:t>Limitations</a:t>
            </a:r>
          </a:p>
          <a:p>
            <a:pPr lvl="1">
              <a:buFont typeface="Arial" panose="020B0604020202020204" pitchFamily="34" charset="0"/>
              <a:buChar char="•"/>
            </a:pPr>
            <a:r>
              <a:rPr lang="en-US" dirty="0"/>
              <a:t>Validity hinges on parallel trends assumption</a:t>
            </a:r>
          </a:p>
          <a:p>
            <a:pPr lvl="1">
              <a:buFont typeface="Arial" panose="020B0604020202020204" pitchFamily="34" charset="0"/>
              <a:buChar char="•"/>
            </a:pPr>
            <a:r>
              <a:rPr lang="en-US" dirty="0"/>
              <a:t>In non-linear models, interpretation of interaction terms can become more complex as treatment effects may vary across individuals depending on covariate profiles</a:t>
            </a:r>
          </a:p>
          <a:p>
            <a:pPr lvl="1">
              <a:buFont typeface="Arial" panose="020B0604020202020204" pitchFamily="34" charset="0"/>
              <a:buChar char="•"/>
            </a:pPr>
            <a:r>
              <a:rPr lang="en-US" dirty="0"/>
              <a:t>Can be sensitive where skewness and heteroskedasticity are common</a:t>
            </a:r>
          </a:p>
          <a:p>
            <a:pPr>
              <a:buFont typeface="Arial" panose="020B0604020202020204" pitchFamily="34" charset="0"/>
              <a:buChar char="•"/>
            </a:pPr>
            <a:r>
              <a:rPr lang="en-US" dirty="0"/>
              <a:t>Methodological complexities motivating the </a:t>
            </a:r>
            <a:r>
              <a:rPr lang="en-US" b="1" dirty="0"/>
              <a:t>need for simulation-based evaluations of estimator performance </a:t>
            </a:r>
            <a:r>
              <a:rPr lang="en-US" dirty="0"/>
              <a:t>under realistic conditions (such as this study)</a:t>
            </a:r>
          </a:p>
          <a:p>
            <a:endParaRPr dirty="0"/>
          </a:p>
        </p:txBody>
      </p:sp>
      <p:sp>
        <p:nvSpPr>
          <p:cNvPr id="4" name="Slide Number Placeholder 3">
            <a:extLst>
              <a:ext uri="{FF2B5EF4-FFF2-40B4-BE49-F238E27FC236}">
                <a16:creationId xmlns:a16="http://schemas.microsoft.com/office/drawing/2014/main" id="{592FDDAD-3086-C7EF-3E8D-BB9F63883CAD}"/>
              </a:ext>
            </a:extLst>
          </p:cNvPr>
          <p:cNvSpPr>
            <a:spLocks noGrp="1"/>
          </p:cNvSpPr>
          <p:nvPr>
            <p:ph type="sldNum" sz="quarter" idx="5"/>
          </p:nvPr>
        </p:nvSpPr>
        <p:spPr/>
      </p:sp>
    </p:spTree>
    <p:extLst>
      <p:ext uri="{BB962C8B-B14F-4D97-AF65-F5344CB8AC3E}">
        <p14:creationId xmlns:p14="http://schemas.microsoft.com/office/powerpoint/2010/main" val="4016790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6192-4698-B189-165A-EEF443F45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74830-ECC7-C3D7-9582-792F7C6946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D02620-6427-68B2-6DA8-9D5D33287D14}"/>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592FDDAD-3086-C7EF-3E8D-BB9F63883CAD}"/>
              </a:ext>
            </a:extLst>
          </p:cNvPr>
          <p:cNvSpPr>
            <a:spLocks noGrp="1"/>
          </p:cNvSpPr>
          <p:nvPr>
            <p:ph type="sldNum" sz="quarter" idx="5"/>
          </p:nvPr>
        </p:nvSpPr>
        <p:spPr/>
      </p:sp>
    </p:spTree>
    <p:extLst>
      <p:ext uri="{BB962C8B-B14F-4D97-AF65-F5344CB8AC3E}">
        <p14:creationId xmlns:p14="http://schemas.microsoft.com/office/powerpoint/2010/main" val="42715320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4F0FB-99BE-DCD7-3EFA-D62D4277E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1B5053-7CA7-14FE-9B8A-C86A1BA045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5A8E4D6-EFA4-ED4B-FFE5-577C0B13093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8F720277-870C-090B-8D13-22CD1EA448B0}"/>
              </a:ext>
            </a:extLst>
          </p:cNvPr>
          <p:cNvSpPr>
            <a:spLocks noGrp="1"/>
          </p:cNvSpPr>
          <p:nvPr>
            <p:ph type="sldNum" sz="quarter" idx="5"/>
          </p:nvPr>
        </p:nvSpPr>
        <p:spPr/>
      </p:sp>
    </p:spTree>
    <p:extLst>
      <p:ext uri="{BB962C8B-B14F-4D97-AF65-F5344CB8AC3E}">
        <p14:creationId xmlns:p14="http://schemas.microsoft.com/office/powerpoint/2010/main" val="9450400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800" dirty="0">
                <a:solidFill>
                  <a:srgbClr val="000000"/>
                </a:solidFill>
                <a:effectLst/>
                <a:latin typeface="Times New Roman" panose="02020603050405020304" pitchFamily="18" charset="0"/>
                <a:ea typeface="Calibri" panose="020F0502020204030204" pitchFamily="34" charset="0"/>
              </a:rPr>
              <a:t>Previously, common practice for private insurers to drop nonstudent dependents at age 19 and student dependents at age 23; the expansion allowed dependents to remain on their parents’ health insurance coverage until they turn 26 </a:t>
            </a:r>
            <a:r>
              <a:rPr lang="en-US" sz="1800" dirty="0" err="1">
                <a:solidFill>
                  <a:srgbClr val="000000"/>
                </a:solidFill>
                <a:effectLst/>
                <a:latin typeface="Times New Roman" panose="02020603050405020304" pitchFamily="18" charset="0"/>
                <a:ea typeface="Calibri" panose="020F0502020204030204" pitchFamily="34" charset="0"/>
              </a:rPr>
              <a:t>yo</a:t>
            </a:r>
            <a:r>
              <a:rPr lang="en-US" sz="1800" dirty="0">
                <a:solidFill>
                  <a:srgbClr val="000000"/>
                </a:solidFill>
                <a:effectLst/>
                <a:latin typeface="Times New Roman" panose="02020603050405020304" pitchFamily="18" charset="0"/>
                <a:ea typeface="Calibri" panose="020F0502020204030204" pitchFamily="34" charset="0"/>
              </a:rPr>
              <a:t>. </a:t>
            </a:r>
          </a:p>
          <a:p>
            <a:endParaRPr lang="en-US" sz="1800" dirty="0">
              <a:solidFill>
                <a:srgbClr val="000000"/>
              </a:solidFill>
              <a:effectLst/>
              <a:latin typeface="Times New Roman" panose="02020603050405020304" pitchFamily="18" charset="0"/>
              <a:ea typeface="Calibri" panose="020F0502020204030204" pitchFamily="34" charset="0"/>
            </a:endParaRPr>
          </a:p>
          <a:p>
            <a:r>
              <a:rPr lang="en-US" sz="1800" dirty="0">
                <a:solidFill>
                  <a:srgbClr val="000000"/>
                </a:solidFill>
                <a:effectLst/>
                <a:latin typeface="Times New Roman" panose="02020603050405020304" pitchFamily="18" charset="0"/>
                <a:ea typeface="Calibri" panose="020F0502020204030204" pitchFamily="34" charset="0"/>
              </a:rPr>
              <a:t>“This expansion in coverage points to a powerful natural experiment using a difference-in-differences design”; treatment and control groups could be created from ages 23-25 and 27-29  respectively, and pre and post years could be created from 2008-2010 (pre-ACA) and 2011-2014 (post-ACA). The authors explored if people aged 23-25 were affected by the ACA policy using a treatment effect on the treated differences in differences model described previously. </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427759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6192-4698-B189-165A-EEF443F45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74830-ECC7-C3D7-9582-792F7C6946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D02620-6427-68B2-6DA8-9D5D33287D14}"/>
              </a:ext>
            </a:extLst>
          </p:cNvPr>
          <p:cNvSpPr>
            <a:spLocks noGrp="1"/>
          </p:cNvSpPr>
          <p:nvPr>
            <p:ph type="body" sz="quarter" idx="3"/>
          </p:nvPr>
        </p:nvSpPr>
        <p:spPr/>
        <p:txBody>
          <a:bodyPr/>
          <a:lstStyle/>
          <a:p>
            <a:r>
              <a:rPr lang="en-US" dirty="0"/>
              <a:t>Raw bias percentage: Average deviation of estimated coefficient from true value (0)</a:t>
            </a:r>
          </a:p>
          <a:p>
            <a:r>
              <a:rPr lang="en-US" dirty="0"/>
              <a:t>Empirical SE: measures variability of estimated coefficients across replications (</a:t>
            </a:r>
            <a:r>
              <a:rPr lang="en-US" dirty="0" err="1"/>
              <a:t>calc’d</a:t>
            </a:r>
            <a:r>
              <a:rPr lang="en-US" dirty="0"/>
              <a:t> as sample SD of the B estimates)</a:t>
            </a:r>
          </a:p>
          <a:p>
            <a:r>
              <a:rPr lang="en-US" dirty="0"/>
              <a:t>Coverage: Proportion of replications in which the 95% CI for estimated coefficient includes the true value (in this case, 0)</a:t>
            </a:r>
            <a:endParaRPr dirty="0"/>
          </a:p>
        </p:txBody>
      </p:sp>
      <p:sp>
        <p:nvSpPr>
          <p:cNvPr id="4" name="Slide Number Placeholder 3">
            <a:extLst>
              <a:ext uri="{FF2B5EF4-FFF2-40B4-BE49-F238E27FC236}">
                <a16:creationId xmlns:a16="http://schemas.microsoft.com/office/drawing/2014/main" id="{592FDDAD-3086-C7EF-3E8D-BB9F63883CAD}"/>
              </a:ext>
            </a:extLst>
          </p:cNvPr>
          <p:cNvSpPr>
            <a:spLocks noGrp="1"/>
          </p:cNvSpPr>
          <p:nvPr>
            <p:ph type="sldNum" sz="quarter" idx="5"/>
          </p:nvPr>
        </p:nvSpPr>
        <p:spPr/>
      </p:sp>
    </p:spTree>
    <p:extLst>
      <p:ext uri="{BB962C8B-B14F-4D97-AF65-F5344CB8AC3E}">
        <p14:creationId xmlns:p14="http://schemas.microsoft.com/office/powerpoint/2010/main" val="15271458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C6C66-512D-54DE-2F61-ED0AC9DAE4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E57496-8572-F358-E281-2183B28FC6E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E6F8C28-7B7F-EAF7-D91C-68F7172A4824}"/>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imes New Roman" panose="02020603050405020304" pitchFamily="18" charset="0"/>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rPr>
              <a:t>One area I’d really like feedback is design grid,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rPr>
              <a:t>Small ones (ie 250) to stress test, larger sample size would possibly stabilize. Still would be a good size for some interventions, though if doing observational from large scale datasets (like Medicaid) those are in the tens or even hundreds of thousands and we do we still have issues and we topcode. This design allows for a full, comprehensive assessment of how each method performs under realistic but controlled conditions, offering insights that would not be possible through empirical analysis alone.</a:t>
            </a:r>
          </a:p>
          <a:p>
            <a:endParaRPr dirty="0"/>
          </a:p>
        </p:txBody>
      </p:sp>
      <p:sp>
        <p:nvSpPr>
          <p:cNvPr id="4" name="Slide Number Placeholder 3">
            <a:extLst>
              <a:ext uri="{FF2B5EF4-FFF2-40B4-BE49-F238E27FC236}">
                <a16:creationId xmlns:a16="http://schemas.microsoft.com/office/drawing/2014/main" id="{9200A783-1DA0-A346-C3FC-91FD8BF3BC83}"/>
              </a:ext>
            </a:extLst>
          </p:cNvPr>
          <p:cNvSpPr>
            <a:spLocks noGrp="1"/>
          </p:cNvSpPr>
          <p:nvPr>
            <p:ph type="sldNum" sz="quarter" idx="5"/>
          </p:nvPr>
        </p:nvSpPr>
        <p:spPr/>
      </p:sp>
    </p:spTree>
    <p:extLst>
      <p:ext uri="{BB962C8B-B14F-4D97-AF65-F5344CB8AC3E}">
        <p14:creationId xmlns:p14="http://schemas.microsoft.com/office/powerpoint/2010/main" val="34631712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C6C66-512D-54DE-2F61-ED0AC9DAE4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E57496-8572-F358-E281-2183B28FC6E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E6F8C28-7B7F-EAF7-D91C-68F7172A4824}"/>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rPr>
              <a:t>. This design allows for a full, comprehensive assessment of how each method performs under realistic but controlled conditions, offering insights that would not be possible through empirical analysis alone.</a:t>
            </a:r>
          </a:p>
          <a:p>
            <a:endParaRPr dirty="0"/>
          </a:p>
        </p:txBody>
      </p:sp>
      <p:sp>
        <p:nvSpPr>
          <p:cNvPr id="4" name="Slide Number Placeholder 3">
            <a:extLst>
              <a:ext uri="{FF2B5EF4-FFF2-40B4-BE49-F238E27FC236}">
                <a16:creationId xmlns:a16="http://schemas.microsoft.com/office/drawing/2014/main" id="{9200A783-1DA0-A346-C3FC-91FD8BF3BC83}"/>
              </a:ext>
            </a:extLst>
          </p:cNvPr>
          <p:cNvSpPr>
            <a:spLocks noGrp="1"/>
          </p:cNvSpPr>
          <p:nvPr>
            <p:ph type="sldNum" sz="quarter" idx="5"/>
          </p:nvPr>
        </p:nvSpPr>
        <p:spPr/>
      </p:sp>
    </p:spTree>
    <p:extLst>
      <p:ext uri="{BB962C8B-B14F-4D97-AF65-F5344CB8AC3E}">
        <p14:creationId xmlns:p14="http://schemas.microsoft.com/office/powerpoint/2010/main" val="36485686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87556-35C3-E86F-83B3-9984EF09D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2816C-ED84-F711-2C68-79176D72341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1998942-C403-67DA-1EC6-BA11E4AF2A8F}"/>
              </a:ext>
            </a:extLst>
          </p:cNvPr>
          <p:cNvSpPr>
            <a:spLocks noGrp="1"/>
          </p:cNvSpPr>
          <p:nvPr>
            <p:ph type="body" sz="quarter" idx="3"/>
          </p:nvPr>
        </p:nvSpPr>
        <p:spPr/>
        <p:txBody>
          <a:bodyPr/>
          <a:lstStyle/>
          <a:p>
            <a:r>
              <a:rPr lang="en-US" dirty="0"/>
              <a:t>Part 1: Logit (log of the odds) </a:t>
            </a:r>
          </a:p>
          <a:p>
            <a:r>
              <a:rPr lang="en-US" dirty="0"/>
              <a:t>DGF did not include interaction</a:t>
            </a:r>
          </a:p>
          <a:p>
            <a:endParaRPr lang="en-US" dirty="0"/>
          </a:p>
          <a:p>
            <a:r>
              <a:rPr lang="en-US" dirty="0"/>
              <a:t>Part 2 Conditional</a:t>
            </a:r>
          </a:p>
          <a:p>
            <a:r>
              <a:rPr lang="en-US" dirty="0"/>
              <a:t>Where Treatment is ages 23-25</a:t>
            </a:r>
            <a:endParaRPr dirty="0"/>
          </a:p>
        </p:txBody>
      </p:sp>
      <p:sp>
        <p:nvSpPr>
          <p:cNvPr id="4" name="Slide Number Placeholder 3">
            <a:extLst>
              <a:ext uri="{FF2B5EF4-FFF2-40B4-BE49-F238E27FC236}">
                <a16:creationId xmlns:a16="http://schemas.microsoft.com/office/drawing/2014/main" id="{75E2C155-61BA-976B-0CF2-09159711E37A}"/>
              </a:ext>
            </a:extLst>
          </p:cNvPr>
          <p:cNvSpPr>
            <a:spLocks noGrp="1"/>
          </p:cNvSpPr>
          <p:nvPr>
            <p:ph type="sldNum" sz="quarter" idx="5"/>
          </p:nvPr>
        </p:nvSpPr>
        <p:spPr/>
      </p:sp>
    </p:spTree>
    <p:extLst>
      <p:ext uri="{BB962C8B-B14F-4D97-AF65-F5344CB8AC3E}">
        <p14:creationId xmlns:p14="http://schemas.microsoft.com/office/powerpoint/2010/main" val="16281247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800" dirty="0">
                <a:solidFill>
                  <a:srgbClr val="000000"/>
                </a:solidFill>
                <a:effectLst/>
                <a:latin typeface="Times New Roman" panose="02020603050405020304" pitchFamily="18" charset="0"/>
                <a:ea typeface="Calibri" panose="020F0502020204030204" pitchFamily="34" charset="0"/>
              </a:rPr>
              <a:t>Relatively balanced across arms</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647349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6192-4698-B189-165A-EEF443F45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74830-ECC7-C3D7-9582-792F7C6946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D02620-6427-68B2-6DA8-9D5D33287D14}"/>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rPr>
              <a:t>. This design allows for a full, comprehensive assessment of how each method performs under realistic but controlled conditions, offering insights that would not be possible through empirical analysis alone.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simulation Mirrors structure and distributional features of real-world HCE data by mimicking empirical study (DGF)</a:t>
            </a:r>
          </a:p>
          <a:p>
            <a:endParaRPr dirty="0"/>
          </a:p>
        </p:txBody>
      </p:sp>
      <p:sp>
        <p:nvSpPr>
          <p:cNvPr id="4" name="Slide Number Placeholder 3">
            <a:extLst>
              <a:ext uri="{FF2B5EF4-FFF2-40B4-BE49-F238E27FC236}">
                <a16:creationId xmlns:a16="http://schemas.microsoft.com/office/drawing/2014/main" id="{592FDDAD-3086-C7EF-3E8D-BB9F63883CAD}"/>
              </a:ext>
            </a:extLst>
          </p:cNvPr>
          <p:cNvSpPr>
            <a:spLocks noGrp="1"/>
          </p:cNvSpPr>
          <p:nvPr>
            <p:ph type="sldNum" sz="quarter" idx="5"/>
          </p:nvPr>
        </p:nvSpPr>
        <p:spPr/>
      </p:sp>
    </p:spTree>
    <p:extLst>
      <p:ext uri="{BB962C8B-B14F-4D97-AF65-F5344CB8AC3E}">
        <p14:creationId xmlns:p14="http://schemas.microsoft.com/office/powerpoint/2010/main" val="39483738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87556-35C3-E86F-83B3-9984EF09D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2816C-ED84-F711-2C68-79176D72341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1998942-C403-67DA-1EC6-BA11E4AF2A8F}"/>
              </a:ext>
            </a:extLst>
          </p:cNvPr>
          <p:cNvSpPr>
            <a:spLocks noGrp="1"/>
          </p:cNvSpPr>
          <p:nvPr>
            <p:ph type="body" sz="quarter" idx="3"/>
          </p:nvPr>
        </p:nvSpPr>
        <p:spPr/>
        <p:txBody>
          <a:bodyPr/>
          <a:lstStyle/>
          <a:p>
            <a:r>
              <a:rPr lang="en-US" dirty="0"/>
              <a:t>DGF did not include interaction</a:t>
            </a:r>
          </a:p>
          <a:p>
            <a:r>
              <a:rPr lang="en-US" dirty="0"/>
              <a:t>Part 2 Conditional</a:t>
            </a:r>
          </a:p>
          <a:p>
            <a:r>
              <a:rPr lang="en-US" dirty="0"/>
              <a:t>Where Treatment is ages 23-25</a:t>
            </a:r>
            <a:endParaRPr dirty="0"/>
          </a:p>
        </p:txBody>
      </p:sp>
      <p:sp>
        <p:nvSpPr>
          <p:cNvPr id="4" name="Slide Number Placeholder 3">
            <a:extLst>
              <a:ext uri="{FF2B5EF4-FFF2-40B4-BE49-F238E27FC236}">
                <a16:creationId xmlns:a16="http://schemas.microsoft.com/office/drawing/2014/main" id="{75E2C155-61BA-976B-0CF2-09159711E37A}"/>
              </a:ext>
            </a:extLst>
          </p:cNvPr>
          <p:cNvSpPr>
            <a:spLocks noGrp="1"/>
          </p:cNvSpPr>
          <p:nvPr>
            <p:ph type="sldNum" sz="quarter" idx="5"/>
          </p:nvPr>
        </p:nvSpPr>
        <p:spPr/>
      </p:sp>
    </p:spTree>
    <p:extLst>
      <p:ext uri="{BB962C8B-B14F-4D97-AF65-F5344CB8AC3E}">
        <p14:creationId xmlns:p14="http://schemas.microsoft.com/office/powerpoint/2010/main" val="11632883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pilot results and implications.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4091D-11E7-75F4-0259-5535DE631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EDF64D-AF15-9525-CD1A-E677328AFDE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73A32E4-9B8E-2861-1B9E-7DA27D6029F1}"/>
              </a:ext>
            </a:extLst>
          </p:cNvPr>
          <p:cNvSpPr>
            <a:spLocks noGrp="1"/>
          </p:cNvSpPr>
          <p:nvPr>
            <p:ph type="body" sz="quarter" idx="3"/>
          </p:nvPr>
        </p:nvSpPr>
        <p:spPr/>
        <p:txBody>
          <a:bodyPr/>
          <a:lstStyle/>
          <a:p>
            <a:r>
              <a:rPr lang="en-US" b="0" dirty="0"/>
              <a:t>Full factorial linear model for bias, including ME of </a:t>
            </a:r>
            <a:r>
              <a:rPr lang="en-US" b="0" dirty="0" err="1"/>
              <a:t>x,x,x,x</a:t>
            </a:r>
            <a:r>
              <a:rPr lang="en-US" b="0" dirty="0"/>
              <a:t> as well as all possible 2way, 3way, and the 4 way interaction among these factors.</a:t>
            </a:r>
          </a:p>
          <a:p>
            <a:endParaRPr lang="en-US" b="0" dirty="0"/>
          </a:p>
          <a:p>
            <a:r>
              <a:rPr lang="en-US" b="0" dirty="0"/>
              <a:t>The four-way interaction term quantifies whether the three-way relationship among method, sample size, and magnitude of extreme values itself varies across levels of the proportion of extremes. In practice, this means that the performance differences between methods across sample sizes and extreme-value severity are conditional on how frequently extreme values occur.</a:t>
            </a:r>
          </a:p>
          <a:p>
            <a:r>
              <a:rPr lang="en-US" b="1" dirty="0"/>
              <a:t>1. Use Variance Explained (η² / Partial η²)</a:t>
            </a:r>
          </a:p>
          <a:p>
            <a:pPr>
              <a:buFont typeface="Arial" panose="020B0604020202020204" pitchFamily="34" charset="0"/>
              <a:buChar char="•"/>
            </a:pPr>
            <a:r>
              <a:rPr lang="en-US" dirty="0"/>
              <a:t>In ANOVA or linear models, the </a:t>
            </a:r>
            <a:r>
              <a:rPr lang="en-US" b="1" dirty="0"/>
              <a:t>effect size of an interaction</a:t>
            </a:r>
            <a:r>
              <a:rPr lang="en-US" dirty="0"/>
              <a:t> can be expressed as the proportion of variance it explains.</a:t>
            </a:r>
          </a:p>
          <a:p>
            <a:pPr>
              <a:buFont typeface="Arial" panose="020B0604020202020204" pitchFamily="34" charset="0"/>
              <a:buChar char="•"/>
            </a:pPr>
            <a:r>
              <a:rPr lang="en-US" b="1" dirty="0"/>
              <a:t>Partial η²</a:t>
            </a:r>
            <a:r>
              <a:rPr lang="en-US" dirty="0"/>
              <a:t> is common:</a:t>
            </a:r>
          </a:p>
          <a:p>
            <a:r>
              <a:rPr lang="en-US" dirty="0"/>
              <a:t>ηpartial2=</a:t>
            </a:r>
            <a:r>
              <a:rPr lang="en-US" dirty="0" err="1"/>
              <a:t>SSinteractionSSinteraction+SSerror</a:t>
            </a:r>
            <a:r>
              <a:rPr lang="en-US" dirty="0"/>
              <a:t>\eta^2_{\text{partial}} = \frac{SS_{\text{interaction}}}{SS_{\text{interaction}} + SS_{\text{error}}}</a:t>
            </a:r>
          </a:p>
          <a:p>
            <a:pPr>
              <a:buFont typeface="Arial" panose="020B0604020202020204" pitchFamily="34" charset="0"/>
              <a:buChar char="•"/>
            </a:pPr>
            <a:r>
              <a:rPr lang="en-US" dirty="0"/>
              <a:t>This tells you how much of the variability in Bias, SE, or Coverage is attributable to the interaction, controlling for other terms.</a:t>
            </a:r>
          </a:p>
        </p:txBody>
      </p:sp>
      <p:sp>
        <p:nvSpPr>
          <p:cNvPr id="4" name="Slide Number Placeholder 3">
            <a:extLst>
              <a:ext uri="{FF2B5EF4-FFF2-40B4-BE49-F238E27FC236}">
                <a16:creationId xmlns:a16="http://schemas.microsoft.com/office/drawing/2014/main" id="{808EA2E3-812C-1CEC-A822-33E76C7DEACE}"/>
              </a:ext>
            </a:extLst>
          </p:cNvPr>
          <p:cNvSpPr>
            <a:spLocks noGrp="1"/>
          </p:cNvSpPr>
          <p:nvPr>
            <p:ph type="sldNum" sz="quarter" idx="5"/>
          </p:nvPr>
        </p:nvSpPr>
        <p:spPr/>
      </p:sp>
    </p:spTree>
    <p:extLst>
      <p:ext uri="{BB962C8B-B14F-4D97-AF65-F5344CB8AC3E}">
        <p14:creationId xmlns:p14="http://schemas.microsoft.com/office/powerpoint/2010/main" val="24542569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6192-4698-B189-165A-EEF443F45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74830-ECC7-C3D7-9582-792F7C6946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D02620-6427-68B2-6DA8-9D5D33287D14}"/>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rPr>
              <a:t>Although the two-part model has become a standard approach for analyzing cost data with a mass at zero and right-skewed distribution, the treatment of extreme values, particularly through top-coding, remains inconsistently applied and/or justified. Researchers often rely on ad hoc decisions about top-coding thresholds or transformations without either evaluating or disclosing how these choices affect their estimates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imes New Roman" panose="02020603050405020304" pitchFamily="18" charset="0"/>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rPr>
              <a:t>Beyond methodological contributions, the study has broader implications for policy-relevant research. Accurate estimation of treatment effects in healthcare cost models is essential for evaluating interventions, allocating resources, and informing policy decisions. By clarifying how different top-coding strategies influence key inferential metrics, such as bias, standard error, and confidence interval coverage, this work contributes to the credibility and reproducibility of empirical findings in health economics and related fields</a:t>
            </a:r>
            <a:endParaRPr dirty="0"/>
          </a:p>
        </p:txBody>
      </p:sp>
      <p:sp>
        <p:nvSpPr>
          <p:cNvPr id="4" name="Slide Number Placeholder 3">
            <a:extLst>
              <a:ext uri="{FF2B5EF4-FFF2-40B4-BE49-F238E27FC236}">
                <a16:creationId xmlns:a16="http://schemas.microsoft.com/office/drawing/2014/main" id="{592FDDAD-3086-C7EF-3E8D-BB9F63883CAD}"/>
              </a:ext>
            </a:extLst>
          </p:cNvPr>
          <p:cNvSpPr>
            <a:spLocks noGrp="1"/>
          </p:cNvSpPr>
          <p:nvPr>
            <p:ph type="sldNum" sz="quarter" idx="5"/>
          </p:nvPr>
        </p:nvSpPr>
        <p:spPr/>
      </p:sp>
    </p:spTree>
    <p:extLst>
      <p:ext uri="{BB962C8B-B14F-4D97-AF65-F5344CB8AC3E}">
        <p14:creationId xmlns:p14="http://schemas.microsoft.com/office/powerpoint/2010/main" val="34317942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DGP may not full capture complexity of real-world healthcare systems</a:t>
            </a:r>
          </a:p>
          <a:p>
            <a:r>
              <a:rPr lang="en-US" dirty="0"/>
              <a:t>Didn’t use random effect (intercept) / mixed-effects model (couldn’t get to empirical data I chose to converge)</a:t>
            </a:r>
          </a:p>
          <a:p>
            <a:r>
              <a:rPr lang="en-US" dirty="0"/>
              <a:t>TPM + GLM may not be generalizable to machine learning, quantile regression, cumulative LR</a:t>
            </a:r>
          </a:p>
          <a:p>
            <a:r>
              <a:rPr lang="en-US" dirty="0"/>
              <a:t>Single interaction term, results may differ for other covariates</a:t>
            </a:r>
          </a:p>
          <a:p>
            <a:endParaRPr lang="en-US" dirty="0"/>
          </a:p>
          <a:p>
            <a:endParaRPr lang="en-US" dirty="0"/>
          </a:p>
          <a:p>
            <a:endParaRPr lang="en-US" dirty="0"/>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My sincerest thanks for not only your time, but also your feedback</a:t>
            </a:r>
          </a:p>
          <a:p>
            <a:endParaRPr lang="en-US" dirty="0"/>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24220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12/5/2025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doi.org/10.1038/s41746-020-00354-8"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441A9-6522-D0BE-5AF4-A0E1FBE5CD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9886FA-67BC-1262-2539-21E7BA76AD71}"/>
              </a:ext>
            </a:extLst>
          </p:cNvPr>
          <p:cNvSpPr>
            <a:spLocks noGrp="1"/>
          </p:cNvSpPr>
          <p:nvPr>
            <p:ph type="ctrTitle"/>
          </p:nvPr>
        </p:nvSpPr>
        <p:spPr/>
        <p:txBody>
          <a:bodyPr>
            <a:normAutofit fontScale="90000"/>
          </a:bodyPr>
          <a:lstStyle/>
          <a:p>
            <a:r>
              <a:rPr lang="en-US" dirty="0">
                <a:latin typeface="Franklin Gothic Demi" panose="020B0703020102020204" pitchFamily="34" charset="0"/>
              </a:rPr>
              <a:t>Transforming the Tail: Evaluating Top-Coding and Distributional Adjustments in Skewed Healthcare Expenditure Models</a:t>
            </a:r>
            <a:endParaRPr dirty="0">
              <a:latin typeface="Franklin Gothic Demi" panose="020B0703020102020204" pitchFamily="34" charset="0"/>
            </a:endParaRPr>
          </a:p>
        </p:txBody>
      </p:sp>
      <p:sp>
        <p:nvSpPr>
          <p:cNvPr id="3" name="Content Placeholder 2">
            <a:extLst>
              <a:ext uri="{FF2B5EF4-FFF2-40B4-BE49-F238E27FC236}">
                <a16:creationId xmlns:a16="http://schemas.microsoft.com/office/drawing/2014/main" id="{3B59CE64-9048-7476-A51F-42DA85688201}"/>
              </a:ext>
            </a:extLst>
          </p:cNvPr>
          <p:cNvSpPr>
            <a:spLocks noGrp="1"/>
          </p:cNvSpPr>
          <p:nvPr>
            <p:ph type="subTitle" idx="1"/>
          </p:nvPr>
        </p:nvSpPr>
        <p:spPr>
          <a:xfrm>
            <a:off x="1033670" y="4394200"/>
            <a:ext cx="9329530" cy="1968499"/>
          </a:xfrm>
        </p:spPr>
        <p:txBody>
          <a:bodyPr>
            <a:normAutofit fontScale="70000" lnSpcReduction="20000"/>
          </a:bodyPr>
          <a:lstStyle/>
          <a:p>
            <a:pPr marL="0" indent="0">
              <a:buNone/>
            </a:pPr>
            <a:r>
              <a:rPr lang="en-US" sz="3400" dirty="0"/>
              <a:t>Kimberly T Wiggins</a:t>
            </a:r>
          </a:p>
          <a:p>
            <a:pPr marL="0" indent="0">
              <a:buNone/>
            </a:pPr>
            <a:endParaRPr lang="en-US" dirty="0"/>
          </a:p>
          <a:p>
            <a:pPr marL="0" indent="0">
              <a:buNone/>
            </a:pPr>
            <a:r>
              <a:rPr lang="en-US" sz="2600" dirty="0"/>
              <a:t>Data Analyst, Instructor; CU Anschutz Department of Family Medicine</a:t>
            </a:r>
          </a:p>
          <a:p>
            <a:pPr marL="0" indent="0">
              <a:buNone/>
            </a:pPr>
            <a:r>
              <a:rPr lang="en-US" sz="2600" dirty="0"/>
              <a:t>Data and Analytics Team Lead, CAMPHIRE</a:t>
            </a:r>
          </a:p>
          <a:p>
            <a:pPr marL="0" indent="0">
              <a:buNone/>
            </a:pPr>
            <a:br>
              <a:rPr lang="en-US" dirty="0"/>
            </a:br>
            <a:r>
              <a:rPr lang="en-US" sz="2400" dirty="0"/>
              <a:t>December 2025</a:t>
            </a:r>
            <a:endParaRPr sz="2400" dirty="0"/>
          </a:p>
        </p:txBody>
      </p:sp>
    </p:spTree>
    <p:extLst>
      <p:ext uri="{BB962C8B-B14F-4D97-AF65-F5344CB8AC3E}">
        <p14:creationId xmlns:p14="http://schemas.microsoft.com/office/powerpoint/2010/main" val="1172627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Franklin Gothic Demi" panose="020B0703020102020204" pitchFamily="34" charset="0"/>
              </a:rPr>
              <a:t>Agenda</a:t>
            </a:r>
          </a:p>
        </p:txBody>
      </p:sp>
      <p:sp>
        <p:nvSpPr>
          <p:cNvPr id="3" name="Content Placeholder 2"/>
          <p:cNvSpPr>
            <a:spLocks noGrp="1"/>
          </p:cNvSpPr>
          <p:nvPr>
            <p:ph idx="1"/>
          </p:nvPr>
        </p:nvSpPr>
        <p:spPr/>
        <p:txBody>
          <a:bodyPr>
            <a:normAutofit/>
          </a:bodyPr>
          <a:lstStyle/>
          <a:p>
            <a:pPr marL="0" indent="0">
              <a:buNone/>
            </a:pPr>
            <a:r>
              <a:rPr dirty="0"/>
              <a:t>Agenda:</a:t>
            </a:r>
          </a:p>
          <a:p>
            <a:pPr>
              <a:buFont typeface="Arial" panose="020B0604020202020204" pitchFamily="34" charset="0"/>
              <a:buChar char="•"/>
            </a:pPr>
            <a:r>
              <a:rPr lang="en-US" dirty="0"/>
              <a:t>Statement of the Problem</a:t>
            </a:r>
            <a:endParaRPr dirty="0"/>
          </a:p>
          <a:p>
            <a:pPr>
              <a:buFont typeface="Arial" panose="020B0604020202020204" pitchFamily="34" charset="0"/>
              <a:buChar char="•"/>
            </a:pPr>
            <a:r>
              <a:rPr lang="en-US" dirty="0"/>
              <a:t>Common Approaches to Address Problems</a:t>
            </a:r>
          </a:p>
          <a:p>
            <a:pPr>
              <a:buFont typeface="Arial" panose="020B0604020202020204" pitchFamily="34" charset="0"/>
              <a:buChar char="•"/>
            </a:pPr>
            <a:r>
              <a:rPr lang="en-US" dirty="0"/>
              <a:t>Questions</a:t>
            </a:r>
            <a:endParaRPr dirty="0"/>
          </a:p>
          <a:p>
            <a:pPr>
              <a:buFont typeface="Arial" panose="020B0604020202020204" pitchFamily="34" charset="0"/>
              <a:buChar char="•"/>
            </a:pPr>
            <a:r>
              <a:rPr lang="en-US" dirty="0"/>
              <a:t>Study, </a:t>
            </a:r>
            <a:r>
              <a:rPr dirty="0"/>
              <a:t>Methodology</a:t>
            </a:r>
          </a:p>
          <a:p>
            <a:pPr>
              <a:buFont typeface="Arial" panose="020B0604020202020204" pitchFamily="34" charset="0"/>
              <a:buChar char="•"/>
            </a:pPr>
            <a:r>
              <a:rPr lang="en-US" dirty="0"/>
              <a:t>Pilot Study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Franklin Gothic Demi" panose="020B0703020102020204" pitchFamily="34" charset="0"/>
              </a:rPr>
              <a:t>Introduction</a:t>
            </a:r>
          </a:p>
        </p:txBody>
      </p:sp>
      <p:sp>
        <p:nvSpPr>
          <p:cNvPr id="3" name="Content Placeholder 2"/>
          <p:cNvSpPr>
            <a:spLocks noGrp="1"/>
          </p:cNvSpPr>
          <p:nvPr>
            <p:ph idx="1"/>
          </p:nvPr>
        </p:nvSpPr>
        <p:spPr>
          <a:xfrm>
            <a:off x="609600" y="1600202"/>
            <a:ext cx="10972800" cy="3660912"/>
          </a:xfrm>
        </p:spPr>
        <p:txBody>
          <a:bodyPr>
            <a:normAutofit/>
          </a:bodyPr>
          <a:lstStyle/>
          <a:p>
            <a:pPr marL="0" indent="0">
              <a:buNone/>
            </a:pPr>
            <a:r>
              <a:rPr lang="en-US" sz="3600" dirty="0">
                <a:effectLst/>
                <a:latin typeface="Times New Roman" panose="02020603050405020304" pitchFamily="18" charset="0"/>
                <a:ea typeface="Calibri" panose="020F0502020204030204" pitchFamily="34" charset="0"/>
              </a:rPr>
              <a:t>“For decades, “how to contain health care costs?” has been a major recurring theme for health economists and policymakers around the world. Therefore, credible empirical analyses of the right tail of health expenditure distributions harbor great potential to answer some of the most pressing policy questions.” (Karlsson et al., 2024)</a:t>
            </a:r>
            <a:endParaRPr sz="3600" dirty="0"/>
          </a:p>
        </p:txBody>
      </p:sp>
    </p:spTree>
    <p:extLst>
      <p:ext uri="{BB962C8B-B14F-4D97-AF65-F5344CB8AC3E}">
        <p14:creationId xmlns:p14="http://schemas.microsoft.com/office/powerpoint/2010/main" val="1904601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Franklin Gothic Demi" panose="020B0703020102020204" pitchFamily="34" charset="0"/>
              </a:rPr>
              <a:t>Introduction</a:t>
            </a:r>
          </a:p>
        </p:txBody>
      </p:sp>
      <p:sp>
        <p:nvSpPr>
          <p:cNvPr id="3" name="Content Placeholder 2"/>
          <p:cNvSpPr>
            <a:spLocks noGrp="1"/>
          </p:cNvSpPr>
          <p:nvPr>
            <p:ph idx="1"/>
          </p:nvPr>
        </p:nvSpPr>
        <p:spPr/>
        <p:txBody>
          <a:bodyPr/>
          <a:lstStyle/>
          <a:p>
            <a:pPr marL="0" indent="0">
              <a:buNone/>
            </a:pPr>
            <a:r>
              <a:rPr dirty="0"/>
              <a:t>Healthcare cost modeling matters:</a:t>
            </a:r>
          </a:p>
          <a:p>
            <a:pPr>
              <a:buFont typeface="Arial" panose="020B0604020202020204" pitchFamily="34" charset="0"/>
              <a:buChar char="•"/>
            </a:pPr>
            <a:r>
              <a:rPr dirty="0"/>
              <a:t>Policy </a:t>
            </a:r>
            <a:r>
              <a:rPr lang="en-US" dirty="0"/>
              <a:t>decisions regarding allocation and evaluation of interventions rely on accurate, reliable determinations about the costs of medical care and expenditures</a:t>
            </a:r>
            <a:endParaRPr dirty="0"/>
          </a:p>
          <a:p>
            <a:pPr>
              <a:buFont typeface="Arial" panose="020B0604020202020204" pitchFamily="34" charset="0"/>
              <a:buChar char="•"/>
            </a:pPr>
            <a:r>
              <a:rPr lang="en-US" dirty="0"/>
              <a:t>Ubiquitous modeling c</a:t>
            </a:r>
            <a:r>
              <a:rPr dirty="0"/>
              <a:t>hallenges: skewness, </a:t>
            </a:r>
            <a:r>
              <a:rPr lang="en-US" dirty="0"/>
              <a:t>mass at </a:t>
            </a:r>
            <a:r>
              <a:rPr dirty="0"/>
              <a:t>zero, heteroskedasticity</a:t>
            </a:r>
            <a:r>
              <a:rPr lang="en-US" dirty="0"/>
              <a:t> -&gt; </a:t>
            </a:r>
            <a:r>
              <a:rPr lang="en-US" dirty="0">
                <a:solidFill>
                  <a:srgbClr val="FF0000"/>
                </a:solidFill>
              </a:rPr>
              <a:t>no unified approach, rather a surplus of methods and recommendations</a:t>
            </a:r>
          </a:p>
          <a:p>
            <a:pPr>
              <a:buFont typeface="Arial" panose="020B0604020202020204" pitchFamily="34" charset="0"/>
              <a:buChar char="•"/>
            </a:pPr>
            <a:endParaRPr lang="en-US" dirty="0"/>
          </a:p>
          <a:p>
            <a:pPr>
              <a:buFont typeface="Arial" panose="020B0604020202020204" pitchFamily="34" charset="0"/>
              <a:buChar char="•"/>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anchor="b">
            <a:normAutofit fontScale="90000"/>
          </a:bodyPr>
          <a:lstStyle/>
          <a:p>
            <a:pPr>
              <a:lnSpc>
                <a:spcPct val="90000"/>
              </a:lnSpc>
            </a:pPr>
            <a:r>
              <a:rPr lang="en-US" sz="3800" dirty="0">
                <a:latin typeface="Franklin Gothic Demi" panose="020B0703020102020204" pitchFamily="34" charset="0"/>
              </a:rPr>
              <a:t>Healthcare Expenditure Modeling Challenges</a:t>
            </a:r>
          </a:p>
        </p:txBody>
      </p:sp>
      <p:sp>
        <p:nvSpPr>
          <p:cNvPr id="8"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anchor="t">
            <a:normAutofit/>
          </a:bodyPr>
          <a:lstStyle/>
          <a:p>
            <a:pPr marL="0" indent="0">
              <a:buNone/>
            </a:pPr>
            <a:r>
              <a:rPr lang="en-US" sz="2200" dirty="0"/>
              <a:t>Characteristics:</a:t>
            </a:r>
          </a:p>
          <a:p>
            <a:r>
              <a:rPr lang="en-US" sz="2200" b="1" dirty="0"/>
              <a:t>Mass at zero</a:t>
            </a:r>
          </a:p>
          <a:p>
            <a:r>
              <a:rPr lang="en-US" sz="2200" dirty="0">
                <a:solidFill>
                  <a:schemeClr val="bg1">
                    <a:lumMod val="65000"/>
                  </a:schemeClr>
                </a:solidFill>
              </a:rPr>
              <a:t>Heavy right-skew</a:t>
            </a:r>
          </a:p>
          <a:p>
            <a:r>
              <a:rPr lang="en-US" sz="2200" dirty="0">
                <a:solidFill>
                  <a:schemeClr val="bg1">
                    <a:lumMod val="65000"/>
                  </a:schemeClr>
                </a:solidFill>
              </a:rPr>
              <a:t>High variance</a:t>
            </a:r>
          </a:p>
        </p:txBody>
      </p:sp>
      <p:sp>
        <p:nvSpPr>
          <p:cNvPr id="4" name="Rectangle 3">
            <a:extLst>
              <a:ext uri="{FF2B5EF4-FFF2-40B4-BE49-F238E27FC236}">
                <a16:creationId xmlns:a16="http://schemas.microsoft.com/office/drawing/2014/main" id="{4EEE6D09-7FFE-4638-8EC4-A07DDF3F7E8B}"/>
              </a:ext>
            </a:extLst>
          </p:cNvPr>
          <p:cNvSpPr/>
          <p:nvPr/>
        </p:nvSpPr>
        <p:spPr>
          <a:xfrm>
            <a:off x="10018643" y="4505739"/>
            <a:ext cx="1542421" cy="490331"/>
          </a:xfrm>
          <a:prstGeom prst="rect">
            <a:avLst/>
          </a:prstGeom>
          <a:solidFill>
            <a:schemeClr val="bg1"/>
          </a:solidFill>
          <a:ln>
            <a:solidFill>
              <a:schemeClr val="bg1">
                <a:alpha val="99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073BF852-A251-4DA4-82A3-1F984C557AE4}"/>
              </a:ext>
            </a:extLst>
          </p:cNvPr>
          <p:cNvPicPr>
            <a:picLocks noChangeAspect="1"/>
          </p:cNvPicPr>
          <p:nvPr/>
        </p:nvPicPr>
        <p:blipFill>
          <a:blip r:embed="rId3"/>
          <a:stretch>
            <a:fillRect/>
          </a:stretch>
        </p:blipFill>
        <p:spPr>
          <a:xfrm>
            <a:off x="4240037" y="1136041"/>
            <a:ext cx="7771862" cy="4317702"/>
          </a:xfrm>
          <a:prstGeom prst="rect">
            <a:avLst/>
          </a:prstGeom>
          <a:ln w="12700">
            <a:solidFill>
              <a:schemeClr val="tx1"/>
            </a:solidFill>
          </a:ln>
        </p:spPr>
      </p:pic>
      <p:sp>
        <p:nvSpPr>
          <p:cNvPr id="11" name="TextBox 10">
            <a:extLst>
              <a:ext uri="{FF2B5EF4-FFF2-40B4-BE49-F238E27FC236}">
                <a16:creationId xmlns:a16="http://schemas.microsoft.com/office/drawing/2014/main" id="{18F17B3D-30E0-4170-AEC9-D75A18A3BDA9}"/>
              </a:ext>
            </a:extLst>
          </p:cNvPr>
          <p:cNvSpPr txBox="1"/>
          <p:nvPr/>
        </p:nvSpPr>
        <p:spPr>
          <a:xfrm>
            <a:off x="4211113" y="828264"/>
            <a:ext cx="6250057" cy="307777"/>
          </a:xfrm>
          <a:prstGeom prst="rect">
            <a:avLst/>
          </a:prstGeom>
          <a:noFill/>
        </p:spPr>
        <p:txBody>
          <a:bodyPr wrap="square" rtlCol="0">
            <a:spAutoFit/>
          </a:bodyPr>
          <a:lstStyle/>
          <a:p>
            <a:r>
              <a:rPr lang="en-US" sz="1400" i="1" dirty="0"/>
              <a:t>Figure 1: Empirical dataset, split between zeros and nonzeros. </a:t>
            </a:r>
          </a:p>
        </p:txBody>
      </p:sp>
      <p:sp>
        <p:nvSpPr>
          <p:cNvPr id="6" name="TextBox 5">
            <a:extLst>
              <a:ext uri="{FF2B5EF4-FFF2-40B4-BE49-F238E27FC236}">
                <a16:creationId xmlns:a16="http://schemas.microsoft.com/office/drawing/2014/main" id="{F2A88500-47B7-3368-67C2-0FBAE86E550C}"/>
              </a:ext>
            </a:extLst>
          </p:cNvPr>
          <p:cNvSpPr txBox="1"/>
          <p:nvPr/>
        </p:nvSpPr>
        <p:spPr>
          <a:xfrm>
            <a:off x="4211112" y="6405118"/>
            <a:ext cx="7559129" cy="369332"/>
          </a:xfrm>
          <a:prstGeom prst="rect">
            <a:avLst/>
          </a:prstGeom>
          <a:noFill/>
        </p:spPr>
        <p:txBody>
          <a:bodyPr wrap="square">
            <a:spAutoFit/>
          </a:bodyPr>
          <a:lstStyle/>
          <a:p>
            <a:r>
              <a:rPr lang="en-US" sz="1800" b="1" dirty="0"/>
              <a:t>Other sources: Mullahy (2024); </a:t>
            </a:r>
            <a:r>
              <a:rPr lang="en-US" sz="1800" b="1"/>
              <a:t>Holle et al. </a:t>
            </a:r>
            <a:r>
              <a:rPr lang="en-US" sz="1800" b="1" dirty="0"/>
              <a:t>(2021); </a:t>
            </a:r>
            <a:r>
              <a:rPr lang="en-US" sz="1800" b="1" err="1"/>
              <a:t>Wodchis</a:t>
            </a:r>
            <a:r>
              <a:rPr lang="en-US" sz="1800" b="1"/>
              <a:t> et al. </a:t>
            </a:r>
            <a:r>
              <a:rPr lang="en-US" sz="1800" b="1" dirty="0"/>
              <a:t>(2016), +</a:t>
            </a:r>
          </a:p>
        </p:txBody>
      </p:sp>
    </p:spTree>
    <p:extLst>
      <p:ext uri="{BB962C8B-B14F-4D97-AF65-F5344CB8AC3E}">
        <p14:creationId xmlns:p14="http://schemas.microsoft.com/office/powerpoint/2010/main" val="1056603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A70DCC-7581-A542-D404-FCDF9B67C12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591BD62-D4F4-9AE0-7C91-7A8F9884F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A5DCBB-226D-DC2A-81F0-701CCEF4EA9C}"/>
              </a:ext>
            </a:extLst>
          </p:cNvPr>
          <p:cNvSpPr>
            <a:spLocks noGrp="1"/>
          </p:cNvSpPr>
          <p:nvPr>
            <p:ph type="title"/>
          </p:nvPr>
        </p:nvSpPr>
        <p:spPr>
          <a:xfrm>
            <a:off x="630936" y="639520"/>
            <a:ext cx="3429000" cy="1719072"/>
          </a:xfrm>
        </p:spPr>
        <p:txBody>
          <a:bodyPr anchor="b">
            <a:normAutofit/>
          </a:bodyPr>
          <a:lstStyle/>
          <a:p>
            <a:pPr>
              <a:lnSpc>
                <a:spcPct val="90000"/>
              </a:lnSpc>
            </a:pPr>
            <a:r>
              <a:rPr lang="en-US" sz="3800" dirty="0">
                <a:latin typeface="Franklin Gothic Demi" panose="020B0703020102020204" pitchFamily="34" charset="0"/>
              </a:rPr>
              <a:t>Healthcare Expenditure Challenges</a:t>
            </a:r>
          </a:p>
        </p:txBody>
      </p:sp>
      <p:sp>
        <p:nvSpPr>
          <p:cNvPr id="8" name="sketch line">
            <a:extLst>
              <a:ext uri="{FF2B5EF4-FFF2-40B4-BE49-F238E27FC236}">
                <a16:creationId xmlns:a16="http://schemas.microsoft.com/office/drawing/2014/main" id="{0C8C5294-773F-28AC-99F7-8A258FC72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CE0ED12-CDD0-1826-35FB-CF60874E9575}"/>
              </a:ext>
            </a:extLst>
          </p:cNvPr>
          <p:cNvSpPr>
            <a:spLocks noGrp="1"/>
          </p:cNvSpPr>
          <p:nvPr>
            <p:ph idx="1"/>
          </p:nvPr>
        </p:nvSpPr>
        <p:spPr>
          <a:xfrm>
            <a:off x="630936" y="2807208"/>
            <a:ext cx="3429000" cy="2218546"/>
          </a:xfrm>
        </p:spPr>
        <p:txBody>
          <a:bodyPr anchor="t">
            <a:normAutofit/>
          </a:bodyPr>
          <a:lstStyle/>
          <a:p>
            <a:pPr marL="0" indent="0">
              <a:buNone/>
            </a:pPr>
            <a:r>
              <a:rPr lang="en-US" sz="2200" dirty="0"/>
              <a:t>Characteristics:</a:t>
            </a:r>
          </a:p>
          <a:p>
            <a:r>
              <a:rPr lang="en-US" sz="2200" dirty="0">
                <a:solidFill>
                  <a:schemeClr val="bg1">
                    <a:lumMod val="65000"/>
                  </a:schemeClr>
                </a:solidFill>
              </a:rPr>
              <a:t>Mass at zero</a:t>
            </a:r>
          </a:p>
          <a:p>
            <a:r>
              <a:rPr lang="en-US" sz="2200" b="1" dirty="0"/>
              <a:t>Heavy right-skew</a:t>
            </a:r>
          </a:p>
          <a:p>
            <a:r>
              <a:rPr lang="en-US" sz="2200" dirty="0">
                <a:solidFill>
                  <a:schemeClr val="bg1">
                    <a:lumMod val="65000"/>
                  </a:schemeClr>
                </a:solidFill>
              </a:rPr>
              <a:t>High variance</a:t>
            </a:r>
          </a:p>
        </p:txBody>
      </p:sp>
      <p:pic>
        <p:nvPicPr>
          <p:cNvPr id="5" name="Picture 4" descr="A graph with a line and a graph&#10;&#10;AI-generated content may be incorrect.">
            <a:extLst>
              <a:ext uri="{FF2B5EF4-FFF2-40B4-BE49-F238E27FC236}">
                <a16:creationId xmlns:a16="http://schemas.microsoft.com/office/drawing/2014/main" id="{BC69217E-B9A1-EC90-4A68-CA55DA72F814}"/>
              </a:ext>
            </a:extLst>
          </p:cNvPr>
          <p:cNvPicPr>
            <a:picLocks noChangeAspect="1"/>
          </p:cNvPicPr>
          <p:nvPr/>
        </p:nvPicPr>
        <p:blipFill>
          <a:blip r:embed="rId3"/>
          <a:stretch>
            <a:fillRect/>
          </a:stretch>
        </p:blipFill>
        <p:spPr>
          <a:xfrm>
            <a:off x="4253806" y="657808"/>
            <a:ext cx="7756520" cy="5318922"/>
          </a:xfrm>
          <a:prstGeom prst="rect">
            <a:avLst/>
          </a:prstGeom>
          <a:ln w="12700">
            <a:solidFill>
              <a:schemeClr val="tx1"/>
            </a:solidFill>
          </a:ln>
        </p:spPr>
      </p:pic>
      <p:sp>
        <p:nvSpPr>
          <p:cNvPr id="6" name="TextBox 5">
            <a:extLst>
              <a:ext uri="{FF2B5EF4-FFF2-40B4-BE49-F238E27FC236}">
                <a16:creationId xmlns:a16="http://schemas.microsoft.com/office/drawing/2014/main" id="{D6A28261-EF1D-EA35-C850-2C6475085D62}"/>
              </a:ext>
            </a:extLst>
          </p:cNvPr>
          <p:cNvSpPr txBox="1"/>
          <p:nvPr/>
        </p:nvSpPr>
        <p:spPr>
          <a:xfrm>
            <a:off x="291548" y="6075585"/>
            <a:ext cx="11718778" cy="861774"/>
          </a:xfrm>
          <a:prstGeom prst="rect">
            <a:avLst/>
          </a:prstGeom>
          <a:noFill/>
        </p:spPr>
        <p:txBody>
          <a:bodyPr wrap="square" rtlCol="0">
            <a:spAutoFit/>
          </a:bodyPr>
          <a:lstStyle/>
          <a:p>
            <a:r>
              <a:rPr lang="en-US" sz="1100" dirty="0"/>
              <a:t>Image from: </a:t>
            </a:r>
            <a:r>
              <a:rPr lang="en-US" sz="1100" dirty="0" err="1"/>
              <a:t>Osawa</a:t>
            </a:r>
            <a:r>
              <a:rPr lang="en-US" sz="1100" dirty="0"/>
              <a:t>, I., </a:t>
            </a:r>
            <a:r>
              <a:rPr lang="en-US" sz="1100" dirty="0" err="1"/>
              <a:t>Goto</a:t>
            </a:r>
            <a:r>
              <a:rPr lang="en-US" sz="1100" dirty="0"/>
              <a:t>, T., Yamamoto, Y., &amp; </a:t>
            </a:r>
            <a:r>
              <a:rPr lang="en-US" sz="1100" dirty="0" err="1"/>
              <a:t>Tsugawa</a:t>
            </a:r>
            <a:r>
              <a:rPr lang="en-US" sz="1100" dirty="0"/>
              <a:t>, Y. (2020). Machine-learning-based prediction models for high-need high-cost patients using nationwide clinical and claims data. </a:t>
            </a:r>
            <a:r>
              <a:rPr lang="en-US" sz="1100" i="1" dirty="0"/>
              <a:t>NPJ digital medicine</a:t>
            </a:r>
            <a:r>
              <a:rPr lang="en-US" sz="1100" dirty="0"/>
              <a:t>,</a:t>
            </a:r>
            <a:r>
              <a:rPr lang="en-US" sz="1100" i="1" dirty="0"/>
              <a:t> 3(1)</a:t>
            </a:r>
            <a:r>
              <a:rPr lang="en-US" sz="1100" dirty="0"/>
              <a:t>, 148. </a:t>
            </a:r>
            <a:r>
              <a:rPr lang="en-US" sz="1100" dirty="0">
                <a:hlinkClick r:id="rId4"/>
              </a:rPr>
              <a:t>https://doi.org/10.1038/s41746-020-00354-8</a:t>
            </a:r>
            <a:r>
              <a:rPr lang="en-US" sz="1100" dirty="0"/>
              <a:t>. </a:t>
            </a:r>
          </a:p>
          <a:p>
            <a:r>
              <a:rPr lang="en-US" sz="1400" b="1" dirty="0"/>
              <a:t>Other sources consistent with 5%/50% estimates: Mullahy (2024); </a:t>
            </a:r>
            <a:r>
              <a:rPr lang="en-US" sz="1400" b="1"/>
              <a:t>Holle et al. </a:t>
            </a:r>
            <a:r>
              <a:rPr lang="en-US" sz="1400" b="1" dirty="0"/>
              <a:t>(2021); </a:t>
            </a:r>
            <a:r>
              <a:rPr lang="en-US" sz="1400" b="1" err="1"/>
              <a:t>Wodchis</a:t>
            </a:r>
            <a:r>
              <a:rPr lang="en-US" sz="1400" b="1"/>
              <a:t> et al. </a:t>
            </a:r>
            <a:r>
              <a:rPr lang="en-US" sz="1400" b="1" dirty="0"/>
              <a:t>(2016): One-third of high-cost users remained in this category for 2+ years following</a:t>
            </a:r>
          </a:p>
        </p:txBody>
      </p:sp>
    </p:spTree>
    <p:extLst>
      <p:ext uri="{BB962C8B-B14F-4D97-AF65-F5344CB8AC3E}">
        <p14:creationId xmlns:p14="http://schemas.microsoft.com/office/powerpoint/2010/main" val="1915304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A70DCC-7581-A542-D404-FCDF9B67C12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591BD62-D4F4-9AE0-7C91-7A8F9884F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A5DCBB-226D-DC2A-81F0-701CCEF4EA9C}"/>
              </a:ext>
            </a:extLst>
          </p:cNvPr>
          <p:cNvSpPr>
            <a:spLocks noGrp="1"/>
          </p:cNvSpPr>
          <p:nvPr>
            <p:ph type="title"/>
          </p:nvPr>
        </p:nvSpPr>
        <p:spPr>
          <a:xfrm>
            <a:off x="630936" y="639520"/>
            <a:ext cx="3429000" cy="1719072"/>
          </a:xfrm>
        </p:spPr>
        <p:txBody>
          <a:bodyPr anchor="b">
            <a:normAutofit fontScale="90000"/>
          </a:bodyPr>
          <a:lstStyle/>
          <a:p>
            <a:pPr>
              <a:lnSpc>
                <a:spcPct val="90000"/>
              </a:lnSpc>
            </a:pPr>
            <a:r>
              <a:rPr lang="en-US" sz="3800" dirty="0">
                <a:latin typeface="Franklin Gothic Demi" panose="020B0703020102020204" pitchFamily="34" charset="0"/>
              </a:rPr>
              <a:t>Healthcare Expenditure Modeling Challenges</a:t>
            </a:r>
          </a:p>
        </p:txBody>
      </p:sp>
      <p:sp>
        <p:nvSpPr>
          <p:cNvPr id="8" name="sketch line">
            <a:extLst>
              <a:ext uri="{FF2B5EF4-FFF2-40B4-BE49-F238E27FC236}">
                <a16:creationId xmlns:a16="http://schemas.microsoft.com/office/drawing/2014/main" id="{0C8C5294-773F-28AC-99F7-8A258FC72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CE0ED12-CDD0-1826-35FB-CF60874E9575}"/>
              </a:ext>
            </a:extLst>
          </p:cNvPr>
          <p:cNvSpPr>
            <a:spLocks noGrp="1"/>
          </p:cNvSpPr>
          <p:nvPr>
            <p:ph idx="1"/>
          </p:nvPr>
        </p:nvSpPr>
        <p:spPr>
          <a:xfrm>
            <a:off x="630936" y="2807208"/>
            <a:ext cx="3429000" cy="2218546"/>
          </a:xfrm>
        </p:spPr>
        <p:txBody>
          <a:bodyPr anchor="t">
            <a:normAutofit/>
          </a:bodyPr>
          <a:lstStyle/>
          <a:p>
            <a:pPr marL="0" indent="0">
              <a:buNone/>
            </a:pPr>
            <a:r>
              <a:rPr lang="en-US" sz="2200" dirty="0"/>
              <a:t>Characteristics:</a:t>
            </a:r>
          </a:p>
          <a:p>
            <a:r>
              <a:rPr lang="en-US" sz="2200" dirty="0">
                <a:solidFill>
                  <a:schemeClr val="bg1">
                    <a:lumMod val="65000"/>
                  </a:schemeClr>
                </a:solidFill>
              </a:rPr>
              <a:t>Mass at zero</a:t>
            </a:r>
          </a:p>
          <a:p>
            <a:r>
              <a:rPr lang="en-US" sz="2200" b="1" dirty="0"/>
              <a:t>Heavy right-skew</a:t>
            </a:r>
          </a:p>
          <a:p>
            <a:r>
              <a:rPr lang="en-US" sz="2200" dirty="0">
                <a:solidFill>
                  <a:schemeClr val="bg1">
                    <a:lumMod val="65000"/>
                  </a:schemeClr>
                </a:solidFill>
              </a:rPr>
              <a:t>High variance</a:t>
            </a:r>
          </a:p>
        </p:txBody>
      </p:sp>
      <p:pic>
        <p:nvPicPr>
          <p:cNvPr id="4" name="Picture 3" descr="A graph of a number of patients&#10;&#10;AI-generated content may be incorrect.">
            <a:extLst>
              <a:ext uri="{FF2B5EF4-FFF2-40B4-BE49-F238E27FC236}">
                <a16:creationId xmlns:a16="http://schemas.microsoft.com/office/drawing/2014/main" id="{C731D0BB-A423-7013-B8A8-7F2F5C60D87F}"/>
              </a:ext>
            </a:extLst>
          </p:cNvPr>
          <p:cNvPicPr>
            <a:picLocks noChangeAspect="1"/>
          </p:cNvPicPr>
          <p:nvPr/>
        </p:nvPicPr>
        <p:blipFill>
          <a:blip r:embed="rId3"/>
          <a:stretch>
            <a:fillRect/>
          </a:stretch>
        </p:blipFill>
        <p:spPr>
          <a:xfrm>
            <a:off x="6513918" y="3429000"/>
            <a:ext cx="5198926" cy="3360158"/>
          </a:xfrm>
          <a:prstGeom prst="rect">
            <a:avLst/>
          </a:prstGeom>
        </p:spPr>
      </p:pic>
      <p:sp>
        <p:nvSpPr>
          <p:cNvPr id="5" name="TextBox 4">
            <a:extLst>
              <a:ext uri="{FF2B5EF4-FFF2-40B4-BE49-F238E27FC236}">
                <a16:creationId xmlns:a16="http://schemas.microsoft.com/office/drawing/2014/main" id="{4A248289-9758-183F-73D1-1630D8CF1A1C}"/>
              </a:ext>
            </a:extLst>
          </p:cNvPr>
          <p:cNvSpPr txBox="1"/>
          <p:nvPr/>
        </p:nvSpPr>
        <p:spPr>
          <a:xfrm>
            <a:off x="4590184" y="3429000"/>
            <a:ext cx="2175798" cy="523220"/>
          </a:xfrm>
          <a:prstGeom prst="rect">
            <a:avLst/>
          </a:prstGeom>
          <a:noFill/>
        </p:spPr>
        <p:txBody>
          <a:bodyPr wrap="square" rtlCol="0">
            <a:spAutoFit/>
          </a:bodyPr>
          <a:lstStyle/>
          <a:p>
            <a:r>
              <a:rPr lang="en-US" sz="1400" i="1" dirty="0"/>
              <a:t>Figure 3: Truncated Histogram</a:t>
            </a:r>
          </a:p>
        </p:txBody>
      </p:sp>
      <p:pic>
        <p:nvPicPr>
          <p:cNvPr id="11" name="Picture 10">
            <a:extLst>
              <a:ext uri="{FF2B5EF4-FFF2-40B4-BE49-F238E27FC236}">
                <a16:creationId xmlns:a16="http://schemas.microsoft.com/office/drawing/2014/main" id="{0EC6D2E3-6D5F-4D95-A2B0-F6FF6B92EDB7}"/>
              </a:ext>
            </a:extLst>
          </p:cNvPr>
          <p:cNvPicPr>
            <a:picLocks noChangeAspect="1"/>
          </p:cNvPicPr>
          <p:nvPr/>
        </p:nvPicPr>
        <p:blipFill>
          <a:blip r:embed="rId4"/>
          <a:stretch>
            <a:fillRect/>
          </a:stretch>
        </p:blipFill>
        <p:spPr>
          <a:xfrm>
            <a:off x="6513918" y="201967"/>
            <a:ext cx="5072776" cy="3227033"/>
          </a:xfrm>
          <a:prstGeom prst="rect">
            <a:avLst/>
          </a:prstGeom>
        </p:spPr>
      </p:pic>
      <p:sp>
        <p:nvSpPr>
          <p:cNvPr id="12" name="TextBox 11">
            <a:extLst>
              <a:ext uri="{FF2B5EF4-FFF2-40B4-BE49-F238E27FC236}">
                <a16:creationId xmlns:a16="http://schemas.microsoft.com/office/drawing/2014/main" id="{D507753B-1838-40D9-941B-F7335E22F8A4}"/>
              </a:ext>
            </a:extLst>
          </p:cNvPr>
          <p:cNvSpPr txBox="1"/>
          <p:nvPr/>
        </p:nvSpPr>
        <p:spPr>
          <a:xfrm>
            <a:off x="4690872" y="201967"/>
            <a:ext cx="2175798" cy="307777"/>
          </a:xfrm>
          <a:prstGeom prst="rect">
            <a:avLst/>
          </a:prstGeom>
          <a:noFill/>
        </p:spPr>
        <p:txBody>
          <a:bodyPr wrap="square" rtlCol="0">
            <a:spAutoFit/>
          </a:bodyPr>
          <a:lstStyle/>
          <a:p>
            <a:r>
              <a:rPr lang="en-US" sz="1400" i="1" dirty="0"/>
              <a:t>Figure 2: Full Histogram</a:t>
            </a:r>
          </a:p>
        </p:txBody>
      </p:sp>
    </p:spTree>
    <p:extLst>
      <p:ext uri="{BB962C8B-B14F-4D97-AF65-F5344CB8AC3E}">
        <p14:creationId xmlns:p14="http://schemas.microsoft.com/office/powerpoint/2010/main" val="3991017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Franklin Gothic Demi" panose="020B0703020102020204" pitchFamily="34" charset="0"/>
              </a:rPr>
              <a:t>A Note on Extreme Values</a:t>
            </a:r>
            <a:endParaRPr dirty="0">
              <a:latin typeface="Franklin Gothic Demi" panose="020B0703020102020204" pitchFamily="34" charset="0"/>
            </a:endParaRPr>
          </a:p>
        </p:txBody>
      </p:sp>
      <p:sp>
        <p:nvSpPr>
          <p:cNvPr id="3" name="Content Placeholder 2"/>
          <p:cNvSpPr>
            <a:spLocks noGrp="1"/>
          </p:cNvSpPr>
          <p:nvPr>
            <p:ph idx="1"/>
          </p:nvPr>
        </p:nvSpPr>
        <p:spPr>
          <a:xfrm>
            <a:off x="609600" y="1600202"/>
            <a:ext cx="10972800" cy="4615068"/>
          </a:xfrm>
        </p:spPr>
        <p:txBody>
          <a:bodyPr>
            <a:normAutofit/>
          </a:bodyPr>
          <a:lstStyle/>
          <a:p>
            <a:r>
              <a:rPr lang="en-US" sz="3600" dirty="0"/>
              <a:t>“Neither classical outliers nor measurement errors”; represent real users</a:t>
            </a:r>
          </a:p>
          <a:p>
            <a:r>
              <a:rPr lang="en-US" sz="3600" dirty="0"/>
              <a:t>Simple (though common) methods to handle (such as removal/trimming) will affect the reliability of the inferences drawn in the study</a:t>
            </a:r>
          </a:p>
        </p:txBody>
      </p:sp>
    </p:spTree>
    <p:extLst>
      <p:ext uri="{BB962C8B-B14F-4D97-AF65-F5344CB8AC3E}">
        <p14:creationId xmlns:p14="http://schemas.microsoft.com/office/powerpoint/2010/main" val="2898447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A70DCC-7581-A542-D404-FCDF9B67C12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591BD62-D4F4-9AE0-7C91-7A8F9884F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A5DCBB-226D-DC2A-81F0-701CCEF4EA9C}"/>
              </a:ext>
            </a:extLst>
          </p:cNvPr>
          <p:cNvSpPr>
            <a:spLocks noGrp="1"/>
          </p:cNvSpPr>
          <p:nvPr>
            <p:ph type="title"/>
          </p:nvPr>
        </p:nvSpPr>
        <p:spPr>
          <a:xfrm>
            <a:off x="630936" y="639520"/>
            <a:ext cx="3429000" cy="1719072"/>
          </a:xfrm>
        </p:spPr>
        <p:txBody>
          <a:bodyPr anchor="b">
            <a:normAutofit/>
          </a:bodyPr>
          <a:lstStyle/>
          <a:p>
            <a:pPr>
              <a:lnSpc>
                <a:spcPct val="90000"/>
              </a:lnSpc>
            </a:pPr>
            <a:r>
              <a:rPr lang="en-US" sz="3800" dirty="0">
                <a:latin typeface="Franklin Gothic Demi" panose="020B0703020102020204" pitchFamily="34" charset="0"/>
              </a:rPr>
              <a:t>Healthcare Expenditure Challenges</a:t>
            </a:r>
          </a:p>
        </p:txBody>
      </p:sp>
      <p:sp>
        <p:nvSpPr>
          <p:cNvPr id="8" name="sketch line">
            <a:extLst>
              <a:ext uri="{FF2B5EF4-FFF2-40B4-BE49-F238E27FC236}">
                <a16:creationId xmlns:a16="http://schemas.microsoft.com/office/drawing/2014/main" id="{0C8C5294-773F-28AC-99F7-8A258FC72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CE0ED12-CDD0-1826-35FB-CF60874E9575}"/>
              </a:ext>
            </a:extLst>
          </p:cNvPr>
          <p:cNvSpPr>
            <a:spLocks noGrp="1"/>
          </p:cNvSpPr>
          <p:nvPr>
            <p:ph idx="1"/>
          </p:nvPr>
        </p:nvSpPr>
        <p:spPr>
          <a:xfrm>
            <a:off x="630936" y="2807208"/>
            <a:ext cx="3429000" cy="2218546"/>
          </a:xfrm>
        </p:spPr>
        <p:txBody>
          <a:bodyPr anchor="t">
            <a:normAutofit lnSpcReduction="10000"/>
          </a:bodyPr>
          <a:lstStyle/>
          <a:p>
            <a:pPr marL="0" indent="0">
              <a:buNone/>
            </a:pPr>
            <a:r>
              <a:rPr lang="en-US" sz="2200" dirty="0"/>
              <a:t>Characteristics:</a:t>
            </a:r>
          </a:p>
          <a:p>
            <a:r>
              <a:rPr lang="en-US" sz="2200" dirty="0">
                <a:solidFill>
                  <a:schemeClr val="bg1">
                    <a:lumMod val="65000"/>
                  </a:schemeClr>
                </a:solidFill>
              </a:rPr>
              <a:t>Mass at zero</a:t>
            </a:r>
          </a:p>
          <a:p>
            <a:r>
              <a:rPr lang="en-US" sz="2200" dirty="0">
                <a:solidFill>
                  <a:schemeClr val="bg1">
                    <a:lumMod val="65000"/>
                  </a:schemeClr>
                </a:solidFill>
              </a:rPr>
              <a:t>Heavy right-skew</a:t>
            </a:r>
          </a:p>
          <a:p>
            <a:r>
              <a:rPr lang="en-US" sz="2200" b="1" dirty="0"/>
              <a:t>High, Non-constant Variance (Heteroskedasticity)</a:t>
            </a:r>
          </a:p>
        </p:txBody>
      </p:sp>
      <p:sp>
        <p:nvSpPr>
          <p:cNvPr id="9" name="TextBox 8">
            <a:extLst>
              <a:ext uri="{FF2B5EF4-FFF2-40B4-BE49-F238E27FC236}">
                <a16:creationId xmlns:a16="http://schemas.microsoft.com/office/drawing/2014/main" id="{1698A83F-C2E4-4DF4-A5BF-9CF970E9564B}"/>
              </a:ext>
            </a:extLst>
          </p:cNvPr>
          <p:cNvSpPr txBox="1"/>
          <p:nvPr/>
        </p:nvSpPr>
        <p:spPr>
          <a:xfrm>
            <a:off x="4995828" y="1486324"/>
            <a:ext cx="6883288" cy="3539430"/>
          </a:xfrm>
          <a:prstGeom prst="rect">
            <a:avLst/>
          </a:prstGeom>
          <a:noFill/>
        </p:spPr>
        <p:txBody>
          <a:bodyPr wrap="square" rtlCol="0">
            <a:spAutoFit/>
          </a:bodyPr>
          <a:lstStyle/>
          <a:p>
            <a:pPr marL="342900" indent="-342900">
              <a:buFont typeface="Arial" panose="020B0604020202020204" pitchFamily="34" charset="0"/>
              <a:buChar char="•"/>
            </a:pPr>
            <a:r>
              <a:rPr lang="en-US" sz="2800" dirty="0"/>
              <a:t>HCE data often exhibit variability that increases as the mean expense increases</a:t>
            </a:r>
          </a:p>
          <a:p>
            <a:pPr marL="342900" indent="-342900">
              <a:buFont typeface="Arial" panose="020B0604020202020204" pitchFamily="34" charset="0"/>
              <a:buChar char="•"/>
            </a:pPr>
            <a:endParaRPr lang="en-US" sz="2800" dirty="0"/>
          </a:p>
          <a:p>
            <a:pPr marL="342900" indent="-342900">
              <a:buFont typeface="Arial" panose="020B0604020202020204" pitchFamily="34" charset="0"/>
              <a:buChar char="•"/>
            </a:pPr>
            <a:r>
              <a:rPr lang="en-US" sz="2800" b="1" dirty="0"/>
              <a:t>The use of GLMs </a:t>
            </a:r>
            <a:r>
              <a:rPr lang="en-US" sz="2800" dirty="0"/>
              <a:t>allows researcher to explicitly model the heteroskedasticity </a:t>
            </a:r>
          </a:p>
          <a:p>
            <a:pPr marL="342900" indent="-342900">
              <a:buFont typeface="Arial" panose="020B0604020202020204" pitchFamily="34" charset="0"/>
              <a:buChar char="•"/>
            </a:pPr>
            <a:endParaRPr lang="en-US" sz="2800" dirty="0"/>
          </a:p>
          <a:p>
            <a:pPr marL="342900" indent="-342900">
              <a:buFont typeface="Arial" panose="020B0604020202020204" pitchFamily="34" charset="0"/>
              <a:buChar char="•"/>
            </a:pPr>
            <a:r>
              <a:rPr lang="en-US" sz="2800" dirty="0"/>
              <a:t>This study will use GLM to address but issue not included in design grid / conditions </a:t>
            </a:r>
          </a:p>
        </p:txBody>
      </p:sp>
    </p:spTree>
    <p:extLst>
      <p:ext uri="{BB962C8B-B14F-4D97-AF65-F5344CB8AC3E}">
        <p14:creationId xmlns:p14="http://schemas.microsoft.com/office/powerpoint/2010/main" val="1914201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0D720-C88B-8B32-F7DB-CD96456E5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DF1290-DECC-9FA8-26A0-00E1E0C0CA08}"/>
              </a:ext>
            </a:extLst>
          </p:cNvPr>
          <p:cNvSpPr>
            <a:spLocks noGrp="1"/>
          </p:cNvSpPr>
          <p:nvPr>
            <p:ph type="title"/>
          </p:nvPr>
        </p:nvSpPr>
        <p:spPr/>
        <p:txBody>
          <a:bodyPr/>
          <a:lstStyle/>
          <a:p>
            <a:pPr algn="l"/>
            <a:r>
              <a:rPr lang="en-US" dirty="0">
                <a:latin typeface="Franklin Gothic Demi" panose="020B0703020102020204" pitchFamily="34" charset="0"/>
              </a:rPr>
              <a:t>Modeling</a:t>
            </a:r>
          </a:p>
        </p:txBody>
      </p:sp>
      <p:sp>
        <p:nvSpPr>
          <p:cNvPr id="4" name="Content Placeholder 2">
            <a:extLst>
              <a:ext uri="{FF2B5EF4-FFF2-40B4-BE49-F238E27FC236}">
                <a16:creationId xmlns:a16="http://schemas.microsoft.com/office/drawing/2014/main" id="{00D6803C-DDF9-4D73-AE37-37E6F8EFCF70}"/>
              </a:ext>
            </a:extLst>
          </p:cNvPr>
          <p:cNvSpPr txBox="1">
            <a:spLocks/>
          </p:cNvSpPr>
          <p:nvPr/>
        </p:nvSpPr>
        <p:spPr>
          <a:xfrm>
            <a:off x="380999" y="1407913"/>
            <a:ext cx="10972800" cy="4858415"/>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dirty="0"/>
              <a:t>OLS assumptions violated:</a:t>
            </a:r>
          </a:p>
          <a:p>
            <a:pPr>
              <a:buFont typeface="Arial" panose="020B0604020202020204" pitchFamily="34" charset="0"/>
              <a:buChar char="•"/>
            </a:pPr>
            <a:r>
              <a:rPr lang="en-US" dirty="0"/>
              <a:t>Normality</a:t>
            </a:r>
          </a:p>
          <a:p>
            <a:pPr>
              <a:buFont typeface="Arial" panose="020B0604020202020204" pitchFamily="34" charset="0"/>
              <a:buChar char="•"/>
            </a:pPr>
            <a:r>
              <a:rPr lang="en-US" dirty="0"/>
              <a:t>Homoscedasticity</a:t>
            </a:r>
          </a:p>
          <a:p>
            <a:pPr>
              <a:buFont typeface="Arial" panose="020B0604020202020204" pitchFamily="34" charset="0"/>
              <a:buChar char="•"/>
            </a:pPr>
            <a:r>
              <a:rPr lang="en-US" dirty="0"/>
              <a:t>Linearity</a:t>
            </a:r>
          </a:p>
          <a:p>
            <a:pPr>
              <a:buFont typeface="Arial" panose="020B0604020202020204" pitchFamily="34" charset="0"/>
              <a:buChar char="•"/>
            </a:pPr>
            <a:endParaRPr lang="en-US" dirty="0"/>
          </a:p>
          <a:p>
            <a:pPr marL="0" indent="0" algn="ctr">
              <a:buNone/>
            </a:pPr>
            <a:r>
              <a:rPr lang="en-US" sz="3200" dirty="0"/>
              <a:t>“</a:t>
            </a:r>
            <a:r>
              <a:rPr lang="en-US" sz="3200" i="1" dirty="0"/>
              <a:t>OLS for ln(y) is one of the most prevalently used (and most prevalently misused) models for analyzing [healthcare expenditure] data</a:t>
            </a:r>
            <a:r>
              <a:rPr lang="en-US" sz="3200" dirty="0"/>
              <a:t>.” (Manning et al., 2005)</a:t>
            </a:r>
          </a:p>
          <a:p>
            <a:pPr>
              <a:buFont typeface="Arial" panose="020B0604020202020204" pitchFamily="34" charset="0"/>
              <a:buChar char="•"/>
            </a:pPr>
            <a:endParaRPr lang="en-US" dirty="0"/>
          </a:p>
          <a:p>
            <a:pPr>
              <a:buFont typeface="Arial" panose="020B0604020202020204" pitchFamily="34" charset="0"/>
              <a:buChar char="•"/>
            </a:pPr>
            <a:endParaRPr lang="en-US" dirty="0"/>
          </a:p>
          <a:p>
            <a:pPr marL="0" indent="0">
              <a:buNone/>
            </a:pPr>
            <a:r>
              <a:rPr lang="en-US" b="1" dirty="0"/>
              <a:t>Best practice: two-part model (Part 2: Gamma distribution, log link)</a:t>
            </a:r>
          </a:p>
        </p:txBody>
      </p:sp>
    </p:spTree>
    <p:extLst>
      <p:ext uri="{BB962C8B-B14F-4D97-AF65-F5344CB8AC3E}">
        <p14:creationId xmlns:p14="http://schemas.microsoft.com/office/powerpoint/2010/main" val="1971106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0C81A-A5FD-0855-BB11-20F55DD6DA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6F2CFE-E428-1254-86A7-11638D663DCB}"/>
              </a:ext>
            </a:extLst>
          </p:cNvPr>
          <p:cNvSpPr>
            <a:spLocks noGrp="1"/>
          </p:cNvSpPr>
          <p:nvPr>
            <p:ph type="title"/>
          </p:nvPr>
        </p:nvSpPr>
        <p:spPr/>
        <p:txBody>
          <a:bodyPr/>
          <a:lstStyle/>
          <a:p>
            <a:pPr algn="l"/>
            <a:r>
              <a:rPr lang="en-US" dirty="0">
                <a:latin typeface="Franklin Gothic Demi" panose="020B0703020102020204" pitchFamily="34" charset="0"/>
              </a:rPr>
              <a:t>The Current State: Dealing with Skew</a:t>
            </a:r>
          </a:p>
        </p:txBody>
      </p:sp>
      <p:graphicFrame>
        <p:nvGraphicFramePr>
          <p:cNvPr id="6" name="Content Placeholder 5">
            <a:extLst>
              <a:ext uri="{FF2B5EF4-FFF2-40B4-BE49-F238E27FC236}">
                <a16:creationId xmlns:a16="http://schemas.microsoft.com/office/drawing/2014/main" id="{DAE36BB2-EB3B-9167-64C7-0B4AB9F282AC}"/>
              </a:ext>
            </a:extLst>
          </p:cNvPr>
          <p:cNvGraphicFramePr>
            <a:graphicFrameLocks noGrp="1"/>
          </p:cNvGraphicFramePr>
          <p:nvPr>
            <p:ph idx="1"/>
            <p:extLst>
              <p:ext uri="{D42A27DB-BD31-4B8C-83A1-F6EECF244321}">
                <p14:modId xmlns:p14="http://schemas.microsoft.com/office/powerpoint/2010/main" val="1705861118"/>
              </p:ext>
            </p:extLst>
          </p:nvPr>
        </p:nvGraphicFramePr>
        <p:xfrm>
          <a:off x="609600" y="1600200"/>
          <a:ext cx="10972800" cy="4752473"/>
        </p:xfrm>
        <a:graphic>
          <a:graphicData uri="http://schemas.openxmlformats.org/drawingml/2006/table">
            <a:tbl>
              <a:tblPr firstRow="1" bandRow="1">
                <a:tableStyleId>{5C22544A-7EE6-4342-B048-85BDC9FD1C3A}</a:tableStyleId>
              </a:tblPr>
              <a:tblGrid>
                <a:gridCol w="3644348">
                  <a:extLst>
                    <a:ext uri="{9D8B030D-6E8A-4147-A177-3AD203B41FA5}">
                      <a16:colId xmlns:a16="http://schemas.microsoft.com/office/drawing/2014/main" val="1925536159"/>
                    </a:ext>
                  </a:extLst>
                </a:gridCol>
                <a:gridCol w="7328452">
                  <a:extLst>
                    <a:ext uri="{9D8B030D-6E8A-4147-A177-3AD203B41FA5}">
                      <a16:colId xmlns:a16="http://schemas.microsoft.com/office/drawing/2014/main" val="4218923745"/>
                    </a:ext>
                  </a:extLst>
                </a:gridCol>
              </a:tblGrid>
              <a:tr h="418493">
                <a:tc>
                  <a:txBody>
                    <a:bodyPr/>
                    <a:lstStyle/>
                    <a:p>
                      <a:r>
                        <a:rPr lang="en-US" dirty="0"/>
                        <a:t>Issue</a:t>
                      </a:r>
                    </a:p>
                  </a:txBody>
                  <a:tcPr/>
                </a:tc>
                <a:tc>
                  <a:txBody>
                    <a:bodyPr/>
                    <a:lstStyle/>
                    <a:p>
                      <a:r>
                        <a:rPr lang="en-US" dirty="0"/>
                        <a:t>Citation</a:t>
                      </a:r>
                    </a:p>
                  </a:txBody>
                  <a:tcPr/>
                </a:tc>
                <a:extLst>
                  <a:ext uri="{0D108BD9-81ED-4DB2-BD59-A6C34878D82A}">
                    <a16:rowId xmlns:a16="http://schemas.microsoft.com/office/drawing/2014/main" val="2440013507"/>
                  </a:ext>
                </a:extLst>
              </a:tr>
              <a:tr h="1031900">
                <a:tc>
                  <a:txBody>
                    <a:bodyPr/>
                    <a:lstStyle/>
                    <a:p>
                      <a:r>
                        <a:rPr lang="en-US" b="1" dirty="0"/>
                        <a:t>Single Best Approach May Not Exist</a:t>
                      </a:r>
                    </a:p>
                  </a:txBody>
                  <a:tcPr/>
                </a:tc>
                <a:tc>
                  <a:txBody>
                    <a:bodyPr/>
                    <a:lstStyle/>
                    <a:p>
                      <a:r>
                        <a:rPr lang="en-US" dirty="0"/>
                        <a:t>Bhattarai, 2013; Buntin &amp; </a:t>
                      </a:r>
                      <a:r>
                        <a:rPr lang="en-US" dirty="0" err="1"/>
                        <a:t>Zaslavsky</a:t>
                      </a:r>
                      <a:r>
                        <a:rPr lang="en-US" dirty="0"/>
                        <a:t>, 2004; </a:t>
                      </a:r>
                      <a:r>
                        <a:rPr lang="en-US"/>
                        <a:t>Leone et al., </a:t>
                      </a:r>
                      <a:r>
                        <a:rPr lang="en-US" dirty="0"/>
                        <a:t>2019; </a:t>
                      </a:r>
                      <a:r>
                        <a:rPr lang="en-US"/>
                        <a:t>Malehi et al., </a:t>
                      </a:r>
                      <a:r>
                        <a:rPr lang="en-US" dirty="0"/>
                        <a:t>2015; </a:t>
                      </a:r>
                      <a:r>
                        <a:rPr lang="en-US"/>
                        <a:t>Manning et al., </a:t>
                      </a:r>
                      <a:r>
                        <a:rPr lang="en-US" dirty="0"/>
                        <a:t>2005; </a:t>
                      </a:r>
                      <a:r>
                        <a:rPr lang="en-US"/>
                        <a:t>Manning et al., </a:t>
                      </a:r>
                      <a:r>
                        <a:rPr lang="en-US" dirty="0"/>
                        <a:t>2009; Mullahy, 2009; </a:t>
                      </a:r>
                      <a:r>
                        <a:rPr lang="en-US"/>
                        <a:t>Sullivan et al., </a:t>
                      </a:r>
                      <a:r>
                        <a:rPr lang="en-US" dirty="0"/>
                        <a:t>2021</a:t>
                      </a:r>
                    </a:p>
                  </a:txBody>
                  <a:tcPr/>
                </a:tc>
                <a:extLst>
                  <a:ext uri="{0D108BD9-81ED-4DB2-BD59-A6C34878D82A}">
                    <a16:rowId xmlns:a16="http://schemas.microsoft.com/office/drawing/2014/main" val="245028663"/>
                  </a:ext>
                </a:extLst>
              </a:tr>
              <a:tr h="1651040">
                <a:tc>
                  <a:txBody>
                    <a:bodyPr/>
                    <a:lstStyle/>
                    <a:p>
                      <a:r>
                        <a:rPr lang="en-US" b="1" dirty="0"/>
                        <a:t>Lack of Consistency in Studies, Documentation Gaps</a:t>
                      </a:r>
                    </a:p>
                  </a:txBody>
                  <a:tcPr/>
                </a:tc>
                <a:tc>
                  <a:txBody>
                    <a:bodyPr/>
                    <a:lstStyle/>
                    <a:p>
                      <a:r>
                        <a:rPr lang="en-US" dirty="0"/>
                        <a:t>Diehr, 1999 (many possible explanations for discrepancies); </a:t>
                      </a:r>
                      <a:r>
                        <a:rPr lang="en-US"/>
                        <a:t>Leone et al., </a:t>
                      </a:r>
                      <a:r>
                        <a:rPr lang="en-US" dirty="0"/>
                        <a:t>2019 (little … demonstrating efficacy/trade-offs associated with approaches, inconsistent reporting); </a:t>
                      </a:r>
                      <a:r>
                        <a:rPr lang="en-US"/>
                        <a:t>Mihaylova et al., </a:t>
                      </a:r>
                      <a:r>
                        <a:rPr lang="en-US" dirty="0"/>
                        <a:t>2011; </a:t>
                      </a:r>
                      <a:r>
                        <a:rPr lang="en-US"/>
                        <a:t>Sullivan et al., </a:t>
                      </a:r>
                      <a:r>
                        <a:rPr lang="en-US" dirty="0"/>
                        <a:t>2021 (surveyed nearly 3000 journals, 2007-2018, found ‘surprisingly diverse array’, ‘strikingly deficient’)</a:t>
                      </a:r>
                    </a:p>
                  </a:txBody>
                  <a:tcPr/>
                </a:tc>
                <a:extLst>
                  <a:ext uri="{0D108BD9-81ED-4DB2-BD59-A6C34878D82A}">
                    <a16:rowId xmlns:a16="http://schemas.microsoft.com/office/drawing/2014/main" val="1913093031"/>
                  </a:ext>
                </a:extLst>
              </a:tr>
              <a:tr h="1651040">
                <a:tc>
                  <a:txBody>
                    <a:bodyPr/>
                    <a:lstStyle/>
                    <a:p>
                      <a:r>
                        <a:rPr lang="en-US" b="1" dirty="0"/>
                        <a:t>Reason for Lack of Common Approach</a:t>
                      </a:r>
                    </a:p>
                  </a:txBody>
                  <a:tcPr/>
                </a:tc>
                <a:tc>
                  <a:txBody>
                    <a:bodyPr/>
                    <a:lstStyle/>
                    <a:p>
                      <a:pPr marL="285750" indent="-285750">
                        <a:buFont typeface="Arial" panose="020B0604020202020204" pitchFamily="34" charset="0"/>
                        <a:buChar char="•"/>
                      </a:pPr>
                      <a:r>
                        <a:rPr lang="en-US" dirty="0"/>
                        <a:t>‘toolkit technique’</a:t>
                      </a:r>
                    </a:p>
                    <a:p>
                      <a:pPr marL="742950" lvl="1" indent="-285750">
                        <a:buFont typeface="Arial" panose="020B0604020202020204" pitchFamily="34" charset="0"/>
                        <a:buChar char="•"/>
                      </a:pPr>
                      <a:r>
                        <a:rPr lang="en-US" dirty="0"/>
                        <a:t>Leads to adjustment for multiple corrections</a:t>
                      </a:r>
                    </a:p>
                    <a:p>
                      <a:pPr marL="285750" indent="-285750">
                        <a:buFont typeface="Arial" panose="020B0604020202020204" pitchFamily="34" charset="0"/>
                        <a:buChar char="•"/>
                      </a:pPr>
                      <a:r>
                        <a:rPr lang="en-US" dirty="0"/>
                        <a:t>Large variety of methods, abbreviated discourse</a:t>
                      </a:r>
                    </a:p>
                    <a:p>
                      <a:pPr marL="285750" indent="-285750">
                        <a:buFont typeface="Arial" panose="020B0604020202020204" pitchFamily="34" charset="0"/>
                        <a:buChar char="•"/>
                      </a:pPr>
                      <a:r>
                        <a:rPr lang="en-US" dirty="0"/>
                        <a:t>Variation in terminology, operationalization</a:t>
                      </a:r>
                    </a:p>
                  </a:txBody>
                  <a:tcPr/>
                </a:tc>
                <a:extLst>
                  <a:ext uri="{0D108BD9-81ED-4DB2-BD59-A6C34878D82A}">
                    <a16:rowId xmlns:a16="http://schemas.microsoft.com/office/drawing/2014/main" val="4284355614"/>
                  </a:ext>
                </a:extLst>
              </a:tr>
            </a:tbl>
          </a:graphicData>
        </a:graphic>
      </p:graphicFrame>
    </p:spTree>
    <p:extLst>
      <p:ext uri="{BB962C8B-B14F-4D97-AF65-F5344CB8AC3E}">
        <p14:creationId xmlns:p14="http://schemas.microsoft.com/office/powerpoint/2010/main" val="192295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0D720-C88B-8B32-F7DB-CD96456E5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DF1290-DECC-9FA8-26A0-00E1E0C0CA08}"/>
              </a:ext>
            </a:extLst>
          </p:cNvPr>
          <p:cNvSpPr>
            <a:spLocks noGrp="1"/>
          </p:cNvSpPr>
          <p:nvPr>
            <p:ph type="title"/>
          </p:nvPr>
        </p:nvSpPr>
        <p:spPr/>
        <p:txBody>
          <a:bodyPr/>
          <a:lstStyle/>
          <a:p>
            <a:pPr algn="l"/>
            <a:r>
              <a:rPr lang="en-US" dirty="0">
                <a:latin typeface="Franklin Gothic Demi" panose="020B0703020102020204" pitchFamily="34" charset="0"/>
              </a:rPr>
              <a:t>Example: Empirical Study</a:t>
            </a:r>
          </a:p>
        </p:txBody>
      </p:sp>
      <p:sp>
        <p:nvSpPr>
          <p:cNvPr id="6" name="Content Placeholder 5">
            <a:extLst>
              <a:ext uri="{FF2B5EF4-FFF2-40B4-BE49-F238E27FC236}">
                <a16:creationId xmlns:a16="http://schemas.microsoft.com/office/drawing/2014/main" id="{03B2704F-DF12-44E4-B7C5-5FA7BF2DF2C8}"/>
              </a:ext>
            </a:extLst>
          </p:cNvPr>
          <p:cNvSpPr>
            <a:spLocks noGrp="1"/>
          </p:cNvSpPr>
          <p:nvPr>
            <p:ph idx="1"/>
          </p:nvPr>
        </p:nvSpPr>
        <p:spPr>
          <a:xfrm>
            <a:off x="609600" y="1587123"/>
            <a:ext cx="10972800" cy="4525963"/>
          </a:xfrm>
        </p:spPr>
        <p:txBody>
          <a:bodyPr/>
          <a:lstStyle/>
          <a:p>
            <a:r>
              <a:rPr lang="en-US" sz="3200" dirty="0"/>
              <a:t>“Although our statistical models are designed to account for skewness, they are </a:t>
            </a:r>
            <a:r>
              <a:rPr lang="en-US" sz="3200" b="1" dirty="0"/>
              <a:t>not designed to take extreme values such as these into account</a:t>
            </a:r>
            <a:r>
              <a:rPr lang="en-US" sz="3200" dirty="0"/>
              <a:t>. Although it is tempting to drop these observations, we are reluctant to do so because we cannot be sure that they are outliers in any real sense. </a:t>
            </a:r>
            <a:r>
              <a:rPr lang="en-US" sz="3200" b="1" dirty="0"/>
              <a:t>As a compromise, we topcode the value of the expenditure for each of these 35 observations at $50,000</a:t>
            </a:r>
            <a:r>
              <a:rPr lang="en-US" sz="3200" dirty="0"/>
              <a:t>.” (Deb &amp; Norton, 2018)</a:t>
            </a:r>
          </a:p>
          <a:p>
            <a:endParaRPr lang="en-US" dirty="0"/>
          </a:p>
        </p:txBody>
      </p:sp>
    </p:spTree>
    <p:extLst>
      <p:ext uri="{BB962C8B-B14F-4D97-AF65-F5344CB8AC3E}">
        <p14:creationId xmlns:p14="http://schemas.microsoft.com/office/powerpoint/2010/main" val="1964491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032" y="0"/>
            <a:ext cx="10957367" cy="1354238"/>
          </a:xfrm>
        </p:spPr>
        <p:txBody>
          <a:bodyPr/>
          <a:lstStyle/>
          <a:p>
            <a:pPr algn="l"/>
            <a:r>
              <a:rPr lang="en-US" dirty="0">
                <a:latin typeface="Franklin Gothic Demi" panose="020B0703020102020204" pitchFamily="34" charset="0"/>
              </a:rPr>
              <a:t>Common Approaches</a:t>
            </a:r>
          </a:p>
        </p:txBody>
      </p:sp>
      <p:graphicFrame>
        <p:nvGraphicFramePr>
          <p:cNvPr id="4" name="Content Placeholder 3">
            <a:extLst>
              <a:ext uri="{FF2B5EF4-FFF2-40B4-BE49-F238E27FC236}">
                <a16:creationId xmlns:a16="http://schemas.microsoft.com/office/drawing/2014/main" id="{2932B841-ABF3-9449-426D-86610A8977C9}"/>
              </a:ext>
            </a:extLst>
          </p:cNvPr>
          <p:cNvGraphicFramePr>
            <a:graphicFrameLocks noGrp="1"/>
          </p:cNvGraphicFramePr>
          <p:nvPr>
            <p:ph idx="1"/>
            <p:extLst>
              <p:ext uri="{D42A27DB-BD31-4B8C-83A1-F6EECF244321}">
                <p14:modId xmlns:p14="http://schemas.microsoft.com/office/powerpoint/2010/main" val="3428227031"/>
              </p:ext>
            </p:extLst>
          </p:nvPr>
        </p:nvGraphicFramePr>
        <p:xfrm>
          <a:off x="726309" y="1181100"/>
          <a:ext cx="10957367" cy="4495800"/>
        </p:xfrm>
        <a:graphic>
          <a:graphicData uri="http://schemas.openxmlformats.org/drawingml/2006/table">
            <a:tbl>
              <a:tblPr firstRow="1" bandRow="1">
                <a:tableStyleId>{2D5ABB26-0587-4C30-8999-92F81FD0307C}</a:tableStyleId>
              </a:tblPr>
              <a:tblGrid>
                <a:gridCol w="1784575">
                  <a:extLst>
                    <a:ext uri="{9D8B030D-6E8A-4147-A177-3AD203B41FA5}">
                      <a16:colId xmlns:a16="http://schemas.microsoft.com/office/drawing/2014/main" val="2462912511"/>
                    </a:ext>
                  </a:extLst>
                </a:gridCol>
                <a:gridCol w="2087227">
                  <a:extLst>
                    <a:ext uri="{9D8B030D-6E8A-4147-A177-3AD203B41FA5}">
                      <a16:colId xmlns:a16="http://schemas.microsoft.com/office/drawing/2014/main" val="3281024912"/>
                    </a:ext>
                  </a:extLst>
                </a:gridCol>
                <a:gridCol w="7085565">
                  <a:extLst>
                    <a:ext uri="{9D8B030D-6E8A-4147-A177-3AD203B41FA5}">
                      <a16:colId xmlns:a16="http://schemas.microsoft.com/office/drawing/2014/main" val="1038924314"/>
                    </a:ext>
                  </a:extLst>
                </a:gridCol>
              </a:tblGrid>
              <a:tr h="370840">
                <a:tc>
                  <a:txBody>
                    <a:bodyPr/>
                    <a:lstStyle/>
                    <a:p>
                      <a:r>
                        <a:rPr lang="en-US" b="1" dirty="0"/>
                        <a:t>Approach</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Method</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Citations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0995133"/>
                  </a:ext>
                </a:extLst>
              </a:tr>
              <a:tr h="370840">
                <a:tc rowSpan="2">
                  <a:txBody>
                    <a:bodyPr/>
                    <a:lstStyle/>
                    <a:p>
                      <a:r>
                        <a:rPr lang="en-US" b="1" dirty="0"/>
                        <a:t>Data Transformation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Power (Box-Cox) Transformations</a:t>
                      </a:r>
                    </a:p>
                  </a:txBody>
                  <a:tcPr anchor="ctr">
                    <a:lnT w="12700" cap="flat" cmpd="sng" algn="ctr">
                      <a:solidFill>
                        <a:schemeClr val="tx1"/>
                      </a:solidFill>
                      <a:prstDash val="solid"/>
                      <a:round/>
                      <a:headEnd type="none" w="med" len="med"/>
                      <a:tailEnd type="none" w="med" len="med"/>
                    </a:lnT>
                  </a:tcPr>
                </a:tc>
                <a:tc>
                  <a:txBody>
                    <a:bodyPr/>
                    <a:lstStyle/>
                    <a:p>
                      <a:r>
                        <a:rPr lang="en-US" sz="1200" dirty="0"/>
                        <a:t>Bicego &amp; Baldo, 2016; Diehr, 1999; </a:t>
                      </a:r>
                      <a:r>
                        <a:rPr lang="en-US" sz="1200" kern="1200" dirty="0">
                          <a:solidFill>
                            <a:schemeClr val="dk1"/>
                          </a:solidFill>
                          <a:effectLst/>
                        </a:rPr>
                        <a:t>Gilleskie &amp; Mroz, 2004; Karlsson, 2024; Metcalf &amp; Casey, 2016; </a:t>
                      </a:r>
                      <a:r>
                        <a:rPr lang="en-US" sz="1200" dirty="0"/>
                        <a:t>Mullahy, 2024; Mullahy &amp; Norton, 2024; Mihaylova, 2011; Osborne, 2010; Randall P. Ellis, 2018; Ruppert, 2001</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37478743"/>
                  </a:ext>
                </a:extLst>
              </a:tr>
              <a:tr h="370840">
                <a:tc vMerge="1">
                  <a:txBody>
                    <a:bodyPr/>
                    <a:lstStyle/>
                    <a:p>
                      <a:endParaRPr lang="en-US" dirty="0"/>
                    </a:p>
                  </a:txBody>
                  <a:tcPr/>
                </a:tc>
                <a:tc>
                  <a:txBody>
                    <a:bodyPr/>
                    <a:lstStyle/>
                    <a:p>
                      <a:r>
                        <a:rPr lang="en-US" b="1" dirty="0"/>
                        <a:t>Log Transformation</a:t>
                      </a:r>
                    </a:p>
                  </a:txBody>
                  <a:tcPr anchor="ctr">
                    <a:lnB w="12700" cap="flat" cmpd="sng" algn="ctr">
                      <a:solidFill>
                        <a:schemeClr val="tx1"/>
                      </a:solidFill>
                      <a:prstDash val="solid"/>
                      <a:round/>
                      <a:headEnd type="none" w="med" len="med"/>
                      <a:tailEnd type="none" w="med" len="med"/>
                    </a:lnB>
                  </a:tcPr>
                </a:tc>
                <a:tc>
                  <a:txBody>
                    <a:bodyPr/>
                    <a:lstStyle/>
                    <a:p>
                      <a:r>
                        <a:rPr lang="it-IT" sz="1200" dirty="0"/>
                        <a:t>Aihounton &amp; Henningsen, 2021; Cantoni &amp; Ronchetti, 2006; </a:t>
                      </a:r>
                      <a:r>
                        <a:rPr lang="en-US" sz="1200" dirty="0"/>
                        <a:t>Chen &amp; Roth, 2024; Chen &amp; Zhou, 2006; Dalton &amp; Norton, 2000; </a:t>
                      </a:r>
                      <a:r>
                        <a:rPr lang="it-IT" sz="1200" dirty="0"/>
                        <a:t>Deb &amp; Burgess, 2003; De Brauw &amp; Herskowitz, 2021; </a:t>
                      </a:r>
                      <a:r>
                        <a:rPr lang="en-US" sz="1200" dirty="0"/>
                        <a:t>Diehr, 1999;</a:t>
                      </a:r>
                      <a:r>
                        <a:rPr lang="da-DK" sz="1200" dirty="0"/>
                        <a:t> Duan, 1983; Duan, 1983; </a:t>
                      </a:r>
                      <a:r>
                        <a:rPr lang="fr-FR" sz="1200" dirty="0"/>
                        <a:t>Geurts, 2022; </a:t>
                      </a:r>
                      <a:r>
                        <a:rPr lang="en-US" sz="1200" kern="1200" dirty="0">
                          <a:solidFill>
                            <a:schemeClr val="dk1"/>
                          </a:solidFill>
                          <a:effectLst/>
                        </a:rPr>
                        <a:t>Gilleskie &amp; Mroz, 2004; </a:t>
                      </a:r>
                      <a:r>
                        <a:rPr lang="fr-FR" sz="1200" dirty="0"/>
                        <a:t>Karlsson, 2024; </a:t>
                      </a:r>
                      <a:r>
                        <a:rPr lang="da-DK" sz="1200" dirty="0"/>
                        <a:t>Manning, 1987;</a:t>
                      </a:r>
                      <a:r>
                        <a:rPr lang="en-US" sz="1200" dirty="0"/>
                        <a:t> Malehi, 2015; </a:t>
                      </a:r>
                      <a:r>
                        <a:rPr lang="en-US" sz="1200" kern="1200" dirty="0">
                          <a:solidFill>
                            <a:schemeClr val="dk1"/>
                          </a:solidFill>
                          <a:effectLst/>
                        </a:rPr>
                        <a:t>Metcalf &amp; Casey, 2016; Mihaylova, 2011; Mullahy, 2009; Mullahy, 2024; Mullahy &amp; Norton, 2024; Osborne, 2010; Polgreen, 2012; Randall P. Ellis, 2018; Rogowski &amp; Newhouse, 1992 </a:t>
                      </a:r>
                      <a:endParaRPr lang="en-US" sz="12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5671077"/>
                  </a:ext>
                </a:extLst>
              </a:tr>
              <a:tr h="370840">
                <a:tc rowSpan="3">
                  <a:txBody>
                    <a:bodyPr/>
                    <a:lstStyle/>
                    <a:p>
                      <a:r>
                        <a:rPr lang="en-US" b="1" dirty="0"/>
                        <a:t>Data Treatment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Truncation</a:t>
                      </a:r>
                    </a:p>
                  </a:txBody>
                  <a:tcPr anchor="ctr">
                    <a:lnT w="12700" cap="flat" cmpd="sng" algn="ctr">
                      <a:solidFill>
                        <a:schemeClr val="tx1"/>
                      </a:solidFill>
                      <a:prstDash val="solid"/>
                      <a:round/>
                      <a:headEnd type="none" w="med" len="med"/>
                      <a:tailEnd type="none" w="med" len="med"/>
                    </a:lnT>
                  </a:tcPr>
                </a:tc>
                <a:tc>
                  <a:txBody>
                    <a:bodyPr/>
                    <a:lstStyle/>
                    <a:p>
                      <a:r>
                        <a:rPr lang="en-US" sz="1200" dirty="0"/>
                        <a:t>Belsley, 1980; Leone, 2019; Geurts, 2022; Karlsson, 2024; Mihaylova, 2011; Metcalf &amp; Casey, 2016; Mullahy, 2023; Murphy, 2018; Randahl &amp; Vegelius, 2024; Sullivan, 2021; </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75915158"/>
                  </a:ext>
                </a:extLst>
              </a:tr>
              <a:tr h="370840">
                <a:tc vMerge="1">
                  <a:txBody>
                    <a:bodyPr/>
                    <a:lstStyle/>
                    <a:p>
                      <a:endParaRPr lang="en-US" dirty="0"/>
                    </a:p>
                  </a:txBody>
                  <a:tcPr/>
                </a:tc>
                <a:tc>
                  <a:txBody>
                    <a:bodyPr/>
                    <a:lstStyle/>
                    <a:p>
                      <a:r>
                        <a:rPr lang="en-US" b="1" dirty="0"/>
                        <a:t>Winsorization</a:t>
                      </a:r>
                    </a:p>
                  </a:txBody>
                  <a:tcPr anchor="ctr"/>
                </a:tc>
                <a:tc>
                  <a:txBody>
                    <a:bodyPr/>
                    <a:lstStyle/>
                    <a:p>
                      <a:r>
                        <a:rPr lang="en-US" sz="1200" dirty="0"/>
                        <a:t>Leone, 2019; Randahl &amp; Vegelius, 2024; Sullivan, 2021; Weichle, 2013; Wicklin, 2023; </a:t>
                      </a:r>
                    </a:p>
                  </a:txBody>
                  <a:tcPr/>
                </a:tc>
                <a:extLst>
                  <a:ext uri="{0D108BD9-81ED-4DB2-BD59-A6C34878D82A}">
                    <a16:rowId xmlns:a16="http://schemas.microsoft.com/office/drawing/2014/main" val="2195030270"/>
                  </a:ext>
                </a:extLst>
              </a:tr>
              <a:tr h="370840">
                <a:tc vMerge="1">
                  <a:txBody>
                    <a:bodyPr/>
                    <a:lstStyle/>
                    <a:p>
                      <a:endParaRPr lang="en-US" dirty="0"/>
                    </a:p>
                  </a:txBody>
                  <a:tcPr/>
                </a:tc>
                <a:tc>
                  <a:txBody>
                    <a:bodyPr/>
                    <a:lstStyle/>
                    <a:p>
                      <a:r>
                        <a:rPr lang="en-US" b="1" dirty="0"/>
                        <a:t>Topcoding</a:t>
                      </a:r>
                    </a:p>
                  </a:txBody>
                  <a:tcPr anchor="ctr">
                    <a:lnB w="12700" cap="flat" cmpd="sng" algn="ctr">
                      <a:solidFill>
                        <a:schemeClr val="tx1"/>
                      </a:solidFill>
                      <a:prstDash val="solid"/>
                      <a:round/>
                      <a:headEnd type="none" w="med" len="med"/>
                      <a:tailEnd type="none" w="med" len="med"/>
                    </a:lnB>
                  </a:tcPr>
                </a:tc>
                <a:tc>
                  <a:txBody>
                    <a:bodyPr/>
                    <a:lstStyle/>
                    <a:p>
                      <a:r>
                        <a:rPr lang="en-US" sz="1200" dirty="0"/>
                        <a:t>Deb &amp; Norton, 2018; Geurts, 2022; Kandilov, 2018; Randall P. Ellis, 2018</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5818508"/>
                  </a:ext>
                </a:extLst>
              </a:tr>
              <a:tr h="370840">
                <a:tc rowSpan="2">
                  <a:txBody>
                    <a:bodyPr/>
                    <a:lstStyle/>
                    <a:p>
                      <a:r>
                        <a:rPr lang="en-US" b="1" dirty="0"/>
                        <a:t>Modeling</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One-part models</a:t>
                      </a:r>
                    </a:p>
                    <a:p>
                      <a:r>
                        <a:rPr lang="en-US" dirty="0"/>
                        <a:t>(Cox PH, GLM)</a:t>
                      </a:r>
                    </a:p>
                  </a:txBody>
                  <a:tcPr anchor="ctr">
                    <a:lnT w="12700" cap="flat" cmpd="sng" algn="ctr">
                      <a:solidFill>
                        <a:schemeClr val="tx1"/>
                      </a:solidFill>
                      <a:prstDash val="solid"/>
                      <a:round/>
                      <a:headEnd type="none" w="med" len="med"/>
                      <a:tailEnd type="none" w="med" len="med"/>
                    </a:lnT>
                  </a:tcPr>
                </a:tc>
                <a:tc>
                  <a:txBody>
                    <a:bodyPr/>
                    <a:lstStyle/>
                    <a:p>
                      <a:r>
                        <a:rPr lang="da-DK" sz="1200" dirty="0"/>
                        <a:t>Alshakhs, 2023; Barber &amp; Thompson, 2004; Belotti, 2015; Buntin &amp; Zaslavsky, 2004; Basu , 2004; Blough, 1999; Deb, 2017; Deb &amp; Norton, 2018; Diehr , 1999; Gilleskie &amp; Mroz, 2004; Gregori, 2006; Hardin &amp; Hilbe, 2007; Karlsson, 2024; Lee &amp; Conway, 2022;  Malehi, 2015; Manning, 2005; Mihaylova, 2011; Mullahy, 1998; Polgreen &amp; Brooks, 2012; Weichle, 2013</a:t>
                      </a:r>
                      <a:endParaRPr lang="en-US" sz="1200"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26157665"/>
                  </a:ext>
                </a:extLst>
              </a:tr>
              <a:tr h="370840">
                <a:tc vMerge="1">
                  <a:txBody>
                    <a:bodyPr/>
                    <a:lstStyle/>
                    <a:p>
                      <a:endParaRPr lang="en-US" dirty="0"/>
                    </a:p>
                  </a:txBody>
                  <a:tcPr anchor="ctr"/>
                </a:tc>
                <a:tc>
                  <a:txBody>
                    <a:bodyPr/>
                    <a:lstStyle/>
                    <a:p>
                      <a:r>
                        <a:rPr lang="en-US" b="1" dirty="0"/>
                        <a:t>Two-part models</a:t>
                      </a:r>
                    </a:p>
                  </a:txBody>
                  <a:tcPr anchor="ctr">
                    <a:lnB w="12700" cap="flat" cmpd="sng" algn="ctr">
                      <a:solidFill>
                        <a:schemeClr val="tx1"/>
                      </a:solidFill>
                      <a:prstDash val="solid"/>
                      <a:round/>
                      <a:headEnd type="none" w="med" len="med"/>
                      <a:tailEnd type="none" w="med" len="med"/>
                    </a:lnB>
                  </a:tcPr>
                </a:tc>
                <a:tc>
                  <a:txBody>
                    <a:bodyPr/>
                    <a:lstStyle/>
                    <a:p>
                      <a:r>
                        <a:rPr lang="en-US" sz="1200" dirty="0"/>
                        <a:t>Belotti, 2015; Cragg, 1971; Deb &amp; Norton, 2018; Diehr, 1999;  Duan, 1984;</a:t>
                      </a:r>
                      <a:r>
                        <a:rPr lang="en-US" sz="1200" kern="1200" dirty="0">
                          <a:solidFill>
                            <a:schemeClr val="dk1"/>
                          </a:solidFill>
                          <a:effectLst/>
                        </a:rPr>
                        <a:t> Gilleskie &amp; Mroz, 2004; Jones &amp; Yen, 2000;</a:t>
                      </a:r>
                      <a:r>
                        <a:rPr lang="en-US" sz="1200" dirty="0"/>
                        <a:t> </a:t>
                      </a:r>
                      <a:r>
                        <a:rPr lang="en-US" sz="1200" dirty="0" err="1"/>
                        <a:t>Kapitula</a:t>
                      </a:r>
                      <a:r>
                        <a:rPr lang="en-US" sz="1200" dirty="0"/>
                        <a:t>, 2015; Manning, 1998; Manning &amp; Mullahy, 2001; Mullahy, 2024; Yen &amp; Jones, 1997</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543033"/>
                  </a:ext>
                </a:extLst>
              </a:tr>
            </a:tbl>
          </a:graphicData>
        </a:graphic>
      </p:graphicFrame>
      <p:sp>
        <p:nvSpPr>
          <p:cNvPr id="6" name="TextBox 5">
            <a:extLst>
              <a:ext uri="{FF2B5EF4-FFF2-40B4-BE49-F238E27FC236}">
                <a16:creationId xmlns:a16="http://schemas.microsoft.com/office/drawing/2014/main" id="{391AA1AB-216B-4907-A2A9-73097AF1A9F5}"/>
              </a:ext>
            </a:extLst>
          </p:cNvPr>
          <p:cNvSpPr txBox="1"/>
          <p:nvPr/>
        </p:nvSpPr>
        <p:spPr>
          <a:xfrm>
            <a:off x="726309" y="5919392"/>
            <a:ext cx="11091443" cy="707886"/>
          </a:xfrm>
          <a:prstGeom prst="rect">
            <a:avLst/>
          </a:prstGeom>
          <a:noFill/>
        </p:spPr>
        <p:txBody>
          <a:bodyPr wrap="square">
            <a:spAutoFit/>
          </a:bodyPr>
          <a:lstStyle/>
          <a:p>
            <a:pPr algn="ctr"/>
            <a:r>
              <a:rPr lang="en-US" sz="2000" b="1" dirty="0">
                <a:solidFill>
                  <a:schemeClr val="accent1"/>
                </a:solidFill>
              </a:rPr>
              <a:t>In practice, research has often relied on a combination of modeling and transformations to address the multifactorial issues encountered in HCE data (empirical study, this study) </a:t>
            </a:r>
          </a:p>
        </p:txBody>
      </p:sp>
    </p:spTree>
    <p:extLst>
      <p:ext uri="{BB962C8B-B14F-4D97-AF65-F5344CB8AC3E}">
        <p14:creationId xmlns:p14="http://schemas.microsoft.com/office/powerpoint/2010/main" val="3297362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7CEE9-3D19-0592-30A4-AB1A73851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1110E-D4DB-AB8B-2871-5F3284CFA3ED}"/>
              </a:ext>
            </a:extLst>
          </p:cNvPr>
          <p:cNvSpPr>
            <a:spLocks noGrp="1"/>
          </p:cNvSpPr>
          <p:nvPr>
            <p:ph type="title"/>
          </p:nvPr>
        </p:nvSpPr>
        <p:spPr/>
        <p:txBody>
          <a:bodyPr/>
          <a:lstStyle/>
          <a:p>
            <a:pPr algn="l"/>
            <a:r>
              <a:rPr lang="en-US" dirty="0">
                <a:latin typeface="Franklin Gothic Demi" panose="020B0703020102020204" pitchFamily="34" charset="0"/>
              </a:rPr>
              <a:t>Difference-in-Differences</a:t>
            </a:r>
            <a:endParaRPr dirty="0">
              <a:latin typeface="Franklin Gothic Demi" panose="020B0703020102020204" pitchFamily="34" charset="0"/>
            </a:endParaRPr>
          </a:p>
        </p:txBody>
      </p:sp>
      <p:sp>
        <p:nvSpPr>
          <p:cNvPr id="3" name="Content Placeholder 2">
            <a:extLst>
              <a:ext uri="{FF2B5EF4-FFF2-40B4-BE49-F238E27FC236}">
                <a16:creationId xmlns:a16="http://schemas.microsoft.com/office/drawing/2014/main" id="{B2FC71AF-9760-9F05-A119-5D75D414F187}"/>
              </a:ext>
            </a:extLst>
          </p:cNvPr>
          <p:cNvSpPr>
            <a:spLocks noGrp="1"/>
          </p:cNvSpPr>
          <p:nvPr>
            <p:ph idx="1"/>
          </p:nvPr>
        </p:nvSpPr>
        <p:spPr>
          <a:xfrm>
            <a:off x="609600" y="1417638"/>
            <a:ext cx="6045200" cy="4983161"/>
          </a:xfrm>
        </p:spPr>
        <p:txBody>
          <a:bodyPr>
            <a:normAutofit fontScale="92500" lnSpcReduction="10000"/>
          </a:bodyPr>
          <a:lstStyle/>
          <a:p>
            <a:r>
              <a:rPr lang="en-US" dirty="0"/>
              <a:t>Considered by many to be most important strategy in applied economics</a:t>
            </a:r>
          </a:p>
          <a:p>
            <a:r>
              <a:rPr lang="en-US" dirty="0"/>
              <a:t>Treatment effect captured by one interaction term, the </a:t>
            </a:r>
            <a:r>
              <a:rPr lang="en-US" b="1" i="1" dirty="0">
                <a:solidFill>
                  <a:schemeClr val="accent1"/>
                </a:solidFill>
              </a:rPr>
              <a:t>difference-in-differences estimator</a:t>
            </a:r>
            <a:r>
              <a:rPr lang="en-US" dirty="0"/>
              <a:t>: the indicator for treatment (treated vs control) by the post-treatment time indicator (e.g., pre vs post)</a:t>
            </a:r>
          </a:p>
          <a:p>
            <a:pPr lvl="1">
              <a:buFont typeface="Arial" panose="020B0604020202020204" pitchFamily="34" charset="0"/>
              <a:buChar char="•"/>
            </a:pPr>
            <a:r>
              <a:rPr lang="en-US" dirty="0">
                <a:solidFill>
                  <a:schemeClr val="accent1"/>
                </a:solidFill>
              </a:rPr>
              <a:t>This is the variable of interest in my study</a:t>
            </a:r>
          </a:p>
        </p:txBody>
      </p:sp>
      <p:pic>
        <p:nvPicPr>
          <p:cNvPr id="5" name="Picture 4">
            <a:extLst>
              <a:ext uri="{FF2B5EF4-FFF2-40B4-BE49-F238E27FC236}">
                <a16:creationId xmlns:a16="http://schemas.microsoft.com/office/drawing/2014/main" id="{8C5E17FD-161E-4299-8C24-9FAD8A39CEB7}"/>
              </a:ext>
            </a:extLst>
          </p:cNvPr>
          <p:cNvPicPr>
            <a:picLocks noChangeAspect="1"/>
          </p:cNvPicPr>
          <p:nvPr/>
        </p:nvPicPr>
        <p:blipFill>
          <a:blip r:embed="rId3"/>
          <a:stretch>
            <a:fillRect/>
          </a:stretch>
        </p:blipFill>
        <p:spPr>
          <a:xfrm>
            <a:off x="6905296" y="1660188"/>
            <a:ext cx="4426608" cy="4156412"/>
          </a:xfrm>
          <a:prstGeom prst="rect">
            <a:avLst/>
          </a:prstGeom>
        </p:spPr>
      </p:pic>
    </p:spTree>
    <p:extLst>
      <p:ext uri="{BB962C8B-B14F-4D97-AF65-F5344CB8AC3E}">
        <p14:creationId xmlns:p14="http://schemas.microsoft.com/office/powerpoint/2010/main" val="4155561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094DEA-1881-4F96-A767-E139F682FC0D}"/>
              </a:ext>
            </a:extLst>
          </p:cNvPr>
          <p:cNvSpPr>
            <a:spLocks noGrp="1"/>
          </p:cNvSpPr>
          <p:nvPr>
            <p:ph type="title"/>
          </p:nvPr>
        </p:nvSpPr>
        <p:spPr/>
        <p:txBody>
          <a:bodyPr/>
          <a:lstStyle/>
          <a:p>
            <a:pPr algn="l"/>
            <a:r>
              <a:rPr lang="en-US" dirty="0">
                <a:latin typeface="Franklin Gothic Demi" panose="020B0703020102020204" pitchFamily="34" charset="0"/>
              </a:rPr>
              <a:t>Questions</a:t>
            </a:r>
          </a:p>
        </p:txBody>
      </p:sp>
    </p:spTree>
    <p:extLst>
      <p:ext uri="{BB962C8B-B14F-4D97-AF65-F5344CB8AC3E}">
        <p14:creationId xmlns:p14="http://schemas.microsoft.com/office/powerpoint/2010/main" val="3633425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7CEE9-3D19-0592-30A4-AB1A73851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1110E-D4DB-AB8B-2871-5F3284CFA3ED}"/>
              </a:ext>
            </a:extLst>
          </p:cNvPr>
          <p:cNvSpPr>
            <a:spLocks noGrp="1"/>
          </p:cNvSpPr>
          <p:nvPr>
            <p:ph type="title"/>
          </p:nvPr>
        </p:nvSpPr>
        <p:spPr/>
        <p:txBody>
          <a:bodyPr/>
          <a:lstStyle/>
          <a:p>
            <a:pPr algn="l"/>
            <a:r>
              <a:rPr lang="en-US" dirty="0">
                <a:latin typeface="Franklin Gothic Demi" panose="020B0703020102020204" pitchFamily="34" charset="0"/>
              </a:rPr>
              <a:t>Purpose of the Study</a:t>
            </a:r>
            <a:endParaRPr dirty="0">
              <a:latin typeface="Franklin Gothic Demi" panose="020B0703020102020204" pitchFamily="34" charset="0"/>
            </a:endParaRPr>
          </a:p>
        </p:txBody>
      </p:sp>
      <p:sp>
        <p:nvSpPr>
          <p:cNvPr id="4" name="Content Placeholder 2">
            <a:extLst>
              <a:ext uri="{FF2B5EF4-FFF2-40B4-BE49-F238E27FC236}">
                <a16:creationId xmlns:a16="http://schemas.microsoft.com/office/drawing/2014/main" id="{B64A999C-23E8-45BD-B036-C6D1D2126E28}"/>
              </a:ext>
            </a:extLst>
          </p:cNvPr>
          <p:cNvSpPr>
            <a:spLocks noGrp="1"/>
          </p:cNvSpPr>
          <p:nvPr>
            <p:ph idx="1"/>
          </p:nvPr>
        </p:nvSpPr>
        <p:spPr>
          <a:xfrm>
            <a:off x="609600" y="1600201"/>
            <a:ext cx="10972800" cy="4983161"/>
          </a:xfrm>
        </p:spPr>
        <p:txBody>
          <a:bodyPr>
            <a:normAutofit/>
          </a:bodyPr>
          <a:lstStyle/>
          <a:p>
            <a:r>
              <a:rPr lang="en-US" dirty="0"/>
              <a:t>To evaluate how different treatments of extreme values influence the performance of a </a:t>
            </a:r>
            <a:r>
              <a:rPr lang="en-US" b="1" dirty="0"/>
              <a:t>two-part model </a:t>
            </a:r>
            <a:r>
              <a:rPr lang="en-US" dirty="0"/>
              <a:t>with a generalized linear model in the second part in the context of HCE data.</a:t>
            </a:r>
          </a:p>
          <a:p>
            <a:r>
              <a:rPr lang="en-US" dirty="0"/>
              <a:t>Compare three top-coding strategies under range of simulated conditions to determine which method yields most accurate, reliable estimate of the treatment effect in second part of TPM:</a:t>
            </a:r>
          </a:p>
        </p:txBody>
      </p:sp>
    </p:spTree>
    <p:extLst>
      <p:ext uri="{BB962C8B-B14F-4D97-AF65-F5344CB8AC3E}">
        <p14:creationId xmlns:p14="http://schemas.microsoft.com/office/powerpoint/2010/main" val="2729579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953DD-3E36-EF8F-B8DC-4011F2F5F0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45FD6-B390-DAC7-91B7-159E57B58A6F}"/>
              </a:ext>
            </a:extLst>
          </p:cNvPr>
          <p:cNvSpPr>
            <a:spLocks noGrp="1"/>
          </p:cNvSpPr>
          <p:nvPr>
            <p:ph type="title"/>
          </p:nvPr>
        </p:nvSpPr>
        <p:spPr/>
        <p:txBody>
          <a:bodyPr/>
          <a:lstStyle/>
          <a:p>
            <a:pPr algn="l"/>
            <a:r>
              <a:rPr lang="en-US" dirty="0">
                <a:latin typeface="Franklin Gothic Demi" panose="020B0703020102020204" pitchFamily="34" charset="0"/>
              </a:rPr>
              <a:t>Top-Coding Strategies</a:t>
            </a:r>
            <a:endParaRPr dirty="0">
              <a:latin typeface="Franklin Gothic Demi" panose="020B0703020102020204" pitchFamily="34" charset="0"/>
            </a:endParaRPr>
          </a:p>
        </p:txBody>
      </p:sp>
      <p:graphicFrame>
        <p:nvGraphicFramePr>
          <p:cNvPr id="6" name="Table 6">
            <a:extLst>
              <a:ext uri="{FF2B5EF4-FFF2-40B4-BE49-F238E27FC236}">
                <a16:creationId xmlns:a16="http://schemas.microsoft.com/office/drawing/2014/main" id="{63A0BC9A-7ED6-4D27-AADC-065EEF4DD136}"/>
              </a:ext>
            </a:extLst>
          </p:cNvPr>
          <p:cNvGraphicFramePr>
            <a:graphicFrameLocks noGrp="1"/>
          </p:cNvGraphicFramePr>
          <p:nvPr>
            <p:ph idx="1"/>
            <p:extLst>
              <p:ext uri="{D42A27DB-BD31-4B8C-83A1-F6EECF244321}">
                <p14:modId xmlns:p14="http://schemas.microsoft.com/office/powerpoint/2010/main" val="1305793652"/>
              </p:ext>
            </p:extLst>
          </p:nvPr>
        </p:nvGraphicFramePr>
        <p:xfrm>
          <a:off x="609600" y="1600200"/>
          <a:ext cx="10972800" cy="4389120"/>
        </p:xfrm>
        <a:graphic>
          <a:graphicData uri="http://schemas.openxmlformats.org/drawingml/2006/table">
            <a:tbl>
              <a:tblPr firstRow="1" bandRow="1">
                <a:tableStyleId>{2D5ABB26-0587-4C30-8999-92F81FD0307C}</a:tableStyleId>
              </a:tblPr>
              <a:tblGrid>
                <a:gridCol w="4101296">
                  <a:extLst>
                    <a:ext uri="{9D8B030D-6E8A-4147-A177-3AD203B41FA5}">
                      <a16:colId xmlns:a16="http://schemas.microsoft.com/office/drawing/2014/main" val="516791301"/>
                    </a:ext>
                  </a:extLst>
                </a:gridCol>
                <a:gridCol w="6871504">
                  <a:extLst>
                    <a:ext uri="{9D8B030D-6E8A-4147-A177-3AD203B41FA5}">
                      <a16:colId xmlns:a16="http://schemas.microsoft.com/office/drawing/2014/main" val="3212543789"/>
                    </a:ext>
                  </a:extLst>
                </a:gridCol>
              </a:tblGrid>
              <a:tr h="370840">
                <a:tc>
                  <a:txBody>
                    <a:bodyPr/>
                    <a:lstStyle/>
                    <a:p>
                      <a:r>
                        <a:rPr lang="en-US" sz="2400" dirty="0"/>
                        <a:t>Treatment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Description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4776569"/>
                  </a:ext>
                </a:extLst>
              </a:tr>
              <a:tr h="370840">
                <a:tc>
                  <a:txBody>
                    <a:bodyPr/>
                    <a:lstStyle/>
                    <a:p>
                      <a:r>
                        <a:rPr lang="en-US" sz="2400" b="1" dirty="0"/>
                        <a:t>Topcoding</a:t>
                      </a:r>
                    </a:p>
                  </a:txBody>
                  <a:tcPr>
                    <a:lnT w="12700" cap="flat" cmpd="sng" algn="ctr">
                      <a:solidFill>
                        <a:schemeClr val="tx1"/>
                      </a:solidFill>
                      <a:prstDash val="solid"/>
                      <a:round/>
                      <a:headEnd type="none" w="med" len="med"/>
                      <a:tailEnd type="none" w="med" len="med"/>
                    </a:lnT>
                  </a:tcPr>
                </a:tc>
                <a:tc>
                  <a:txBody>
                    <a:bodyPr/>
                    <a:lstStyle/>
                    <a:p>
                      <a:r>
                        <a:rPr lang="en-US" sz="2400" dirty="0"/>
                        <a:t>Values above the 95th percentile are capped and </a:t>
                      </a:r>
                      <a:r>
                        <a:rPr lang="en-US" sz="2400" b="1" dirty="0">
                          <a:solidFill>
                            <a:schemeClr val="accent1"/>
                          </a:solidFill>
                        </a:rPr>
                        <a:t>replaced with the value at the 95th percentile</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049337222"/>
                  </a:ext>
                </a:extLst>
              </a:tr>
              <a:tr h="370840">
                <a:tc>
                  <a:txBody>
                    <a:bodyPr/>
                    <a:lstStyle/>
                    <a:p>
                      <a:r>
                        <a:rPr lang="en-US" sz="2400" b="1" dirty="0"/>
                        <a:t>Mean-Preserved Topcoding</a:t>
                      </a:r>
                    </a:p>
                  </a:txBody>
                  <a:tcPr/>
                </a:tc>
                <a:tc>
                  <a:txBody>
                    <a:bodyPr/>
                    <a:lstStyle/>
                    <a:p>
                      <a:r>
                        <a:rPr lang="en-US" sz="2400" dirty="0"/>
                        <a:t>Total expenditures truncated at 95th percentile, values above this threshold were </a:t>
                      </a:r>
                      <a:r>
                        <a:rPr lang="en-US" sz="2400" b="1" dirty="0">
                          <a:solidFill>
                            <a:schemeClr val="accent1"/>
                          </a:solidFill>
                        </a:rPr>
                        <a:t>replaced with the mean of all values exceeding the cutoff</a:t>
                      </a:r>
                      <a:r>
                        <a:rPr lang="en-US" sz="2400" b="1" dirty="0"/>
                        <a:t>. </a:t>
                      </a:r>
                      <a:r>
                        <a:rPr lang="en-US" sz="2400" b="0" dirty="0"/>
                        <a:t>(Dickinson &amp; Wiggins, 2025)</a:t>
                      </a:r>
                      <a:endParaRPr lang="en-US" sz="2400" b="1" dirty="0"/>
                    </a:p>
                  </a:txBody>
                  <a:tcPr/>
                </a:tc>
                <a:extLst>
                  <a:ext uri="{0D108BD9-81ED-4DB2-BD59-A6C34878D82A}">
                    <a16:rowId xmlns:a16="http://schemas.microsoft.com/office/drawing/2014/main" val="3205691016"/>
                  </a:ext>
                </a:extLst>
              </a:tr>
              <a:tr h="370840">
                <a:tc>
                  <a:txBody>
                    <a:bodyPr/>
                    <a:lstStyle/>
                    <a:p>
                      <a:r>
                        <a:rPr lang="en-US" sz="2400" b="1" dirty="0"/>
                        <a:t>Median-Preserved Topcoding</a:t>
                      </a:r>
                    </a:p>
                  </a:txBody>
                  <a:tcPr>
                    <a:lnB w="12700" cap="flat" cmpd="sng" algn="ctr">
                      <a:solidFill>
                        <a:schemeClr val="tx1"/>
                      </a:solidFill>
                      <a:prstDash val="solid"/>
                      <a:round/>
                      <a:headEnd type="none" w="med" len="med"/>
                      <a:tailEnd type="none" w="med" len="med"/>
                    </a:lnB>
                  </a:tcPr>
                </a:tc>
                <a:tc>
                  <a:txBody>
                    <a:bodyPr/>
                    <a:lstStyle/>
                    <a:p>
                      <a:r>
                        <a:rPr lang="en-US" sz="2400" dirty="0"/>
                        <a:t>Total expenditures were truncated at the 95th percentile, and values above this threshold were </a:t>
                      </a:r>
                      <a:r>
                        <a:rPr lang="en-US" sz="2400" b="1" dirty="0">
                          <a:solidFill>
                            <a:schemeClr val="accent1"/>
                          </a:solidFill>
                        </a:rPr>
                        <a:t>replaced with the median of all values exceeding the cutoff</a:t>
                      </a:r>
                      <a:r>
                        <a:rPr lang="en-US" sz="2400" dirty="0"/>
                        <a:t>.</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4643794"/>
                  </a:ext>
                </a:extLst>
              </a:tr>
            </a:tbl>
          </a:graphicData>
        </a:graphic>
      </p:graphicFrame>
    </p:spTree>
    <p:extLst>
      <p:ext uri="{BB962C8B-B14F-4D97-AF65-F5344CB8AC3E}">
        <p14:creationId xmlns:p14="http://schemas.microsoft.com/office/powerpoint/2010/main" val="1218832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Franklin Gothic Demi" panose="020B0703020102020204" pitchFamily="34" charset="0"/>
              </a:rPr>
              <a:t>Empirical</a:t>
            </a:r>
            <a:r>
              <a:rPr dirty="0"/>
              <a:t> </a:t>
            </a:r>
            <a:r>
              <a:rPr lang="en-US" dirty="0">
                <a:latin typeface="Franklin Gothic Demi" panose="020B0703020102020204" pitchFamily="34" charset="0"/>
              </a:rPr>
              <a:t>Study</a:t>
            </a:r>
            <a:endParaRPr dirty="0">
              <a:latin typeface="Franklin Gothic Demi" panose="020B0703020102020204" pitchFamily="34" charset="0"/>
            </a:endParaRPr>
          </a:p>
        </p:txBody>
      </p:sp>
      <p:sp>
        <p:nvSpPr>
          <p:cNvPr id="3" name="Content Placeholder 2"/>
          <p:cNvSpPr>
            <a:spLocks noGrp="1"/>
          </p:cNvSpPr>
          <p:nvPr>
            <p:ph idx="1"/>
          </p:nvPr>
        </p:nvSpPr>
        <p:spPr>
          <a:xfrm>
            <a:off x="609600" y="1511299"/>
            <a:ext cx="10972800" cy="4614865"/>
          </a:xfrm>
        </p:spPr>
        <p:txBody>
          <a:bodyPr>
            <a:normAutofit fontScale="92500" lnSpcReduction="20000"/>
          </a:bodyPr>
          <a:lstStyle/>
          <a:p>
            <a:pPr marL="0" indent="0">
              <a:buNone/>
            </a:pPr>
            <a:r>
              <a:rPr lang="en-US" b="1" i="1" dirty="0"/>
              <a:t>Modeling Health Care Expenditures and Use</a:t>
            </a:r>
            <a:r>
              <a:rPr lang="en-US" b="1" dirty="0"/>
              <a:t>, Deb &amp; Norton, 2018</a:t>
            </a:r>
          </a:p>
          <a:p>
            <a:r>
              <a:rPr lang="en-US" dirty="0"/>
              <a:t>2011 ACA expansion</a:t>
            </a:r>
          </a:p>
          <a:p>
            <a:r>
              <a:rPr lang="en-US" dirty="0"/>
              <a:t>provides natural DiD study</a:t>
            </a:r>
          </a:p>
          <a:p>
            <a:r>
              <a:rPr lang="en-US" dirty="0"/>
              <a:t>Examined whether people aged 23-25 were affected by the expansion</a:t>
            </a:r>
          </a:p>
          <a:p>
            <a:r>
              <a:rPr lang="en-US" dirty="0"/>
              <a:t>Data source: </a:t>
            </a:r>
            <a:r>
              <a:rPr dirty="0"/>
              <a:t>MEPS</a:t>
            </a:r>
            <a:endParaRPr lang="en-US" dirty="0"/>
          </a:p>
          <a:p>
            <a:pPr lvl="1"/>
            <a:r>
              <a:rPr lang="en-US" dirty="0"/>
              <a:t>Pre: 2008-2010, Post: 2011-2014</a:t>
            </a:r>
          </a:p>
          <a:p>
            <a:pPr lvl="1"/>
            <a:r>
              <a:rPr lang="en-US" dirty="0"/>
              <a:t>Treatment: Ages 23-25, Control: Ages 27-29</a:t>
            </a:r>
          </a:p>
          <a:p>
            <a:pPr lvl="1"/>
            <a:r>
              <a:rPr lang="en-US" dirty="0"/>
              <a:t>N: 17,899 (mine following I/E: 16,640)</a:t>
            </a:r>
            <a:endParaRPr dirty="0"/>
          </a:p>
          <a:p>
            <a:r>
              <a:rPr dirty="0"/>
              <a:t>Highly skewed costs</a:t>
            </a:r>
            <a:r>
              <a:rPr lang="en-US" dirty="0"/>
              <a:t> (Figures 1, 2 were from empirical dataset)</a:t>
            </a:r>
            <a:endParaRPr dirty="0"/>
          </a:p>
        </p:txBody>
      </p:sp>
    </p:spTree>
    <p:extLst>
      <p:ext uri="{BB962C8B-B14F-4D97-AF65-F5344CB8AC3E}">
        <p14:creationId xmlns:p14="http://schemas.microsoft.com/office/powerpoint/2010/main" val="1664767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7CEE9-3D19-0592-30A4-AB1A73851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1110E-D4DB-AB8B-2871-5F3284CFA3ED}"/>
              </a:ext>
            </a:extLst>
          </p:cNvPr>
          <p:cNvSpPr>
            <a:spLocks noGrp="1"/>
          </p:cNvSpPr>
          <p:nvPr>
            <p:ph type="title"/>
          </p:nvPr>
        </p:nvSpPr>
        <p:spPr/>
        <p:txBody>
          <a:bodyPr/>
          <a:lstStyle/>
          <a:p>
            <a:pPr algn="l"/>
            <a:r>
              <a:rPr lang="en-US" dirty="0">
                <a:latin typeface="Franklin Gothic Demi" panose="020B0703020102020204" pitchFamily="34" charset="0"/>
              </a:rPr>
              <a:t>Research Questions</a:t>
            </a:r>
            <a:endParaRPr dirty="0">
              <a:latin typeface="Franklin Gothic Demi" panose="020B0703020102020204" pitchFamily="34" charset="0"/>
            </a:endParaRPr>
          </a:p>
        </p:txBody>
      </p:sp>
      <p:graphicFrame>
        <p:nvGraphicFramePr>
          <p:cNvPr id="6" name="Object 5">
            <a:extLst>
              <a:ext uri="{FF2B5EF4-FFF2-40B4-BE49-F238E27FC236}">
                <a16:creationId xmlns:a16="http://schemas.microsoft.com/office/drawing/2014/main" id="{642E130C-6B0A-4265-8BE4-B38309259F5B}"/>
              </a:ext>
            </a:extLst>
          </p:cNvPr>
          <p:cNvGraphicFramePr>
            <a:graphicFrameLocks noChangeAspect="1"/>
          </p:cNvGraphicFramePr>
          <p:nvPr>
            <p:extLst>
              <p:ext uri="{D42A27DB-BD31-4B8C-83A1-F6EECF244321}">
                <p14:modId xmlns:p14="http://schemas.microsoft.com/office/powerpoint/2010/main" val="3951176911"/>
              </p:ext>
            </p:extLst>
          </p:nvPr>
        </p:nvGraphicFramePr>
        <p:xfrm>
          <a:off x="707338" y="1367423"/>
          <a:ext cx="10875061" cy="5984056"/>
        </p:xfrm>
        <a:graphic>
          <a:graphicData uri="http://schemas.openxmlformats.org/presentationml/2006/ole">
            <mc:AlternateContent xmlns:mc="http://schemas.openxmlformats.org/markup-compatibility/2006">
              <mc:Choice xmlns:v="urn:schemas-microsoft-com:vml" Requires="v">
                <p:oleObj name="Document" r:id="rId3" imgW="5940848" imgH="3365058" progId="Word.Document.12">
                  <p:embed/>
                </p:oleObj>
              </mc:Choice>
              <mc:Fallback>
                <p:oleObj name="Document" r:id="rId3" imgW="5940848" imgH="3365058" progId="Word.Document.12">
                  <p:embed/>
                  <p:pic>
                    <p:nvPicPr>
                      <p:cNvPr id="6" name="Object 5">
                        <a:extLst>
                          <a:ext uri="{FF2B5EF4-FFF2-40B4-BE49-F238E27FC236}">
                            <a16:creationId xmlns:a16="http://schemas.microsoft.com/office/drawing/2014/main" id="{642E130C-6B0A-4265-8BE4-B38309259F5B}"/>
                          </a:ext>
                        </a:extLst>
                      </p:cNvPr>
                      <p:cNvPicPr/>
                      <p:nvPr/>
                    </p:nvPicPr>
                    <p:blipFill>
                      <a:blip r:embed="rId4"/>
                      <a:stretch>
                        <a:fillRect/>
                      </a:stretch>
                    </p:blipFill>
                    <p:spPr>
                      <a:xfrm>
                        <a:off x="707338" y="1367423"/>
                        <a:ext cx="10875061" cy="5984056"/>
                      </a:xfrm>
                      <a:prstGeom prst="rect">
                        <a:avLst/>
                      </a:prstGeom>
                    </p:spPr>
                  </p:pic>
                </p:oleObj>
              </mc:Fallback>
            </mc:AlternateContent>
          </a:graphicData>
        </a:graphic>
      </p:graphicFrame>
    </p:spTree>
    <p:extLst>
      <p:ext uri="{BB962C8B-B14F-4D97-AF65-F5344CB8AC3E}">
        <p14:creationId xmlns:p14="http://schemas.microsoft.com/office/powerpoint/2010/main" val="947753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8320DE-8C6E-3BDF-6B88-562A2D5077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C3FA78-5E4F-CD31-DEF9-67A49572735E}"/>
              </a:ext>
            </a:extLst>
          </p:cNvPr>
          <p:cNvSpPr>
            <a:spLocks noGrp="1"/>
          </p:cNvSpPr>
          <p:nvPr>
            <p:ph type="title"/>
          </p:nvPr>
        </p:nvSpPr>
        <p:spPr/>
        <p:txBody>
          <a:bodyPr vert="horz" lIns="91440" tIns="45720" rIns="91440" bIns="45720" rtlCol="0" anchor="b">
            <a:normAutofit/>
          </a:bodyPr>
          <a:lstStyle/>
          <a:p>
            <a:pPr algn="l">
              <a:lnSpc>
                <a:spcPct val="90000"/>
              </a:lnSpc>
            </a:pPr>
            <a:r>
              <a:rPr lang="en-US" dirty="0">
                <a:latin typeface="Franklin Gothic Demi" panose="020B0703020102020204" pitchFamily="34" charset="0"/>
              </a:rPr>
              <a:t>Design Grid (3x3x3x4=108)</a:t>
            </a:r>
          </a:p>
        </p:txBody>
      </p:sp>
      <p:graphicFrame>
        <p:nvGraphicFramePr>
          <p:cNvPr id="3" name="Table 3">
            <a:extLst>
              <a:ext uri="{FF2B5EF4-FFF2-40B4-BE49-F238E27FC236}">
                <a16:creationId xmlns:a16="http://schemas.microsoft.com/office/drawing/2014/main" id="{DC9842AA-039C-470C-A6F9-598614EBB2BC}"/>
              </a:ext>
            </a:extLst>
          </p:cNvPr>
          <p:cNvGraphicFramePr>
            <a:graphicFrameLocks noGrp="1"/>
          </p:cNvGraphicFramePr>
          <p:nvPr>
            <p:extLst>
              <p:ext uri="{D42A27DB-BD31-4B8C-83A1-F6EECF244321}">
                <p14:modId xmlns:p14="http://schemas.microsoft.com/office/powerpoint/2010/main" val="3365963968"/>
              </p:ext>
            </p:extLst>
          </p:nvPr>
        </p:nvGraphicFramePr>
        <p:xfrm>
          <a:off x="705114" y="1844926"/>
          <a:ext cx="10476032" cy="2494280"/>
        </p:xfrm>
        <a:graphic>
          <a:graphicData uri="http://schemas.openxmlformats.org/drawingml/2006/table">
            <a:tbl>
              <a:tblPr firstRow="1" bandRow="1">
                <a:tableStyleId>{2D5ABB26-0587-4C30-8999-92F81FD0307C}</a:tableStyleId>
              </a:tblPr>
              <a:tblGrid>
                <a:gridCol w="3102957">
                  <a:extLst>
                    <a:ext uri="{9D8B030D-6E8A-4147-A177-3AD203B41FA5}">
                      <a16:colId xmlns:a16="http://schemas.microsoft.com/office/drawing/2014/main" val="629147647"/>
                    </a:ext>
                  </a:extLst>
                </a:gridCol>
                <a:gridCol w="2407534">
                  <a:extLst>
                    <a:ext uri="{9D8B030D-6E8A-4147-A177-3AD203B41FA5}">
                      <a16:colId xmlns:a16="http://schemas.microsoft.com/office/drawing/2014/main" val="3782662418"/>
                    </a:ext>
                  </a:extLst>
                </a:gridCol>
                <a:gridCol w="2615879">
                  <a:extLst>
                    <a:ext uri="{9D8B030D-6E8A-4147-A177-3AD203B41FA5}">
                      <a16:colId xmlns:a16="http://schemas.microsoft.com/office/drawing/2014/main" val="2349836200"/>
                    </a:ext>
                  </a:extLst>
                </a:gridCol>
                <a:gridCol w="2349662">
                  <a:extLst>
                    <a:ext uri="{9D8B030D-6E8A-4147-A177-3AD203B41FA5}">
                      <a16:colId xmlns:a16="http://schemas.microsoft.com/office/drawing/2014/main" val="1377075827"/>
                    </a:ext>
                  </a:extLst>
                </a:gridCol>
              </a:tblGrid>
              <a:tr h="370840">
                <a:tc>
                  <a:txBody>
                    <a:bodyPr/>
                    <a:lstStyle/>
                    <a:p>
                      <a:endParaRPr lang="en-US" b="1" dirty="0"/>
                    </a:p>
                  </a:txBody>
                  <a:tcP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gridSpan="3">
                  <a:txBody>
                    <a:bodyPr/>
                    <a:lstStyle/>
                    <a:p>
                      <a:pPr algn="ctr"/>
                      <a:r>
                        <a:rPr lang="en-US" b="1" dirty="0"/>
                        <a:t>Conditions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b="1"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b="1"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1567415"/>
                  </a:ext>
                </a:extLst>
              </a:tr>
              <a:tr h="370840">
                <a:tc>
                  <a:txBody>
                    <a:bodyPr/>
                    <a:lstStyle/>
                    <a:p>
                      <a:r>
                        <a:rPr lang="en-US" b="1" dirty="0"/>
                        <a:t>Treatment</a:t>
                      </a: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Sample Size</a:t>
                      </a:r>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Magnitude of Extreme Values</a:t>
                      </a:r>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Proportion of Extreme Values</a:t>
                      </a:r>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00614423"/>
                  </a:ext>
                </a:extLst>
              </a:tr>
              <a:tr h="370840">
                <a:tc>
                  <a:txBody>
                    <a:bodyPr/>
                    <a:lstStyle/>
                    <a:p>
                      <a:r>
                        <a:rPr lang="en-US" dirty="0"/>
                        <a:t>Raw</a:t>
                      </a:r>
                    </a:p>
                  </a:txBody>
                  <a:tcPr>
                    <a:lnT w="12700" cap="flat" cmpd="sng" algn="ctr">
                      <a:solidFill>
                        <a:schemeClr val="tx1"/>
                      </a:solidFill>
                      <a:prstDash val="solid"/>
                      <a:round/>
                      <a:headEnd type="none" w="med" len="med"/>
                      <a:tailEnd type="none" w="med" len="med"/>
                    </a:lnT>
                  </a:tcPr>
                </a:tc>
                <a:tc>
                  <a:txBody>
                    <a:bodyPr/>
                    <a:lstStyle/>
                    <a:p>
                      <a:r>
                        <a:rPr lang="en-US" dirty="0"/>
                        <a:t>Small (N=250)</a:t>
                      </a:r>
                    </a:p>
                  </a:txBody>
                  <a:tcPr>
                    <a:lnT w="12700" cap="flat" cmpd="sng" algn="ctr">
                      <a:solidFill>
                        <a:schemeClr val="tx1"/>
                      </a:solidFill>
                      <a:prstDash val="solid"/>
                      <a:round/>
                      <a:headEnd type="none" w="med" len="med"/>
                      <a:tailEnd type="none" w="med" len="med"/>
                    </a:lnT>
                  </a:tcPr>
                </a:tc>
                <a:tc>
                  <a:txBody>
                    <a:bodyPr/>
                    <a:lstStyle/>
                    <a:p>
                      <a:r>
                        <a:rPr lang="en-US" dirty="0"/>
                        <a:t>Small (50k to 1m)</a:t>
                      </a:r>
                    </a:p>
                  </a:txBody>
                  <a:tcPr>
                    <a:lnT w="12700" cap="flat" cmpd="sng" algn="ctr">
                      <a:solidFill>
                        <a:schemeClr val="tx1"/>
                      </a:solidFill>
                      <a:prstDash val="solid"/>
                      <a:round/>
                      <a:headEnd type="none" w="med" len="med"/>
                      <a:tailEnd type="none" w="med" len="med"/>
                    </a:lnT>
                  </a:tcPr>
                </a:tc>
                <a:tc>
                  <a:txBody>
                    <a:bodyPr/>
                    <a:lstStyle/>
                    <a:p>
                      <a:r>
                        <a:rPr lang="en-US" dirty="0"/>
                        <a:t>Small (1%)</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899421375"/>
                  </a:ext>
                </a:extLst>
              </a:tr>
              <a:tr h="370840">
                <a:tc>
                  <a:txBody>
                    <a:bodyPr/>
                    <a:lstStyle/>
                    <a:p>
                      <a:r>
                        <a:rPr lang="en-US" dirty="0"/>
                        <a:t>Topcoding</a:t>
                      </a:r>
                    </a:p>
                  </a:txBody>
                  <a:tcPr/>
                </a:tc>
                <a:tc>
                  <a:txBody>
                    <a:bodyPr/>
                    <a:lstStyle/>
                    <a:p>
                      <a:r>
                        <a:rPr lang="en-US" dirty="0"/>
                        <a:t>Moderate (N=1000)</a:t>
                      </a:r>
                    </a:p>
                  </a:txBody>
                  <a:tcPr/>
                </a:tc>
                <a:tc>
                  <a:txBody>
                    <a:bodyPr/>
                    <a:lstStyle/>
                    <a:p>
                      <a:r>
                        <a:rPr lang="en-US" dirty="0"/>
                        <a:t>Typical (50k to 2m)</a:t>
                      </a:r>
                    </a:p>
                  </a:txBody>
                  <a:tcPr/>
                </a:tc>
                <a:tc>
                  <a:txBody>
                    <a:bodyPr/>
                    <a:lstStyle/>
                    <a:p>
                      <a:r>
                        <a:rPr lang="en-US" dirty="0"/>
                        <a:t>Typical (5%)</a:t>
                      </a:r>
                    </a:p>
                  </a:txBody>
                  <a:tcPr/>
                </a:tc>
                <a:extLst>
                  <a:ext uri="{0D108BD9-81ED-4DB2-BD59-A6C34878D82A}">
                    <a16:rowId xmlns:a16="http://schemas.microsoft.com/office/drawing/2014/main" val="2762313734"/>
                  </a:ext>
                </a:extLst>
              </a:tr>
              <a:tr h="370840">
                <a:tc>
                  <a:txBody>
                    <a:bodyPr/>
                    <a:lstStyle/>
                    <a:p>
                      <a:r>
                        <a:rPr lang="en-US" dirty="0"/>
                        <a:t>Mean-Preserved Topcoding</a:t>
                      </a:r>
                    </a:p>
                  </a:txBody>
                  <a:tcPr/>
                </a:tc>
                <a:tc>
                  <a:txBody>
                    <a:bodyPr/>
                    <a:lstStyle/>
                    <a:p>
                      <a:r>
                        <a:rPr lang="en-US" dirty="0"/>
                        <a:t>Large (N=2000)</a:t>
                      </a:r>
                    </a:p>
                  </a:txBody>
                  <a:tcPr/>
                </a:tc>
                <a:tc>
                  <a:txBody>
                    <a:bodyPr/>
                    <a:lstStyle/>
                    <a:p>
                      <a:r>
                        <a:rPr lang="en-US" dirty="0"/>
                        <a:t>Large (50k to 3m)</a:t>
                      </a:r>
                    </a:p>
                  </a:txBody>
                  <a:tcPr/>
                </a:tc>
                <a:tc>
                  <a:txBody>
                    <a:bodyPr/>
                    <a:lstStyle/>
                    <a:p>
                      <a:r>
                        <a:rPr lang="en-US" dirty="0"/>
                        <a:t>Large (10%)</a:t>
                      </a:r>
                    </a:p>
                  </a:txBody>
                  <a:tcPr/>
                </a:tc>
                <a:extLst>
                  <a:ext uri="{0D108BD9-81ED-4DB2-BD59-A6C34878D82A}">
                    <a16:rowId xmlns:a16="http://schemas.microsoft.com/office/drawing/2014/main" val="897768246"/>
                  </a:ext>
                </a:extLst>
              </a:tr>
              <a:tr h="370840">
                <a:tc>
                  <a:txBody>
                    <a:bodyPr/>
                    <a:lstStyle/>
                    <a:p>
                      <a:r>
                        <a:rPr lang="en-US" dirty="0"/>
                        <a:t>Median-Preserved Topcoding</a:t>
                      </a:r>
                    </a:p>
                  </a:txBody>
                  <a:tcPr>
                    <a:lnB w="12700" cap="flat" cmpd="sng" algn="ctr">
                      <a:solidFill>
                        <a:schemeClr val="tx1"/>
                      </a:solidFill>
                      <a:prstDash val="solid"/>
                      <a:round/>
                      <a:headEnd type="none" w="med" len="med"/>
                      <a:tailEnd type="none" w="med" len="med"/>
                    </a:lnB>
                  </a:tcPr>
                </a:tc>
                <a:tc>
                  <a:txBody>
                    <a:bodyPr/>
                    <a:lstStyle/>
                    <a:p>
                      <a:endParaRPr lang="en-US" dirty="0"/>
                    </a:p>
                  </a:txBody>
                  <a:tcPr>
                    <a:lnB w="12700" cap="flat" cmpd="sng" algn="ctr">
                      <a:solidFill>
                        <a:schemeClr val="tx1"/>
                      </a:solidFill>
                      <a:prstDash val="solid"/>
                      <a:round/>
                      <a:headEnd type="none" w="med" len="med"/>
                      <a:tailEnd type="none" w="med" len="med"/>
                    </a:lnB>
                  </a:tcPr>
                </a:tc>
                <a:tc>
                  <a:txBody>
                    <a:bodyPr/>
                    <a:lstStyle/>
                    <a:p>
                      <a:endParaRPr lang="en-US" dirty="0"/>
                    </a:p>
                  </a:txBody>
                  <a:tcPr>
                    <a:lnB w="12700" cap="flat" cmpd="sng" algn="ctr">
                      <a:solidFill>
                        <a:schemeClr val="tx1"/>
                      </a:solidFill>
                      <a:prstDash val="solid"/>
                      <a:round/>
                      <a:headEnd type="none" w="med" len="med"/>
                      <a:tailEnd type="none" w="med" len="med"/>
                    </a:lnB>
                  </a:tcPr>
                </a:tc>
                <a:tc>
                  <a:txBody>
                    <a:bodyPr/>
                    <a:lstStyle/>
                    <a:p>
                      <a:endParaRPr lang="en-US"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2264060"/>
                  </a:ext>
                </a:extLst>
              </a:tr>
            </a:tbl>
          </a:graphicData>
        </a:graphic>
      </p:graphicFrame>
    </p:spTree>
    <p:extLst>
      <p:ext uri="{BB962C8B-B14F-4D97-AF65-F5344CB8AC3E}">
        <p14:creationId xmlns:p14="http://schemas.microsoft.com/office/powerpoint/2010/main" val="447210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8320DE-8C6E-3BDF-6B88-562A2D507735}"/>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9C3FA78-5E4F-CD31-DEF9-67A49572735E}"/>
              </a:ext>
            </a:extLst>
          </p:cNvPr>
          <p:cNvSpPr>
            <a:spLocks noGrp="1"/>
          </p:cNvSpPr>
          <p:nvPr>
            <p:ph type="title"/>
          </p:nvPr>
        </p:nvSpPr>
        <p:spPr>
          <a:xfrm>
            <a:off x="773408" y="992094"/>
            <a:ext cx="3616913" cy="2795160"/>
          </a:xfrm>
        </p:spPr>
        <p:txBody>
          <a:bodyPr vert="horz" lIns="91440" tIns="45720" rIns="91440" bIns="45720" rtlCol="0" anchor="b">
            <a:normAutofit/>
          </a:bodyPr>
          <a:lstStyle/>
          <a:p>
            <a:pPr defTabSz="914400">
              <a:lnSpc>
                <a:spcPct val="90000"/>
              </a:lnSpc>
            </a:pPr>
            <a:r>
              <a:rPr lang="en-US" kern="1200" dirty="0">
                <a:solidFill>
                  <a:schemeClr val="tx1"/>
                </a:solidFill>
                <a:latin typeface="+mj-lt"/>
                <a:ea typeface="+mj-ea"/>
                <a:cs typeface="+mj-cs"/>
              </a:rPr>
              <a:t>Experimental Conditions</a:t>
            </a:r>
          </a:p>
        </p:txBody>
      </p:sp>
      <p:pic>
        <p:nvPicPr>
          <p:cNvPr id="7" name="Picture 6">
            <a:extLst>
              <a:ext uri="{FF2B5EF4-FFF2-40B4-BE49-F238E27FC236}">
                <a16:creationId xmlns:a16="http://schemas.microsoft.com/office/drawing/2014/main" id="{E06DB17F-C4E7-76B8-F1C6-EB5E1D32D258}"/>
              </a:ext>
            </a:extLst>
          </p:cNvPr>
          <p:cNvPicPr>
            <a:picLocks noChangeAspect="1"/>
          </p:cNvPicPr>
          <p:nvPr/>
        </p:nvPicPr>
        <p:blipFill>
          <a:blip r:embed="rId3"/>
          <a:stretch>
            <a:fillRect/>
          </a:stretch>
        </p:blipFill>
        <p:spPr>
          <a:xfrm>
            <a:off x="5802086" y="263034"/>
            <a:ext cx="6253726" cy="5972307"/>
          </a:xfrm>
          <a:prstGeom prst="rect">
            <a:avLst/>
          </a:prstGeom>
        </p:spPr>
      </p:pic>
    </p:spTree>
    <p:extLst>
      <p:ext uri="{BB962C8B-B14F-4D97-AF65-F5344CB8AC3E}">
        <p14:creationId xmlns:p14="http://schemas.microsoft.com/office/powerpoint/2010/main" val="4094651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A0D55-77F2-A3D1-6C00-69AFC0094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5C5334-DB1A-C472-0A56-1B1D6C23C89F}"/>
              </a:ext>
            </a:extLst>
          </p:cNvPr>
          <p:cNvSpPr>
            <a:spLocks noGrp="1"/>
          </p:cNvSpPr>
          <p:nvPr>
            <p:ph type="title"/>
          </p:nvPr>
        </p:nvSpPr>
        <p:spPr/>
        <p:txBody>
          <a:bodyPr/>
          <a:lstStyle/>
          <a:p>
            <a:pPr algn="l"/>
            <a:r>
              <a:rPr lang="en-US" dirty="0">
                <a:latin typeface="Franklin Gothic Demi" panose="020B0703020102020204" pitchFamily="34" charset="0"/>
              </a:rPr>
              <a:t>Two-Part Model</a:t>
            </a:r>
            <a:endParaRPr dirty="0">
              <a:latin typeface="Franklin Gothic Demi" panose="020B0703020102020204" pitchFamily="34" charset="0"/>
            </a:endParaRPr>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916E46CA-BF9C-4C65-9178-9C66800F5AC9}"/>
                  </a:ext>
                </a:extLst>
              </p:cNvPr>
              <p:cNvGraphicFramePr>
                <a:graphicFrameLocks noGrp="1"/>
              </p:cNvGraphicFramePr>
              <p:nvPr>
                <p:ph idx="1"/>
                <p:extLst>
                  <p:ext uri="{D42A27DB-BD31-4B8C-83A1-F6EECF244321}">
                    <p14:modId xmlns:p14="http://schemas.microsoft.com/office/powerpoint/2010/main" val="1075170056"/>
                  </p:ext>
                </p:extLst>
              </p:nvPr>
            </p:nvGraphicFramePr>
            <p:xfrm>
              <a:off x="609601" y="1591259"/>
              <a:ext cx="10972799" cy="4072192"/>
            </p:xfrm>
            <a:graphic>
              <a:graphicData uri="http://schemas.openxmlformats.org/drawingml/2006/table">
                <a:tbl>
                  <a:tblPr firstRow="1" bandRow="1">
                    <a:tableStyleId>{2D5ABB26-0587-4C30-8999-92F81FD0307C}</a:tableStyleId>
                  </a:tblPr>
                  <a:tblGrid>
                    <a:gridCol w="10972799">
                      <a:extLst>
                        <a:ext uri="{9D8B030D-6E8A-4147-A177-3AD203B41FA5}">
                          <a16:colId xmlns:a16="http://schemas.microsoft.com/office/drawing/2014/main" val="4034303273"/>
                        </a:ext>
                      </a:extLst>
                    </a:gridCol>
                  </a:tblGrid>
                  <a:tr h="370840">
                    <a:tc>
                      <a:txBody>
                        <a:bodyPr/>
                        <a:lstStyle/>
                        <a:p>
                          <a:r>
                            <a:rPr lang="en-US" sz="2400" b="1" dirty="0"/>
                            <a:t>PART 1: Probability Model (binary outcome)</a:t>
                          </a:r>
                        </a:p>
                        <a:p>
                          <a:r>
                            <a:rPr lang="en-US" sz="2400" b="0" dirty="0"/>
                            <a:t>Logistic Regression to predict probability of positive cost value</a:t>
                          </a:r>
                        </a:p>
                      </a:txBody>
                      <a:tcPr/>
                    </a:tc>
                    <a:extLst>
                      <a:ext uri="{0D108BD9-81ED-4DB2-BD59-A6C34878D82A}">
                        <a16:rowId xmlns:a16="http://schemas.microsoft.com/office/drawing/2014/main" val="28970062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lang="en-US" sz="1800" i="1" kern="1200" smtClean="0">
                                        <a:solidFill>
                                          <a:schemeClr val="dk1"/>
                                        </a:solidFill>
                                        <a:effectLst/>
                                        <a:latin typeface="Cambria Math" panose="02040503050406030204" pitchFamily="18" charset="0"/>
                                      </a:rPr>
                                    </m:ctrlPr>
                                  </m:funcPr>
                                  <m:fName>
                                    <m:r>
                                      <m:rPr>
                                        <m:sty m:val="p"/>
                                      </m:rPr>
                                      <a:rPr lang="en-US" sz="1800" kern="1200">
                                        <a:solidFill>
                                          <a:schemeClr val="dk1"/>
                                        </a:solidFill>
                                        <a:effectLst/>
                                        <a:latin typeface="Cambria Math" panose="02040503050406030204" pitchFamily="18" charset="0"/>
                                      </a:rPr>
                                      <m:t>log</m:t>
                                    </m:r>
                                  </m:fName>
                                  <m:e>
                                    <m:d>
                                      <m:dPr>
                                        <m:ctrlPr>
                                          <a:rPr lang="en-US" sz="1800" i="1" kern="1200">
                                            <a:solidFill>
                                              <a:schemeClr val="dk1"/>
                                            </a:solidFill>
                                            <a:effectLst/>
                                            <a:latin typeface="Cambria Math" panose="02040503050406030204" pitchFamily="18" charset="0"/>
                                          </a:rPr>
                                        </m:ctrlPr>
                                      </m:dPr>
                                      <m:e>
                                        <m:f>
                                          <m:fPr>
                                            <m:ctrlPr>
                                              <a:rPr lang="en-US" sz="1800" i="1" kern="1200">
                                                <a:solidFill>
                                                  <a:schemeClr val="dk1"/>
                                                </a:solidFill>
                                                <a:effectLst/>
                                                <a:latin typeface="Cambria Math" panose="02040503050406030204" pitchFamily="18" charset="0"/>
                                              </a:rPr>
                                            </m:ctrlPr>
                                          </m:fPr>
                                          <m:num>
                                            <m:func>
                                              <m:funcPr>
                                                <m:ctrlPr>
                                                  <a:rPr lang="en-US" sz="1800" i="1" kern="1200">
                                                    <a:solidFill>
                                                      <a:schemeClr val="dk1"/>
                                                    </a:solidFill>
                                                    <a:effectLst/>
                                                    <a:latin typeface="Cambria Math" panose="02040503050406030204" pitchFamily="18" charset="0"/>
                                                  </a:rPr>
                                                </m:ctrlPr>
                                              </m:funcPr>
                                              <m:fName>
                                                <m:r>
                                                  <a:rPr lang="en-US" sz="1800" kern="1200">
                                                    <a:solidFill>
                                                      <a:schemeClr val="dk1"/>
                                                    </a:solidFill>
                                                    <a:effectLst/>
                                                    <a:latin typeface="Cambria Math" panose="02040503050406030204" pitchFamily="18" charset="0"/>
                                                  </a:rPr>
                                                  <m:t>𝑃𝑟</m:t>
                                                </m:r>
                                              </m:fName>
                                              <m:e>
                                                <m:d>
                                                  <m:dPr>
                                                    <m:ctrlPr>
                                                      <a:rPr lang="en-US" sz="1800" i="1" kern="1200">
                                                        <a:solidFill>
                                                          <a:schemeClr val="dk1"/>
                                                        </a:solidFill>
                                                        <a:effectLst/>
                                                        <a:latin typeface="Cambria Math" panose="02040503050406030204" pitchFamily="18" charset="0"/>
                                                      </a:rPr>
                                                    </m:ctrlPr>
                                                  </m:dPr>
                                                  <m:e>
                                                    <m:sSub>
                                                      <m:sSubPr>
                                                        <m:ctrlPr>
                                                          <a:rPr lang="en-US" sz="1800" i="1" kern="1200">
                                                            <a:solidFill>
                                                              <a:schemeClr val="dk1"/>
                                                            </a:solidFill>
                                                            <a:effectLst/>
                                                            <a:latin typeface="Cambria Math" panose="02040503050406030204" pitchFamily="18" charset="0"/>
                                                          </a:rPr>
                                                        </m:ctrlPr>
                                                      </m:sSubPr>
                                                      <m:e>
                                                        <m:r>
                                                          <a:rPr lang="en-US" sz="1800" kern="1200">
                                                            <a:solidFill>
                                                              <a:schemeClr val="dk1"/>
                                                            </a:solidFill>
                                                            <a:effectLst/>
                                                            <a:latin typeface="Cambria Math" panose="02040503050406030204" pitchFamily="18" charset="0"/>
                                                          </a:rPr>
                                                          <m:t>𝑌</m:t>
                                                        </m:r>
                                                      </m:e>
                                                      <m:sub>
                                                        <m:r>
                                                          <a:rPr lang="en-US" sz="1800" kern="1200">
                                                            <a:solidFill>
                                                              <a:schemeClr val="dk1"/>
                                                            </a:solidFill>
                                                            <a:effectLst/>
                                                            <a:latin typeface="Cambria Math" panose="02040503050406030204" pitchFamily="18" charset="0"/>
                                                          </a:rPr>
                                                          <m:t>𝑖𝑡</m:t>
                                                        </m:r>
                                                      </m:sub>
                                                    </m:sSub>
                                                    <m:r>
                                                      <a:rPr lang="en-US" sz="1800" kern="1200">
                                                        <a:solidFill>
                                                          <a:schemeClr val="dk1"/>
                                                        </a:solidFill>
                                                        <a:effectLst/>
                                                        <a:latin typeface="Cambria Math" panose="02040503050406030204" pitchFamily="18" charset="0"/>
                                                      </a:rPr>
                                                      <m:t>=1</m:t>
                                                    </m:r>
                                                  </m:e>
                                                </m:d>
                                              </m:e>
                                            </m:func>
                                          </m:num>
                                          <m:den>
                                            <m:r>
                                              <a:rPr lang="en-US" sz="1800" kern="1200">
                                                <a:solidFill>
                                                  <a:schemeClr val="dk1"/>
                                                </a:solidFill>
                                                <a:effectLst/>
                                                <a:latin typeface="Cambria Math" panose="02040503050406030204" pitchFamily="18" charset="0"/>
                                              </a:rPr>
                                              <m:t>1−</m:t>
                                            </m:r>
                                            <m:func>
                                              <m:funcPr>
                                                <m:ctrlPr>
                                                  <a:rPr lang="en-US" sz="1800" i="1" kern="1200">
                                                    <a:solidFill>
                                                      <a:schemeClr val="dk1"/>
                                                    </a:solidFill>
                                                    <a:effectLst/>
                                                    <a:latin typeface="Cambria Math" panose="02040503050406030204" pitchFamily="18" charset="0"/>
                                                  </a:rPr>
                                                </m:ctrlPr>
                                              </m:funcPr>
                                              <m:fName>
                                                <m:r>
                                                  <a:rPr lang="en-US" sz="1800" kern="1200">
                                                    <a:solidFill>
                                                      <a:schemeClr val="dk1"/>
                                                    </a:solidFill>
                                                    <a:effectLst/>
                                                    <a:latin typeface="Cambria Math" panose="02040503050406030204" pitchFamily="18" charset="0"/>
                                                  </a:rPr>
                                                  <m:t>𝑃𝑟</m:t>
                                                </m:r>
                                              </m:fName>
                                              <m:e>
                                                <m:d>
                                                  <m:dPr>
                                                    <m:ctrlPr>
                                                      <a:rPr lang="en-US" sz="1800" i="1" kern="1200">
                                                        <a:solidFill>
                                                          <a:schemeClr val="dk1"/>
                                                        </a:solidFill>
                                                        <a:effectLst/>
                                                        <a:latin typeface="Cambria Math" panose="02040503050406030204" pitchFamily="18" charset="0"/>
                                                      </a:rPr>
                                                    </m:ctrlPr>
                                                  </m:dPr>
                                                  <m:e>
                                                    <m:sSub>
                                                      <m:sSubPr>
                                                        <m:ctrlPr>
                                                          <a:rPr lang="en-US" sz="1800" i="1" kern="1200">
                                                            <a:solidFill>
                                                              <a:schemeClr val="dk1"/>
                                                            </a:solidFill>
                                                            <a:effectLst/>
                                                            <a:latin typeface="Cambria Math" panose="02040503050406030204" pitchFamily="18" charset="0"/>
                                                          </a:rPr>
                                                        </m:ctrlPr>
                                                      </m:sSubPr>
                                                      <m:e>
                                                        <m:r>
                                                          <a:rPr lang="en-US" sz="1800" kern="1200">
                                                            <a:solidFill>
                                                              <a:schemeClr val="dk1"/>
                                                            </a:solidFill>
                                                            <a:effectLst/>
                                                            <a:latin typeface="Cambria Math" panose="02040503050406030204" pitchFamily="18" charset="0"/>
                                                          </a:rPr>
                                                          <m:t>𝑌</m:t>
                                                        </m:r>
                                                      </m:e>
                                                      <m:sub>
                                                        <m:r>
                                                          <a:rPr lang="en-US" sz="1800" kern="1200">
                                                            <a:solidFill>
                                                              <a:schemeClr val="dk1"/>
                                                            </a:solidFill>
                                                            <a:effectLst/>
                                                            <a:latin typeface="Cambria Math" panose="02040503050406030204" pitchFamily="18" charset="0"/>
                                                          </a:rPr>
                                                          <m:t>𝑖𝑡</m:t>
                                                        </m:r>
                                                      </m:sub>
                                                    </m:sSub>
                                                    <m:r>
                                                      <a:rPr lang="en-US" sz="1800" kern="1200">
                                                        <a:solidFill>
                                                          <a:schemeClr val="dk1"/>
                                                        </a:solidFill>
                                                        <a:effectLst/>
                                                        <a:latin typeface="Cambria Math" panose="02040503050406030204" pitchFamily="18" charset="0"/>
                                                      </a:rPr>
                                                      <m:t>=1</m:t>
                                                    </m:r>
                                                  </m:e>
                                                </m:d>
                                              </m:e>
                                            </m:func>
                                          </m:den>
                                        </m:f>
                                      </m:e>
                                    </m:d>
                                  </m:e>
                                </m:func>
                                <m:r>
                                  <a:rPr lang="en-US" sz="1800" kern="1200">
                                    <a:solidFill>
                                      <a:schemeClr val="dk1"/>
                                    </a:solidFill>
                                    <a:effectLst/>
                                    <a:latin typeface="Cambria Math" panose="02040503050406030204" pitchFamily="18" charset="0"/>
                                  </a:rPr>
                                  <m:t>= </m:t>
                                </m:r>
                                <m:sSub>
                                  <m:sSubPr>
                                    <m:ctrlPr>
                                      <a:rPr lang="en-US" sz="1800" i="1" kern="1200">
                                        <a:solidFill>
                                          <a:schemeClr val="dk1"/>
                                        </a:solidFill>
                                        <a:effectLst/>
                                        <a:latin typeface="Cambria Math" panose="02040503050406030204" pitchFamily="18" charset="0"/>
                                      </a:rPr>
                                    </m:ctrlPr>
                                  </m:sSubPr>
                                  <m:e>
                                    <m:r>
                                      <a:rPr lang="en-US" sz="1800" kern="1200">
                                        <a:solidFill>
                                          <a:schemeClr val="dk1"/>
                                        </a:solidFill>
                                        <a:effectLst/>
                                        <a:latin typeface="Cambria Math" panose="02040503050406030204" pitchFamily="18" charset="0"/>
                                      </a:rPr>
                                      <m:t>𝛽</m:t>
                                    </m:r>
                                  </m:e>
                                  <m:sub>
                                    <m:r>
                                      <a:rPr lang="en-US" sz="1800" kern="1200">
                                        <a:solidFill>
                                          <a:schemeClr val="dk1"/>
                                        </a:solidFill>
                                        <a:effectLst/>
                                        <a:latin typeface="Cambria Math" panose="02040503050406030204" pitchFamily="18" charset="0"/>
                                      </a:rPr>
                                      <m:t>0</m:t>
                                    </m:r>
                                  </m:sub>
                                </m:sSub>
                                <m:r>
                                  <a:rPr lang="en-US" sz="1800" kern="1200">
                                    <a:solidFill>
                                      <a:schemeClr val="dk1"/>
                                    </a:solidFill>
                                    <a:effectLst/>
                                    <a:latin typeface="Cambria Math" panose="02040503050406030204" pitchFamily="18" charset="0"/>
                                  </a:rPr>
                                  <m:t>+ </m:t>
                                </m:r>
                                <m:sSub>
                                  <m:sSubPr>
                                    <m:ctrlPr>
                                      <a:rPr lang="en-US" sz="1800" i="1" kern="1200">
                                        <a:solidFill>
                                          <a:schemeClr val="dk1"/>
                                        </a:solidFill>
                                        <a:effectLst/>
                                        <a:latin typeface="Cambria Math" panose="02040503050406030204" pitchFamily="18" charset="0"/>
                                      </a:rPr>
                                    </m:ctrlPr>
                                  </m:sSubPr>
                                  <m:e>
                                    <m:r>
                                      <a:rPr lang="en-US" sz="1800" kern="1200">
                                        <a:solidFill>
                                          <a:schemeClr val="dk1"/>
                                        </a:solidFill>
                                        <a:effectLst/>
                                        <a:latin typeface="Cambria Math" panose="02040503050406030204" pitchFamily="18" charset="0"/>
                                      </a:rPr>
                                      <m:t>𝛽</m:t>
                                    </m:r>
                                  </m:e>
                                  <m:sub>
                                    <m:r>
                                      <a:rPr lang="en-US" sz="1800" kern="1200">
                                        <a:solidFill>
                                          <a:schemeClr val="dk1"/>
                                        </a:solidFill>
                                        <a:effectLst/>
                                        <a:latin typeface="Cambria Math" panose="02040503050406030204" pitchFamily="18" charset="0"/>
                                      </a:rPr>
                                      <m:t>1</m:t>
                                    </m:r>
                                  </m:sub>
                                </m:sSub>
                                <m:r>
                                  <a:rPr lang="en-US" sz="1800" kern="1200">
                                    <a:solidFill>
                                      <a:schemeClr val="dk1"/>
                                    </a:solidFill>
                                    <a:effectLst/>
                                    <a:latin typeface="Cambria Math" panose="02040503050406030204" pitchFamily="18" charset="0"/>
                                  </a:rPr>
                                  <m:t>𝑝𝑟𝑒𝑝𝑜𝑠</m:t>
                                </m:r>
                                <m:sSub>
                                  <m:sSubPr>
                                    <m:ctrlPr>
                                      <a:rPr lang="en-US" sz="1800" i="1" kern="1200">
                                        <a:solidFill>
                                          <a:schemeClr val="dk1"/>
                                        </a:solidFill>
                                        <a:effectLst/>
                                        <a:latin typeface="Cambria Math" panose="02040503050406030204" pitchFamily="18" charset="0"/>
                                      </a:rPr>
                                    </m:ctrlPr>
                                  </m:sSubPr>
                                  <m:e>
                                    <m:r>
                                      <a:rPr lang="en-US" sz="1800" kern="1200">
                                        <a:solidFill>
                                          <a:schemeClr val="dk1"/>
                                        </a:solidFill>
                                        <a:effectLst/>
                                        <a:latin typeface="Cambria Math" panose="02040503050406030204" pitchFamily="18" charset="0"/>
                                      </a:rPr>
                                      <m:t>𝑡</m:t>
                                    </m:r>
                                  </m:e>
                                  <m:sub>
                                    <m:r>
                                      <a:rPr lang="en-US" sz="1800" kern="1200">
                                        <a:solidFill>
                                          <a:schemeClr val="dk1"/>
                                        </a:solidFill>
                                        <a:effectLst/>
                                        <a:latin typeface="Cambria Math" panose="02040503050406030204" pitchFamily="18" charset="0"/>
                                      </a:rPr>
                                      <m:t>𝑖</m:t>
                                    </m:r>
                                  </m:sub>
                                </m:sSub>
                                <m:r>
                                  <a:rPr lang="en-US" sz="1800" kern="1200">
                                    <a:solidFill>
                                      <a:schemeClr val="dk1"/>
                                    </a:solidFill>
                                    <a:effectLst/>
                                    <a:latin typeface="Cambria Math" panose="02040503050406030204" pitchFamily="18" charset="0"/>
                                  </a:rPr>
                                  <m:t>+ </m:t>
                                </m:r>
                                <m:sSub>
                                  <m:sSubPr>
                                    <m:ctrlPr>
                                      <a:rPr lang="en-US" sz="1800" i="1" kern="1200">
                                        <a:solidFill>
                                          <a:schemeClr val="dk1"/>
                                        </a:solidFill>
                                        <a:effectLst/>
                                        <a:latin typeface="Cambria Math" panose="02040503050406030204" pitchFamily="18" charset="0"/>
                                      </a:rPr>
                                    </m:ctrlPr>
                                  </m:sSubPr>
                                  <m:e>
                                    <m:r>
                                      <a:rPr lang="en-US" sz="1800" kern="1200">
                                        <a:solidFill>
                                          <a:schemeClr val="dk1"/>
                                        </a:solidFill>
                                        <a:effectLst/>
                                        <a:latin typeface="Cambria Math" panose="02040503050406030204" pitchFamily="18" charset="0"/>
                                      </a:rPr>
                                      <m:t>𝛽</m:t>
                                    </m:r>
                                  </m:e>
                                  <m:sub>
                                    <m:r>
                                      <a:rPr lang="en-US" sz="1800" kern="1200">
                                        <a:solidFill>
                                          <a:schemeClr val="dk1"/>
                                        </a:solidFill>
                                        <a:effectLst/>
                                        <a:latin typeface="Cambria Math" panose="02040503050406030204" pitchFamily="18" charset="0"/>
                                      </a:rPr>
                                      <m:t>2</m:t>
                                    </m:r>
                                  </m:sub>
                                </m:sSub>
                                <m:r>
                                  <a:rPr lang="en-US" sz="1800" kern="1200">
                                    <a:solidFill>
                                      <a:schemeClr val="dk1"/>
                                    </a:solidFill>
                                    <a:effectLst/>
                                    <a:latin typeface="Cambria Math" panose="02040503050406030204" pitchFamily="18" charset="0"/>
                                  </a:rPr>
                                  <m:t>𝑡𝑟𝑒𝑎𝑡𝑚𝑒𝑛</m:t>
                                </m:r>
                                <m:sSub>
                                  <m:sSubPr>
                                    <m:ctrlPr>
                                      <a:rPr lang="en-US" sz="1800" i="1" kern="1200">
                                        <a:solidFill>
                                          <a:schemeClr val="dk1"/>
                                        </a:solidFill>
                                        <a:effectLst/>
                                        <a:latin typeface="Cambria Math" panose="02040503050406030204" pitchFamily="18" charset="0"/>
                                      </a:rPr>
                                    </m:ctrlPr>
                                  </m:sSubPr>
                                  <m:e>
                                    <m:r>
                                      <a:rPr lang="en-US" sz="1800" kern="1200">
                                        <a:solidFill>
                                          <a:schemeClr val="dk1"/>
                                        </a:solidFill>
                                        <a:effectLst/>
                                        <a:latin typeface="Cambria Math" panose="02040503050406030204" pitchFamily="18" charset="0"/>
                                      </a:rPr>
                                      <m:t>𝑡</m:t>
                                    </m:r>
                                  </m:e>
                                  <m:sub>
                                    <m:r>
                                      <a:rPr lang="en-US" sz="1800" kern="1200">
                                        <a:solidFill>
                                          <a:schemeClr val="dk1"/>
                                        </a:solidFill>
                                        <a:effectLst/>
                                        <a:latin typeface="Cambria Math" panose="02040503050406030204" pitchFamily="18" charset="0"/>
                                      </a:rPr>
                                      <m:t>𝑖</m:t>
                                    </m:r>
                                  </m:sub>
                                </m:sSub>
                                <m:r>
                                  <a:rPr lang="en-US" sz="1800" kern="1200">
                                    <a:solidFill>
                                      <a:schemeClr val="dk1"/>
                                    </a:solidFill>
                                    <a:effectLst/>
                                    <a:latin typeface="Cambria Math" panose="02040503050406030204" pitchFamily="18" charset="0"/>
                                  </a:rPr>
                                  <m:t>+</m:t>
                                </m:r>
                                <m:sSub>
                                  <m:sSubPr>
                                    <m:ctrlPr>
                                      <a:rPr lang="en-US" sz="1800" i="1" kern="1200">
                                        <a:solidFill>
                                          <a:schemeClr val="dk1"/>
                                        </a:solidFill>
                                        <a:effectLst/>
                                        <a:latin typeface="Cambria Math" panose="02040503050406030204" pitchFamily="18" charset="0"/>
                                      </a:rPr>
                                    </m:ctrlPr>
                                  </m:sSubPr>
                                  <m:e>
                                    <m:r>
                                      <a:rPr lang="en-US" sz="1800" kern="1200">
                                        <a:solidFill>
                                          <a:schemeClr val="dk1"/>
                                        </a:solidFill>
                                        <a:effectLst/>
                                        <a:latin typeface="Cambria Math" panose="02040503050406030204" pitchFamily="18" charset="0"/>
                                      </a:rPr>
                                      <m:t>𝛽</m:t>
                                    </m:r>
                                  </m:e>
                                  <m:sub>
                                    <m:r>
                                      <a:rPr lang="en-US" sz="1800" kern="1200">
                                        <a:solidFill>
                                          <a:schemeClr val="dk1"/>
                                        </a:solidFill>
                                        <a:effectLst/>
                                        <a:latin typeface="Cambria Math" panose="02040503050406030204" pitchFamily="18" charset="0"/>
                                      </a:rPr>
                                      <m:t>3</m:t>
                                    </m:r>
                                  </m:sub>
                                </m:sSub>
                                <m:r>
                                  <a:rPr lang="en-US" sz="1800" kern="1200">
                                    <a:solidFill>
                                      <a:schemeClr val="dk1"/>
                                    </a:solidFill>
                                    <a:effectLst/>
                                    <a:latin typeface="Cambria Math" panose="02040503050406030204" pitchFamily="18" charset="0"/>
                                  </a:rPr>
                                  <m:t>∗</m:t>
                                </m:r>
                                <m:d>
                                  <m:dPr>
                                    <m:ctrlPr>
                                      <a:rPr lang="en-US" sz="1800" i="1" kern="1200">
                                        <a:solidFill>
                                          <a:schemeClr val="dk1"/>
                                        </a:solidFill>
                                        <a:effectLst/>
                                        <a:latin typeface="Cambria Math" panose="02040503050406030204" pitchFamily="18" charset="0"/>
                                      </a:rPr>
                                    </m:ctrlPr>
                                  </m:dPr>
                                  <m:e>
                                    <m:r>
                                      <a:rPr lang="en-US" sz="1800" kern="1200">
                                        <a:solidFill>
                                          <a:schemeClr val="dk1"/>
                                        </a:solidFill>
                                        <a:effectLst/>
                                        <a:latin typeface="Cambria Math" panose="02040503050406030204" pitchFamily="18" charset="0"/>
                                      </a:rPr>
                                      <m:t>𝑝𝑟𝑒𝑝𝑜𝑠</m:t>
                                    </m:r>
                                    <m:sSub>
                                      <m:sSubPr>
                                        <m:ctrlPr>
                                          <a:rPr lang="en-US" sz="1800" i="1" kern="1200">
                                            <a:solidFill>
                                              <a:schemeClr val="dk1"/>
                                            </a:solidFill>
                                            <a:effectLst/>
                                            <a:latin typeface="Cambria Math" panose="02040503050406030204" pitchFamily="18" charset="0"/>
                                          </a:rPr>
                                        </m:ctrlPr>
                                      </m:sSubPr>
                                      <m:e>
                                        <m:r>
                                          <a:rPr lang="en-US" sz="1800" kern="1200">
                                            <a:solidFill>
                                              <a:schemeClr val="dk1"/>
                                            </a:solidFill>
                                            <a:effectLst/>
                                            <a:latin typeface="Cambria Math" panose="02040503050406030204" pitchFamily="18" charset="0"/>
                                          </a:rPr>
                                          <m:t>𝑡</m:t>
                                        </m:r>
                                      </m:e>
                                      <m:sub>
                                        <m:r>
                                          <a:rPr lang="en-US" sz="1800" kern="1200">
                                            <a:solidFill>
                                              <a:schemeClr val="dk1"/>
                                            </a:solidFill>
                                            <a:effectLst/>
                                            <a:latin typeface="Cambria Math" panose="02040503050406030204" pitchFamily="18" charset="0"/>
                                          </a:rPr>
                                          <m:t>𝑖</m:t>
                                        </m:r>
                                      </m:sub>
                                    </m:sSub>
                                    <m:r>
                                      <a:rPr lang="en-US" sz="1800" kern="1200">
                                        <a:solidFill>
                                          <a:schemeClr val="dk1"/>
                                        </a:solidFill>
                                        <a:effectLst/>
                                        <a:latin typeface="Cambria Math" panose="02040503050406030204" pitchFamily="18" charset="0"/>
                                      </a:rPr>
                                      <m:t>∗</m:t>
                                    </m:r>
                                    <m:r>
                                      <a:rPr lang="en-US" sz="1800" kern="1200">
                                        <a:solidFill>
                                          <a:schemeClr val="dk1"/>
                                        </a:solidFill>
                                        <a:effectLst/>
                                        <a:latin typeface="Cambria Math" panose="02040503050406030204" pitchFamily="18" charset="0"/>
                                      </a:rPr>
                                      <m:t>𝑡𝑟𝑒𝑎𝑡𝑚𝑒𝑛</m:t>
                                    </m:r>
                                    <m:sSub>
                                      <m:sSubPr>
                                        <m:ctrlPr>
                                          <a:rPr lang="en-US" sz="1800" i="1" kern="1200">
                                            <a:solidFill>
                                              <a:schemeClr val="dk1"/>
                                            </a:solidFill>
                                            <a:effectLst/>
                                            <a:latin typeface="Cambria Math" panose="02040503050406030204" pitchFamily="18" charset="0"/>
                                          </a:rPr>
                                        </m:ctrlPr>
                                      </m:sSubPr>
                                      <m:e>
                                        <m:r>
                                          <a:rPr lang="en-US" sz="1800" kern="1200">
                                            <a:solidFill>
                                              <a:schemeClr val="dk1"/>
                                            </a:solidFill>
                                            <a:effectLst/>
                                            <a:latin typeface="Cambria Math" panose="02040503050406030204" pitchFamily="18" charset="0"/>
                                          </a:rPr>
                                          <m:t>𝑡</m:t>
                                        </m:r>
                                      </m:e>
                                      <m:sub>
                                        <m:r>
                                          <a:rPr lang="en-US" sz="1800" kern="1200">
                                            <a:solidFill>
                                              <a:schemeClr val="dk1"/>
                                            </a:solidFill>
                                            <a:effectLst/>
                                            <a:latin typeface="Cambria Math" panose="02040503050406030204" pitchFamily="18" charset="0"/>
                                          </a:rPr>
                                          <m:t>𝑖</m:t>
                                        </m:r>
                                      </m:sub>
                                    </m:sSub>
                                  </m:e>
                                </m:d>
                                <m:r>
                                  <a:rPr lang="en-US" sz="1800" kern="1200">
                                    <a:solidFill>
                                      <a:schemeClr val="dk1"/>
                                    </a:solidFill>
                                    <a:effectLst/>
                                    <a:latin typeface="Cambria Math" panose="02040503050406030204" pitchFamily="18" charset="0"/>
                                  </a:rPr>
                                  <m:t>+ </m:t>
                                </m:r>
                                <m:sSub>
                                  <m:sSubPr>
                                    <m:ctrlPr>
                                      <a:rPr lang="en-US" sz="1800" i="1" kern="1200">
                                        <a:solidFill>
                                          <a:schemeClr val="dk1"/>
                                        </a:solidFill>
                                        <a:effectLst/>
                                        <a:latin typeface="Cambria Math" panose="02040503050406030204" pitchFamily="18" charset="0"/>
                                      </a:rPr>
                                    </m:ctrlPr>
                                  </m:sSubPr>
                                  <m:e>
                                    <m:r>
                                      <a:rPr lang="en-US" sz="1800" kern="1200">
                                        <a:solidFill>
                                          <a:schemeClr val="dk1"/>
                                        </a:solidFill>
                                        <a:effectLst/>
                                        <a:latin typeface="Cambria Math" panose="02040503050406030204" pitchFamily="18" charset="0"/>
                                      </a:rPr>
                                      <m:t>𝛽</m:t>
                                    </m:r>
                                  </m:e>
                                  <m:sub>
                                    <m:r>
                                      <a:rPr lang="en-US" sz="1800" kern="1200">
                                        <a:solidFill>
                                          <a:schemeClr val="dk1"/>
                                        </a:solidFill>
                                        <a:effectLst/>
                                        <a:latin typeface="Cambria Math" panose="02040503050406030204" pitchFamily="18" charset="0"/>
                                      </a:rPr>
                                      <m:t>4</m:t>
                                    </m:r>
                                  </m:sub>
                                </m:sSub>
                                <m:r>
                                  <a:rPr lang="en-US" sz="1800" kern="1200">
                                    <a:solidFill>
                                      <a:schemeClr val="dk1"/>
                                    </a:solidFill>
                                    <a:effectLst/>
                                    <a:latin typeface="Cambria Math" panose="02040503050406030204" pitchFamily="18" charset="0"/>
                                  </a:rPr>
                                  <m:t>𝑓𝑒𝑚𝑎𝑙</m:t>
                                </m:r>
                                <m:sSub>
                                  <m:sSubPr>
                                    <m:ctrlPr>
                                      <a:rPr lang="en-US" sz="1800" i="1" kern="1200">
                                        <a:solidFill>
                                          <a:schemeClr val="dk1"/>
                                        </a:solidFill>
                                        <a:effectLst/>
                                        <a:latin typeface="Cambria Math" panose="02040503050406030204" pitchFamily="18" charset="0"/>
                                      </a:rPr>
                                    </m:ctrlPr>
                                  </m:sSubPr>
                                  <m:e>
                                    <m:r>
                                      <a:rPr lang="en-US" sz="1800" kern="1200">
                                        <a:solidFill>
                                          <a:schemeClr val="dk1"/>
                                        </a:solidFill>
                                        <a:effectLst/>
                                        <a:latin typeface="Cambria Math" panose="02040503050406030204" pitchFamily="18" charset="0"/>
                                      </a:rPr>
                                      <m:t>𝑒</m:t>
                                    </m:r>
                                  </m:e>
                                  <m:sub>
                                    <m:r>
                                      <a:rPr lang="en-US" sz="1800" kern="1200">
                                        <a:solidFill>
                                          <a:schemeClr val="dk1"/>
                                        </a:solidFill>
                                        <a:effectLst/>
                                        <a:latin typeface="Cambria Math" panose="02040503050406030204" pitchFamily="18" charset="0"/>
                                      </a:rPr>
                                      <m:t>𝑖</m:t>
                                    </m:r>
                                  </m:sub>
                                </m:sSub>
                                <m:r>
                                  <a:rPr lang="en-US" sz="1800" kern="1200">
                                    <a:solidFill>
                                      <a:schemeClr val="dk1"/>
                                    </a:solidFill>
                                    <a:effectLst/>
                                    <a:latin typeface="Cambria Math" panose="02040503050406030204" pitchFamily="18" charset="0"/>
                                  </a:rPr>
                                  <m:t>+</m:t>
                                </m:r>
                                <m:sSub>
                                  <m:sSubPr>
                                    <m:ctrlPr>
                                      <a:rPr lang="en-US" sz="1800" i="1" kern="1200">
                                        <a:solidFill>
                                          <a:schemeClr val="dk1"/>
                                        </a:solidFill>
                                        <a:effectLst/>
                                        <a:latin typeface="Cambria Math" panose="02040503050406030204" pitchFamily="18" charset="0"/>
                                      </a:rPr>
                                    </m:ctrlPr>
                                  </m:sSubPr>
                                  <m:e>
                                    <m:r>
                                      <a:rPr lang="en-US" sz="1800" kern="1200">
                                        <a:solidFill>
                                          <a:schemeClr val="dk1"/>
                                        </a:solidFill>
                                        <a:effectLst/>
                                        <a:latin typeface="Cambria Math" panose="02040503050406030204" pitchFamily="18" charset="0"/>
                                      </a:rPr>
                                      <m:t>𝛽</m:t>
                                    </m:r>
                                  </m:e>
                                  <m:sub>
                                    <m:r>
                                      <a:rPr lang="en-US" sz="1800" kern="1200">
                                        <a:solidFill>
                                          <a:schemeClr val="dk1"/>
                                        </a:solidFill>
                                        <a:effectLst/>
                                        <a:latin typeface="Cambria Math" panose="02040503050406030204" pitchFamily="18" charset="0"/>
                                      </a:rPr>
                                      <m:t>5</m:t>
                                    </m:r>
                                  </m:sub>
                                </m:sSub>
                                <m:r>
                                  <a:rPr lang="en-US" sz="1800" kern="1200">
                                    <a:solidFill>
                                      <a:schemeClr val="dk1"/>
                                    </a:solidFill>
                                    <a:effectLst/>
                                    <a:latin typeface="Cambria Math" panose="02040503050406030204" pitchFamily="18" charset="0"/>
                                  </a:rPr>
                                  <m:t>h𝑖𝑠𝑝𝑎𝑛𝑖</m:t>
                                </m:r>
                                <m:sSub>
                                  <m:sSubPr>
                                    <m:ctrlPr>
                                      <a:rPr lang="en-US" sz="1800" i="1" kern="1200">
                                        <a:solidFill>
                                          <a:schemeClr val="dk1"/>
                                        </a:solidFill>
                                        <a:effectLst/>
                                        <a:latin typeface="Cambria Math" panose="02040503050406030204" pitchFamily="18" charset="0"/>
                                      </a:rPr>
                                    </m:ctrlPr>
                                  </m:sSubPr>
                                  <m:e>
                                    <m:r>
                                      <a:rPr lang="en-US" sz="1800" kern="1200">
                                        <a:solidFill>
                                          <a:schemeClr val="dk1"/>
                                        </a:solidFill>
                                        <a:effectLst/>
                                        <a:latin typeface="Cambria Math" panose="02040503050406030204" pitchFamily="18" charset="0"/>
                                      </a:rPr>
                                      <m:t>𝑐</m:t>
                                    </m:r>
                                  </m:e>
                                  <m:sub>
                                    <m:r>
                                      <a:rPr lang="en-US" sz="1800" kern="1200">
                                        <a:solidFill>
                                          <a:schemeClr val="dk1"/>
                                        </a:solidFill>
                                        <a:effectLst/>
                                        <a:latin typeface="Cambria Math" panose="02040503050406030204" pitchFamily="18" charset="0"/>
                                      </a:rPr>
                                      <m:t>𝑖</m:t>
                                    </m:r>
                                  </m:sub>
                                </m:sSub>
                                <m:r>
                                  <a:rPr lang="en-US" sz="1800" kern="1200">
                                    <a:solidFill>
                                      <a:schemeClr val="dk1"/>
                                    </a:solidFill>
                                    <a:effectLst/>
                                    <a:latin typeface="Cambria Math" panose="02040503050406030204" pitchFamily="18" charset="0"/>
                                  </a:rPr>
                                  <m:t>+</m:t>
                                </m:r>
                                <m:sSub>
                                  <m:sSubPr>
                                    <m:ctrlPr>
                                      <a:rPr lang="en-US" sz="1800" i="1" kern="1200">
                                        <a:solidFill>
                                          <a:schemeClr val="dk1"/>
                                        </a:solidFill>
                                        <a:effectLst/>
                                        <a:latin typeface="Cambria Math" panose="02040503050406030204" pitchFamily="18" charset="0"/>
                                      </a:rPr>
                                    </m:ctrlPr>
                                  </m:sSubPr>
                                  <m:e>
                                    <m:r>
                                      <a:rPr lang="en-US" sz="1800" kern="1200">
                                        <a:solidFill>
                                          <a:schemeClr val="dk1"/>
                                        </a:solidFill>
                                        <a:effectLst/>
                                        <a:latin typeface="Cambria Math" panose="02040503050406030204" pitchFamily="18" charset="0"/>
                                      </a:rPr>
                                      <m:t>𝛽</m:t>
                                    </m:r>
                                  </m:e>
                                  <m:sub>
                                    <m:r>
                                      <a:rPr lang="en-US" sz="1800" kern="1200">
                                        <a:solidFill>
                                          <a:schemeClr val="dk1"/>
                                        </a:solidFill>
                                        <a:effectLst/>
                                        <a:latin typeface="Cambria Math" panose="02040503050406030204" pitchFamily="18" charset="0"/>
                                      </a:rPr>
                                      <m:t>6</m:t>
                                    </m:r>
                                  </m:sub>
                                </m:sSub>
                                <m:r>
                                  <a:rPr lang="en-US" sz="1800" kern="1200">
                                    <a:solidFill>
                                      <a:schemeClr val="dk1"/>
                                    </a:solidFill>
                                    <a:effectLst/>
                                    <a:latin typeface="Cambria Math" panose="02040503050406030204" pitchFamily="18" charset="0"/>
                                  </a:rPr>
                                  <m:t>𝑃𝐶𝑆</m:t>
                                </m:r>
                                <m:sSub>
                                  <m:sSubPr>
                                    <m:ctrlPr>
                                      <a:rPr lang="en-US" sz="1800" i="1" kern="1200">
                                        <a:solidFill>
                                          <a:schemeClr val="dk1"/>
                                        </a:solidFill>
                                        <a:effectLst/>
                                        <a:latin typeface="Cambria Math" panose="02040503050406030204" pitchFamily="18" charset="0"/>
                                      </a:rPr>
                                    </m:ctrlPr>
                                  </m:sSubPr>
                                  <m:e>
                                    <m:r>
                                      <a:rPr lang="en-US" sz="1800" kern="1200">
                                        <a:solidFill>
                                          <a:schemeClr val="dk1"/>
                                        </a:solidFill>
                                        <a:effectLst/>
                                        <a:latin typeface="Cambria Math" panose="02040503050406030204" pitchFamily="18" charset="0"/>
                                      </a:rPr>
                                      <m:t>42</m:t>
                                    </m:r>
                                  </m:e>
                                  <m:sub>
                                    <m:r>
                                      <a:rPr lang="en-US" sz="1800" kern="1200">
                                        <a:solidFill>
                                          <a:schemeClr val="dk1"/>
                                        </a:solidFill>
                                        <a:effectLst/>
                                        <a:latin typeface="Cambria Math" panose="02040503050406030204" pitchFamily="18" charset="0"/>
                                      </a:rPr>
                                      <m:t>1</m:t>
                                    </m:r>
                                  </m:sub>
                                </m:sSub>
                              </m:oMath>
                            </m:oMathPara>
                          </a14:m>
                          <a:endParaRPr lang="en-US" sz="1800" kern="1200" dirty="0">
                            <a:solidFill>
                              <a:schemeClr val="dk1"/>
                            </a:solidFill>
                            <a:effectLst/>
                          </a:endParaRPr>
                        </a:p>
                        <a:p>
                          <a:endParaRPr lang="en-US" dirty="0"/>
                        </a:p>
                      </a:txBody>
                      <a:tcPr anchor="ctr"/>
                    </a:tc>
                    <a:extLst>
                      <a:ext uri="{0D108BD9-81ED-4DB2-BD59-A6C34878D82A}">
                        <a16:rowId xmlns:a16="http://schemas.microsoft.com/office/drawing/2014/main" val="397970975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b="1" kern="1200" dirty="0">
                              <a:solidFill>
                                <a:schemeClr val="tx1"/>
                              </a:solidFill>
                              <a:effectLst/>
                              <a:latin typeface="+mn-lt"/>
                              <a:ea typeface="+mn-ea"/>
                              <a:cs typeface="+mn-cs"/>
                            </a:rPr>
                            <a:t>PART 2: Positive Cost model (continuous outcome)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2400" b="0" kern="1200" dirty="0">
                              <a:solidFill>
                                <a:schemeClr val="tx1"/>
                              </a:solidFill>
                              <a:effectLst/>
                              <a:latin typeface="+mn-lt"/>
                              <a:ea typeface="+mn-ea"/>
                              <a:cs typeface="+mn-cs"/>
                            </a:rPr>
                            <a:t>GLM with gamma distribution and log link to model positive costs</a:t>
                          </a:r>
                        </a:p>
                      </a:txBody>
                      <a:tcPr anchor="ctr"/>
                    </a:tc>
                    <a:extLst>
                      <a:ext uri="{0D108BD9-81ED-4DB2-BD59-A6C34878D82A}">
                        <a16:rowId xmlns:a16="http://schemas.microsoft.com/office/drawing/2014/main" val="3840156582"/>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lang="en-US" sz="1800" i="1" kern="1200" smtClean="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𝑌</m:t>
                                    </m:r>
                                  </m:e>
                                  <m:sub>
                                    <m:r>
                                      <a:rPr lang="en-US" sz="1800" i="1" kern="1200">
                                        <a:solidFill>
                                          <a:schemeClr val="tx1"/>
                                        </a:solidFill>
                                        <a:effectLst/>
                                        <a:latin typeface="Cambria Math" panose="02040503050406030204" pitchFamily="18" charset="0"/>
                                        <a:ea typeface="+mn-ea"/>
                                        <a:cs typeface="+mn-cs"/>
                                      </a:rPr>
                                      <m:t>𝑖𝑡</m:t>
                                    </m:r>
                                  </m:sub>
                                </m:sSub>
                                <m:r>
                                  <a:rPr lang="en-US" sz="1800" i="1" kern="1200">
                                    <a:solidFill>
                                      <a:schemeClr val="tx1"/>
                                    </a:solidFill>
                                    <a:effectLst/>
                                    <a:latin typeface="Cambria Math" panose="02040503050406030204" pitchFamily="18" charset="0"/>
                                    <a:ea typeface="+mn-ea"/>
                                    <a:cs typeface="+mn-cs"/>
                                  </a:rPr>
                                  <m:t>= </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𝛼</m:t>
                                    </m:r>
                                  </m:e>
                                  <m:sub>
                                    <m:r>
                                      <a:rPr lang="en-US" sz="1800" i="1" kern="1200">
                                        <a:solidFill>
                                          <a:schemeClr val="tx1"/>
                                        </a:solidFill>
                                        <a:effectLst/>
                                        <a:latin typeface="Cambria Math" panose="02040503050406030204" pitchFamily="18" charset="0"/>
                                        <a:ea typeface="+mn-ea"/>
                                        <a:cs typeface="+mn-cs"/>
                                      </a:rPr>
                                      <m:t>0</m:t>
                                    </m:r>
                                  </m:sub>
                                </m:sSub>
                                <m:r>
                                  <a:rPr lang="en-US" sz="1800" i="1" kern="1200">
                                    <a:solidFill>
                                      <a:schemeClr val="tx1"/>
                                    </a:solidFill>
                                    <a:effectLst/>
                                    <a:latin typeface="Cambria Math" panose="02040503050406030204" pitchFamily="18" charset="0"/>
                                    <a:ea typeface="+mn-ea"/>
                                    <a:cs typeface="+mn-cs"/>
                                  </a:rPr>
                                  <m:t>+ </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𝛼</m:t>
                                    </m:r>
                                  </m:e>
                                  <m:sub>
                                    <m:r>
                                      <a:rPr lang="en-US" sz="1800" i="1" kern="1200">
                                        <a:solidFill>
                                          <a:schemeClr val="tx1"/>
                                        </a:solidFill>
                                        <a:effectLst/>
                                        <a:latin typeface="Cambria Math" panose="02040503050406030204" pitchFamily="18" charset="0"/>
                                        <a:ea typeface="+mn-ea"/>
                                        <a:cs typeface="+mn-cs"/>
                                      </a:rPr>
                                      <m:t>1</m:t>
                                    </m:r>
                                  </m:sub>
                                </m:sSub>
                                <m:r>
                                  <a:rPr lang="en-US" sz="1800" i="1" kern="1200">
                                    <a:solidFill>
                                      <a:schemeClr val="tx1"/>
                                    </a:solidFill>
                                    <a:effectLst/>
                                    <a:latin typeface="Cambria Math" panose="02040503050406030204" pitchFamily="18" charset="0"/>
                                    <a:ea typeface="+mn-ea"/>
                                    <a:cs typeface="+mn-cs"/>
                                  </a:rPr>
                                  <m:t>𝑝𝑟𝑒𝑝𝑜𝑠</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𝑡</m:t>
                                    </m:r>
                                  </m:e>
                                  <m:sub>
                                    <m:r>
                                      <a:rPr lang="en-US" sz="1800" i="1" kern="1200">
                                        <a:solidFill>
                                          <a:schemeClr val="tx1"/>
                                        </a:solidFill>
                                        <a:effectLst/>
                                        <a:latin typeface="Cambria Math" panose="02040503050406030204" pitchFamily="18" charset="0"/>
                                        <a:ea typeface="+mn-ea"/>
                                        <a:cs typeface="+mn-cs"/>
                                      </a:rPr>
                                      <m:t>𝑖</m:t>
                                    </m:r>
                                  </m:sub>
                                </m:sSub>
                                <m:r>
                                  <a:rPr lang="en-US" sz="1800" i="1" kern="1200">
                                    <a:solidFill>
                                      <a:schemeClr val="tx1"/>
                                    </a:solidFill>
                                    <a:effectLst/>
                                    <a:latin typeface="Cambria Math" panose="02040503050406030204" pitchFamily="18" charset="0"/>
                                    <a:ea typeface="+mn-ea"/>
                                    <a:cs typeface="+mn-cs"/>
                                  </a:rPr>
                                  <m:t>+</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𝛼</m:t>
                                    </m:r>
                                  </m:e>
                                  <m:sub>
                                    <m:r>
                                      <a:rPr lang="en-US" sz="1800" i="1" kern="1200">
                                        <a:solidFill>
                                          <a:schemeClr val="tx1"/>
                                        </a:solidFill>
                                        <a:effectLst/>
                                        <a:latin typeface="Cambria Math" panose="02040503050406030204" pitchFamily="18" charset="0"/>
                                        <a:ea typeface="+mn-ea"/>
                                        <a:cs typeface="+mn-cs"/>
                                      </a:rPr>
                                      <m:t>2</m:t>
                                    </m:r>
                                  </m:sub>
                                </m:sSub>
                                <m:r>
                                  <a:rPr lang="en-US" sz="1800" i="1" kern="1200">
                                    <a:solidFill>
                                      <a:schemeClr val="tx1"/>
                                    </a:solidFill>
                                    <a:effectLst/>
                                    <a:latin typeface="Cambria Math" panose="02040503050406030204" pitchFamily="18" charset="0"/>
                                    <a:ea typeface="+mn-ea"/>
                                    <a:cs typeface="+mn-cs"/>
                                  </a:rPr>
                                  <m:t>𝑡𝑟𝑒𝑎𝑡𝑚𝑒𝑛</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𝑡</m:t>
                                    </m:r>
                                  </m:e>
                                  <m:sub>
                                    <m:r>
                                      <a:rPr lang="en-US" sz="1800" i="1" kern="1200">
                                        <a:solidFill>
                                          <a:schemeClr val="tx1"/>
                                        </a:solidFill>
                                        <a:effectLst/>
                                        <a:latin typeface="Cambria Math" panose="02040503050406030204" pitchFamily="18" charset="0"/>
                                        <a:ea typeface="+mn-ea"/>
                                        <a:cs typeface="+mn-cs"/>
                                      </a:rPr>
                                      <m:t>𝑖</m:t>
                                    </m:r>
                                  </m:sub>
                                </m:sSub>
                                <m:r>
                                  <a:rPr lang="en-US" sz="1800" i="1" kern="1200">
                                    <a:solidFill>
                                      <a:schemeClr val="tx1"/>
                                    </a:solidFill>
                                    <a:effectLst/>
                                    <a:latin typeface="Cambria Math" panose="02040503050406030204" pitchFamily="18" charset="0"/>
                                    <a:ea typeface="+mn-ea"/>
                                    <a:cs typeface="+mn-cs"/>
                                  </a:rPr>
                                  <m:t>+</m:t>
                                </m:r>
                                <m:sSub>
                                  <m:sSubPr>
                                    <m:ctrlPr>
                                      <a:rPr lang="en-US" sz="1800" i="1" kern="1200" smtClean="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𝛼</m:t>
                                    </m:r>
                                  </m:e>
                                  <m:sub>
                                    <m:r>
                                      <a:rPr lang="en-US" sz="1800" b="0" i="1" kern="1200" smtClean="0">
                                        <a:solidFill>
                                          <a:schemeClr val="tx1"/>
                                        </a:solidFill>
                                        <a:effectLst/>
                                        <a:latin typeface="Cambria Math" panose="02040503050406030204" pitchFamily="18" charset="0"/>
                                        <a:ea typeface="+mn-ea"/>
                                        <a:cs typeface="+mn-cs"/>
                                      </a:rPr>
                                      <m:t>3</m:t>
                                    </m:r>
                                  </m:sub>
                                </m:sSub>
                                <m:r>
                                  <a:rPr lang="en-US" sz="1800" b="0" i="1" kern="1200" smtClean="0">
                                    <a:solidFill>
                                      <a:schemeClr val="tx1"/>
                                    </a:solidFill>
                                    <a:effectLst/>
                                    <a:latin typeface="Cambria Math" panose="02040503050406030204" pitchFamily="18" charset="0"/>
                                    <a:ea typeface="+mn-ea"/>
                                    <a:cs typeface="+mn-cs"/>
                                  </a:rPr>
                                  <m:t>∗(</m:t>
                                </m:r>
                                <m:r>
                                  <a:rPr lang="en-US" sz="1800" b="0" i="1" kern="1200" smtClean="0">
                                    <a:solidFill>
                                      <a:schemeClr val="tx1"/>
                                    </a:solidFill>
                                    <a:effectLst/>
                                    <a:latin typeface="Cambria Math" panose="02040503050406030204" pitchFamily="18" charset="0"/>
                                    <a:ea typeface="+mn-ea"/>
                                    <a:cs typeface="+mn-cs"/>
                                  </a:rPr>
                                  <m:t>𝑡𝑟𝑒𝑎𝑡𝑚𝑒𝑛</m:t>
                                </m:r>
                                <m:sSub>
                                  <m:sSubPr>
                                    <m:ctrlPr>
                                      <a:rPr lang="en-US" sz="1800" b="0" i="1" kern="1200" smtClean="0">
                                        <a:solidFill>
                                          <a:schemeClr val="tx1"/>
                                        </a:solidFill>
                                        <a:effectLst/>
                                        <a:latin typeface="Cambria Math" panose="02040503050406030204" pitchFamily="18" charset="0"/>
                                        <a:ea typeface="+mn-ea"/>
                                        <a:cs typeface="+mn-cs"/>
                                      </a:rPr>
                                    </m:ctrlPr>
                                  </m:sSubPr>
                                  <m:e>
                                    <m:r>
                                      <a:rPr lang="en-US" sz="1800" b="0" i="1" kern="1200" smtClean="0">
                                        <a:solidFill>
                                          <a:schemeClr val="tx1"/>
                                        </a:solidFill>
                                        <a:effectLst/>
                                        <a:latin typeface="Cambria Math" panose="02040503050406030204" pitchFamily="18" charset="0"/>
                                        <a:ea typeface="+mn-ea"/>
                                        <a:cs typeface="+mn-cs"/>
                                      </a:rPr>
                                      <m:t>𝑡</m:t>
                                    </m:r>
                                  </m:e>
                                  <m:sub>
                                    <m:r>
                                      <a:rPr lang="en-US" sz="1800" b="0" i="1" kern="1200" smtClean="0">
                                        <a:solidFill>
                                          <a:schemeClr val="tx1"/>
                                        </a:solidFill>
                                        <a:effectLst/>
                                        <a:latin typeface="Cambria Math" panose="02040503050406030204" pitchFamily="18" charset="0"/>
                                        <a:ea typeface="+mn-ea"/>
                                        <a:cs typeface="+mn-cs"/>
                                      </a:rPr>
                                      <m:t>𝑖</m:t>
                                    </m:r>
                                  </m:sub>
                                </m:sSub>
                                <m:r>
                                  <a:rPr lang="en-US" sz="1800" b="0" i="1" kern="1200" smtClean="0">
                                    <a:solidFill>
                                      <a:schemeClr val="tx1"/>
                                    </a:solidFill>
                                    <a:effectLst/>
                                    <a:latin typeface="Cambria Math" panose="02040503050406030204" pitchFamily="18" charset="0"/>
                                    <a:ea typeface="+mn-ea"/>
                                    <a:cs typeface="+mn-cs"/>
                                  </a:rPr>
                                  <m:t>∗</m:t>
                                </m:r>
                                <m:r>
                                  <a:rPr lang="en-US" sz="1800" b="0" i="1" kern="1200" smtClean="0">
                                    <a:solidFill>
                                      <a:schemeClr val="tx1"/>
                                    </a:solidFill>
                                    <a:effectLst/>
                                    <a:latin typeface="Cambria Math" panose="02040503050406030204" pitchFamily="18" charset="0"/>
                                    <a:ea typeface="+mn-ea"/>
                                    <a:cs typeface="+mn-cs"/>
                                  </a:rPr>
                                  <m:t>𝑝𝑟𝑒𝑝𝑜𝑠</m:t>
                                </m:r>
                                <m:sSub>
                                  <m:sSubPr>
                                    <m:ctrlPr>
                                      <a:rPr lang="en-US" sz="1800" b="0" i="1" kern="1200" smtClean="0">
                                        <a:solidFill>
                                          <a:schemeClr val="tx1"/>
                                        </a:solidFill>
                                        <a:effectLst/>
                                        <a:latin typeface="Cambria Math" panose="02040503050406030204" pitchFamily="18" charset="0"/>
                                        <a:ea typeface="+mn-ea"/>
                                        <a:cs typeface="+mn-cs"/>
                                      </a:rPr>
                                    </m:ctrlPr>
                                  </m:sSubPr>
                                  <m:e>
                                    <m:r>
                                      <a:rPr lang="en-US" sz="1800" b="0" i="1" kern="1200" smtClean="0">
                                        <a:solidFill>
                                          <a:schemeClr val="tx1"/>
                                        </a:solidFill>
                                        <a:effectLst/>
                                        <a:latin typeface="Cambria Math" panose="02040503050406030204" pitchFamily="18" charset="0"/>
                                        <a:ea typeface="+mn-ea"/>
                                        <a:cs typeface="+mn-cs"/>
                                      </a:rPr>
                                      <m:t>𝑡</m:t>
                                    </m:r>
                                  </m:e>
                                  <m:sub>
                                    <m:r>
                                      <a:rPr lang="en-US" sz="1800" b="0" i="1" kern="1200" smtClean="0">
                                        <a:solidFill>
                                          <a:schemeClr val="tx1"/>
                                        </a:solidFill>
                                        <a:effectLst/>
                                        <a:latin typeface="Cambria Math" panose="02040503050406030204" pitchFamily="18" charset="0"/>
                                        <a:ea typeface="+mn-ea"/>
                                        <a:cs typeface="+mn-cs"/>
                                      </a:rPr>
                                      <m:t>𝑖</m:t>
                                    </m:r>
                                  </m:sub>
                                </m:sSub>
                                <m:r>
                                  <a:rPr lang="en-US" sz="1800" b="0" i="1" kern="1200" smtClean="0">
                                    <a:solidFill>
                                      <a:schemeClr val="tx1"/>
                                    </a:solidFill>
                                    <a:effectLst/>
                                    <a:latin typeface="Cambria Math" panose="02040503050406030204" pitchFamily="18" charset="0"/>
                                    <a:ea typeface="+mn-ea"/>
                                    <a:cs typeface="+mn-cs"/>
                                  </a:rPr>
                                  <m:t>)+ </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𝛼</m:t>
                                    </m:r>
                                  </m:e>
                                  <m:sub>
                                    <m:r>
                                      <a:rPr lang="en-US" sz="1800" i="1" kern="1200">
                                        <a:solidFill>
                                          <a:schemeClr val="tx1"/>
                                        </a:solidFill>
                                        <a:effectLst/>
                                        <a:latin typeface="Cambria Math" panose="02040503050406030204" pitchFamily="18" charset="0"/>
                                        <a:ea typeface="+mn-ea"/>
                                        <a:cs typeface="+mn-cs"/>
                                      </a:rPr>
                                      <m:t>4</m:t>
                                    </m:r>
                                  </m:sub>
                                </m:sSub>
                                <m:r>
                                  <a:rPr lang="en-US" sz="1800" i="1" kern="1200">
                                    <a:solidFill>
                                      <a:schemeClr val="tx1"/>
                                    </a:solidFill>
                                    <a:effectLst/>
                                    <a:latin typeface="Cambria Math" panose="02040503050406030204" pitchFamily="18" charset="0"/>
                                    <a:ea typeface="+mn-ea"/>
                                    <a:cs typeface="+mn-cs"/>
                                  </a:rPr>
                                  <m:t>𝑓𝑒𝑚𝑎𝑙</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𝑒</m:t>
                                    </m:r>
                                  </m:e>
                                  <m:sub>
                                    <m:r>
                                      <a:rPr lang="en-US" sz="1800" i="1" kern="1200">
                                        <a:solidFill>
                                          <a:schemeClr val="tx1"/>
                                        </a:solidFill>
                                        <a:effectLst/>
                                        <a:latin typeface="Cambria Math" panose="02040503050406030204" pitchFamily="18" charset="0"/>
                                        <a:ea typeface="+mn-ea"/>
                                        <a:cs typeface="+mn-cs"/>
                                      </a:rPr>
                                      <m:t>𝑖</m:t>
                                    </m:r>
                                  </m:sub>
                                </m:sSub>
                                <m:r>
                                  <a:rPr lang="en-US" sz="1800" i="1" kern="1200">
                                    <a:solidFill>
                                      <a:schemeClr val="tx1"/>
                                    </a:solidFill>
                                    <a:effectLst/>
                                    <a:latin typeface="Cambria Math" panose="02040503050406030204" pitchFamily="18" charset="0"/>
                                    <a:ea typeface="+mn-ea"/>
                                    <a:cs typeface="+mn-cs"/>
                                  </a:rPr>
                                  <m:t>+</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𝛼</m:t>
                                    </m:r>
                                  </m:e>
                                  <m:sub>
                                    <m:r>
                                      <a:rPr lang="en-US" sz="1800" i="1" kern="1200">
                                        <a:solidFill>
                                          <a:schemeClr val="tx1"/>
                                        </a:solidFill>
                                        <a:effectLst/>
                                        <a:latin typeface="Cambria Math" panose="02040503050406030204" pitchFamily="18" charset="0"/>
                                        <a:ea typeface="+mn-ea"/>
                                        <a:cs typeface="+mn-cs"/>
                                      </a:rPr>
                                      <m:t>5</m:t>
                                    </m:r>
                                  </m:sub>
                                </m:sSub>
                                <m:r>
                                  <a:rPr lang="en-US" sz="1800" i="1" kern="1200">
                                    <a:solidFill>
                                      <a:schemeClr val="tx1"/>
                                    </a:solidFill>
                                    <a:effectLst/>
                                    <a:latin typeface="Cambria Math" panose="02040503050406030204" pitchFamily="18" charset="0"/>
                                    <a:ea typeface="+mn-ea"/>
                                    <a:cs typeface="+mn-cs"/>
                                  </a:rPr>
                                  <m:t>h𝑖𝑠𝑝𝑎𝑛𝑖</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𝑐</m:t>
                                    </m:r>
                                  </m:e>
                                  <m:sub>
                                    <m:r>
                                      <a:rPr lang="en-US" sz="1800" i="1" kern="1200">
                                        <a:solidFill>
                                          <a:schemeClr val="tx1"/>
                                        </a:solidFill>
                                        <a:effectLst/>
                                        <a:latin typeface="Cambria Math" panose="02040503050406030204" pitchFamily="18" charset="0"/>
                                        <a:ea typeface="+mn-ea"/>
                                        <a:cs typeface="+mn-cs"/>
                                      </a:rPr>
                                      <m:t>𝑖</m:t>
                                    </m:r>
                                  </m:sub>
                                </m:sSub>
                                <m:r>
                                  <a:rPr lang="en-US" sz="1800" i="1" kern="1200">
                                    <a:solidFill>
                                      <a:schemeClr val="tx1"/>
                                    </a:solidFill>
                                    <a:effectLst/>
                                    <a:latin typeface="Cambria Math" panose="02040503050406030204" pitchFamily="18" charset="0"/>
                                    <a:ea typeface="+mn-ea"/>
                                    <a:cs typeface="+mn-cs"/>
                                  </a:rPr>
                                  <m:t>+</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𝛼</m:t>
                                    </m:r>
                                  </m:e>
                                  <m:sub>
                                    <m:r>
                                      <a:rPr lang="en-US" sz="1800" i="1" kern="1200">
                                        <a:solidFill>
                                          <a:schemeClr val="tx1"/>
                                        </a:solidFill>
                                        <a:effectLst/>
                                        <a:latin typeface="Cambria Math" panose="02040503050406030204" pitchFamily="18" charset="0"/>
                                        <a:ea typeface="+mn-ea"/>
                                        <a:cs typeface="+mn-cs"/>
                                      </a:rPr>
                                      <m:t>6</m:t>
                                    </m:r>
                                  </m:sub>
                                </m:sSub>
                                <m:r>
                                  <a:rPr lang="en-US" sz="1800" i="1" kern="1200">
                                    <a:solidFill>
                                      <a:schemeClr val="tx1"/>
                                    </a:solidFill>
                                    <a:effectLst/>
                                    <a:latin typeface="Cambria Math" panose="02040503050406030204" pitchFamily="18" charset="0"/>
                                    <a:ea typeface="+mn-ea"/>
                                    <a:cs typeface="+mn-cs"/>
                                  </a:rPr>
                                  <m:t>𝑃𝐶𝑆</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42</m:t>
                                    </m:r>
                                  </m:e>
                                  <m:sub>
                                    <m:r>
                                      <a:rPr lang="en-US" sz="1800" i="1" kern="1200">
                                        <a:solidFill>
                                          <a:schemeClr val="tx1"/>
                                        </a:solidFill>
                                        <a:effectLst/>
                                        <a:latin typeface="Cambria Math" panose="02040503050406030204" pitchFamily="18" charset="0"/>
                                        <a:ea typeface="+mn-ea"/>
                                        <a:cs typeface="+mn-cs"/>
                                      </a:rPr>
                                      <m:t>𝑖</m:t>
                                    </m:r>
                                  </m:sub>
                                </m:sSub>
                              </m:oMath>
                            </m:oMathPara>
                          </a14:m>
                          <a:endParaRPr lang="en-US" sz="18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3502669975"/>
                      </a:ext>
                    </a:extLst>
                  </a:tr>
                </a:tbl>
              </a:graphicData>
            </a:graphic>
          </p:graphicFrame>
        </mc:Choice>
        <mc:Fallback xmlns="">
          <p:graphicFrame>
            <p:nvGraphicFramePr>
              <p:cNvPr id="3" name="Table 4">
                <a:extLst>
                  <a:ext uri="{FF2B5EF4-FFF2-40B4-BE49-F238E27FC236}">
                    <a16:creationId xmlns:a16="http://schemas.microsoft.com/office/drawing/2014/main" id="{916E46CA-BF9C-4C65-9178-9C66800F5AC9}"/>
                  </a:ext>
                </a:extLst>
              </p:cNvPr>
              <p:cNvGraphicFramePr>
                <a:graphicFrameLocks noGrp="1"/>
              </p:cNvGraphicFramePr>
              <p:nvPr>
                <p:ph idx="1"/>
                <p:extLst>
                  <p:ext uri="{D42A27DB-BD31-4B8C-83A1-F6EECF244321}">
                    <p14:modId xmlns:p14="http://schemas.microsoft.com/office/powerpoint/2010/main" val="1075170056"/>
                  </p:ext>
                </p:extLst>
              </p:nvPr>
            </p:nvGraphicFramePr>
            <p:xfrm>
              <a:off x="609601" y="1591259"/>
              <a:ext cx="10972799" cy="3536125"/>
            </p:xfrm>
            <a:graphic>
              <a:graphicData uri="http://schemas.openxmlformats.org/drawingml/2006/table">
                <a:tbl>
                  <a:tblPr firstRow="1" bandRow="1">
                    <a:tableStyleId>{2D5ABB26-0587-4C30-8999-92F81FD0307C}</a:tableStyleId>
                  </a:tblPr>
                  <a:tblGrid>
                    <a:gridCol w="10972799">
                      <a:extLst>
                        <a:ext uri="{9D8B030D-6E8A-4147-A177-3AD203B41FA5}">
                          <a16:colId xmlns:a16="http://schemas.microsoft.com/office/drawing/2014/main" val="4034303273"/>
                        </a:ext>
                      </a:extLst>
                    </a:gridCol>
                  </a:tblGrid>
                  <a:tr h="822960">
                    <a:tc>
                      <a:txBody>
                        <a:bodyPr/>
                        <a:lstStyle/>
                        <a:p>
                          <a:r>
                            <a:rPr lang="en-US" sz="2400" b="1" dirty="0"/>
                            <a:t>PART 1: Probability Model (binary outcome)</a:t>
                          </a:r>
                        </a:p>
                        <a:p>
                          <a:r>
                            <a:rPr lang="en-US" sz="2400" b="0" dirty="0"/>
                            <a:t>Logistic Regression to predict probability of positive cost value</a:t>
                          </a:r>
                        </a:p>
                      </a:txBody>
                      <a:tcPr/>
                    </a:tc>
                    <a:extLst>
                      <a:ext uri="{0D108BD9-81ED-4DB2-BD59-A6C34878D82A}">
                        <a16:rowId xmlns:a16="http://schemas.microsoft.com/office/drawing/2014/main" val="289700628"/>
                      </a:ext>
                    </a:extLst>
                  </a:tr>
                  <a:tr h="1256411">
                    <a:tc>
                      <a:txBody>
                        <a:bodyPr/>
                        <a:lstStyle/>
                        <a:p>
                          <a:endParaRPr lang="en-US"/>
                        </a:p>
                      </a:txBody>
                      <a:tcPr anchor="ctr">
                        <a:blipFill>
                          <a:blip r:embed="rId3"/>
                          <a:stretch>
                            <a:fillRect t="-69082" b="-119324"/>
                          </a:stretch>
                        </a:blipFill>
                      </a:tcPr>
                    </a:tc>
                    <a:extLst>
                      <a:ext uri="{0D108BD9-81ED-4DB2-BD59-A6C34878D82A}">
                        <a16:rowId xmlns:a16="http://schemas.microsoft.com/office/drawing/2014/main" val="3979709759"/>
                      </a:ext>
                    </a:extLst>
                  </a:tr>
                  <a:tr h="82296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b="1" kern="1200" dirty="0">
                              <a:solidFill>
                                <a:schemeClr val="tx1"/>
                              </a:solidFill>
                              <a:effectLst/>
                              <a:latin typeface="+mn-lt"/>
                              <a:ea typeface="+mn-ea"/>
                              <a:cs typeface="+mn-cs"/>
                            </a:rPr>
                            <a:t>PART 2: Positive Cost model (continuous outcome)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2400" b="0" kern="1200" dirty="0">
                              <a:solidFill>
                                <a:schemeClr val="tx1"/>
                              </a:solidFill>
                              <a:effectLst/>
                              <a:latin typeface="+mn-lt"/>
                              <a:ea typeface="+mn-ea"/>
                              <a:cs typeface="+mn-cs"/>
                            </a:rPr>
                            <a:t>GLM with gamma distribution and log link to model positive costs</a:t>
                          </a:r>
                        </a:p>
                      </a:txBody>
                      <a:tcPr anchor="ctr"/>
                    </a:tc>
                    <a:extLst>
                      <a:ext uri="{0D108BD9-81ED-4DB2-BD59-A6C34878D82A}">
                        <a16:rowId xmlns:a16="http://schemas.microsoft.com/office/drawing/2014/main" val="3840156582"/>
                      </a:ext>
                    </a:extLst>
                  </a:tr>
                  <a:tr h="633794">
                    <a:tc>
                      <a:txBody>
                        <a:bodyPr/>
                        <a:lstStyle/>
                        <a:p>
                          <a:endParaRPr lang="en-US"/>
                        </a:p>
                      </a:txBody>
                      <a:tcPr anchor="ctr">
                        <a:blipFill>
                          <a:blip r:embed="rId3"/>
                          <a:stretch>
                            <a:fillRect t="-466346" b="-7692"/>
                          </a:stretch>
                        </a:blipFill>
                      </a:tcPr>
                    </a:tc>
                    <a:extLst>
                      <a:ext uri="{0D108BD9-81ED-4DB2-BD59-A6C34878D82A}">
                        <a16:rowId xmlns:a16="http://schemas.microsoft.com/office/drawing/2014/main" val="3502669975"/>
                      </a:ext>
                    </a:extLst>
                  </a:tr>
                </a:tbl>
              </a:graphicData>
            </a:graphic>
          </p:graphicFrame>
        </mc:Fallback>
      </mc:AlternateContent>
    </p:spTree>
    <p:extLst>
      <p:ext uri="{BB962C8B-B14F-4D97-AF65-F5344CB8AC3E}">
        <p14:creationId xmlns:p14="http://schemas.microsoft.com/office/powerpoint/2010/main" val="13428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dirty="0">
                <a:latin typeface="Franklin Gothic Demi" panose="020B0703020102020204" pitchFamily="34" charset="0"/>
              </a:rPr>
              <a:t>Empirical</a:t>
            </a:r>
            <a:r>
              <a:rPr dirty="0"/>
              <a:t> </a:t>
            </a:r>
            <a:br>
              <a:rPr lang="en-US" dirty="0"/>
            </a:br>
            <a:r>
              <a:rPr dirty="0">
                <a:latin typeface="Franklin Gothic Demi" panose="020B0703020102020204" pitchFamily="34" charset="0"/>
              </a:rPr>
              <a:t>Data Summary</a:t>
            </a:r>
          </a:p>
        </p:txBody>
      </p:sp>
      <p:pic>
        <p:nvPicPr>
          <p:cNvPr id="7" name="Picture 6">
            <a:extLst>
              <a:ext uri="{FF2B5EF4-FFF2-40B4-BE49-F238E27FC236}">
                <a16:creationId xmlns:a16="http://schemas.microsoft.com/office/drawing/2014/main" id="{5F7B1C4D-5EDF-4F46-B34D-0E0AC4CD3436}"/>
              </a:ext>
            </a:extLst>
          </p:cNvPr>
          <p:cNvPicPr>
            <a:picLocks noChangeAspect="1"/>
          </p:cNvPicPr>
          <p:nvPr/>
        </p:nvPicPr>
        <p:blipFill>
          <a:blip r:embed="rId3"/>
          <a:stretch>
            <a:fillRect/>
          </a:stretch>
        </p:blipFill>
        <p:spPr>
          <a:xfrm>
            <a:off x="4308783" y="431813"/>
            <a:ext cx="7544853" cy="5896798"/>
          </a:xfrm>
          <a:prstGeom prst="rect">
            <a:avLst/>
          </a:prstGeom>
        </p:spPr>
      </p:pic>
    </p:spTree>
    <p:extLst>
      <p:ext uri="{BB962C8B-B14F-4D97-AF65-F5344CB8AC3E}">
        <p14:creationId xmlns:p14="http://schemas.microsoft.com/office/powerpoint/2010/main" val="2100497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7CEE9-3D19-0592-30A4-AB1A73851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1110E-D4DB-AB8B-2871-5F3284CFA3ED}"/>
              </a:ext>
            </a:extLst>
          </p:cNvPr>
          <p:cNvSpPr>
            <a:spLocks noGrp="1"/>
          </p:cNvSpPr>
          <p:nvPr>
            <p:ph type="title"/>
          </p:nvPr>
        </p:nvSpPr>
        <p:spPr/>
        <p:txBody>
          <a:bodyPr/>
          <a:lstStyle/>
          <a:p>
            <a:pPr algn="l"/>
            <a:r>
              <a:rPr lang="en-US" dirty="0">
                <a:latin typeface="Franklin Gothic Demi" panose="020B0703020102020204" pitchFamily="34" charset="0"/>
              </a:rPr>
              <a:t>Methodological Process</a:t>
            </a:r>
            <a:endParaRPr dirty="0">
              <a:latin typeface="Franklin Gothic Demi" panose="020B0703020102020204" pitchFamily="34" charset="0"/>
            </a:endParaRPr>
          </a:p>
        </p:txBody>
      </p:sp>
      <p:sp>
        <p:nvSpPr>
          <p:cNvPr id="4" name="Content Placeholder 2">
            <a:extLst>
              <a:ext uri="{FF2B5EF4-FFF2-40B4-BE49-F238E27FC236}">
                <a16:creationId xmlns:a16="http://schemas.microsoft.com/office/drawing/2014/main" id="{B64A999C-23E8-45BD-B036-C6D1D2126E28}"/>
              </a:ext>
            </a:extLst>
          </p:cNvPr>
          <p:cNvSpPr>
            <a:spLocks noGrp="1"/>
          </p:cNvSpPr>
          <p:nvPr>
            <p:ph idx="1"/>
          </p:nvPr>
        </p:nvSpPr>
        <p:spPr>
          <a:xfrm>
            <a:off x="609600" y="1417638"/>
            <a:ext cx="10972800" cy="4983161"/>
          </a:xfrm>
        </p:spPr>
        <p:txBody>
          <a:bodyPr>
            <a:normAutofit fontScale="92500" lnSpcReduction="10000"/>
          </a:bodyPr>
          <a:lstStyle/>
          <a:p>
            <a:pPr marL="0" indent="0">
              <a:buNone/>
            </a:pPr>
            <a:r>
              <a:rPr lang="en-US" b="1" dirty="0"/>
              <a:t>Simulation</a:t>
            </a:r>
          </a:p>
          <a:p>
            <a:r>
              <a:rPr lang="en-US" dirty="0"/>
              <a:t>Monte Carlo simulation (500 replications) mirroring structure, distributional features of real-world HCE (mimics empirical study)</a:t>
            </a:r>
          </a:p>
          <a:p>
            <a:pPr marL="0" indent="0">
              <a:buNone/>
            </a:pPr>
            <a:r>
              <a:rPr lang="en-US" b="1" dirty="0"/>
              <a:t>Estimation &amp; Evaluation</a:t>
            </a:r>
          </a:p>
          <a:p>
            <a:r>
              <a:rPr lang="en-US" dirty="0"/>
              <a:t>Step 1) Apply selected treatment to each dataset</a:t>
            </a:r>
          </a:p>
          <a:p>
            <a:r>
              <a:rPr lang="en-US" dirty="0"/>
              <a:t>Step 2) Fit the two-part model</a:t>
            </a:r>
          </a:p>
          <a:p>
            <a:r>
              <a:rPr lang="en-US" dirty="0"/>
              <a:t>Step 3) Extract the coefficient (bias), standard error for interaction term and coverage from cost model</a:t>
            </a:r>
          </a:p>
          <a:p>
            <a:r>
              <a:rPr lang="en-US" dirty="0"/>
              <a:t>Step 4) Aggregate results across 500 replications; compare estimates</a:t>
            </a:r>
          </a:p>
          <a:p>
            <a:pPr marL="0" indent="0">
              <a:buNone/>
            </a:pPr>
            <a:endParaRPr lang="en-US" dirty="0"/>
          </a:p>
        </p:txBody>
      </p:sp>
    </p:spTree>
    <p:extLst>
      <p:ext uri="{BB962C8B-B14F-4D97-AF65-F5344CB8AC3E}">
        <p14:creationId xmlns:p14="http://schemas.microsoft.com/office/powerpoint/2010/main" val="37853895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A0D55-77F2-A3D1-6C00-69AFC0094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5C5334-DB1A-C472-0A56-1B1D6C23C89F}"/>
              </a:ext>
            </a:extLst>
          </p:cNvPr>
          <p:cNvSpPr>
            <a:spLocks noGrp="1"/>
          </p:cNvSpPr>
          <p:nvPr>
            <p:ph type="title"/>
          </p:nvPr>
        </p:nvSpPr>
        <p:spPr/>
        <p:txBody>
          <a:bodyPr/>
          <a:lstStyle/>
          <a:p>
            <a:pPr algn="l"/>
            <a:r>
              <a:rPr lang="en-US" dirty="0">
                <a:latin typeface="Franklin Gothic Demi" panose="020B0703020102020204" pitchFamily="34" charset="0"/>
              </a:rPr>
              <a:t>DGF: Two-Part Model Specifications</a:t>
            </a:r>
            <a:endParaRPr dirty="0">
              <a:latin typeface="Franklin Gothic Demi" panose="020B0703020102020204" pitchFamily="34" charset="0"/>
            </a:endParaRPr>
          </a:p>
        </p:txBody>
      </p:sp>
      <mc:AlternateContent xmlns:mc="http://schemas.openxmlformats.org/markup-compatibility/2006" xmlns:a14="http://schemas.microsoft.com/office/drawing/2010/main">
        <mc:Choice Requires="a14">
          <p:graphicFrame>
            <p:nvGraphicFramePr>
              <p:cNvPr id="3" name="Table 4">
                <a:extLst>
                  <a:ext uri="{FF2B5EF4-FFF2-40B4-BE49-F238E27FC236}">
                    <a16:creationId xmlns:a16="http://schemas.microsoft.com/office/drawing/2014/main" id="{916E46CA-BF9C-4C65-9178-9C66800F5AC9}"/>
                  </a:ext>
                </a:extLst>
              </p:cNvPr>
              <p:cNvGraphicFramePr>
                <a:graphicFrameLocks noGrp="1"/>
              </p:cNvGraphicFramePr>
              <p:nvPr>
                <p:ph idx="1"/>
                <p:extLst>
                  <p:ext uri="{D42A27DB-BD31-4B8C-83A1-F6EECF244321}">
                    <p14:modId xmlns:p14="http://schemas.microsoft.com/office/powerpoint/2010/main" val="1588845311"/>
                  </p:ext>
                </p:extLst>
              </p:nvPr>
            </p:nvGraphicFramePr>
            <p:xfrm>
              <a:off x="609601" y="2329180"/>
              <a:ext cx="10972799" cy="2199640"/>
            </p:xfrm>
            <a:graphic>
              <a:graphicData uri="http://schemas.openxmlformats.org/drawingml/2006/table">
                <a:tbl>
                  <a:tblPr firstRow="1" bandRow="1">
                    <a:tableStyleId>{2D5ABB26-0587-4C30-8999-92F81FD0307C}</a:tableStyleId>
                  </a:tblPr>
                  <a:tblGrid>
                    <a:gridCol w="10972799">
                      <a:extLst>
                        <a:ext uri="{9D8B030D-6E8A-4147-A177-3AD203B41FA5}">
                          <a16:colId xmlns:a16="http://schemas.microsoft.com/office/drawing/2014/main" val="4034303273"/>
                        </a:ext>
                      </a:extLst>
                    </a:gridCol>
                  </a:tblGrid>
                  <a:tr h="370840">
                    <a:tc>
                      <a:txBody>
                        <a:bodyPr/>
                        <a:lstStyle/>
                        <a:p>
                          <a:r>
                            <a:rPr lang="en-US" sz="2400" b="1" dirty="0"/>
                            <a:t>PART 1: Probability Model (binary outcome, logistic regression)</a:t>
                          </a:r>
                        </a:p>
                      </a:txBody>
                      <a:tcPr/>
                    </a:tc>
                    <a:extLst>
                      <a:ext uri="{0D108BD9-81ED-4DB2-BD59-A6C34878D82A}">
                        <a16:rowId xmlns:a16="http://schemas.microsoft.com/office/drawing/2014/main" val="28970062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i="1" kern="1200" smtClean="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𝜂</m:t>
                                    </m:r>
                                  </m:e>
                                  <m:sub>
                                    <m:r>
                                      <a:rPr lang="en-US" sz="1800" i="1" kern="1200">
                                        <a:solidFill>
                                          <a:schemeClr val="tx1"/>
                                        </a:solidFill>
                                        <a:effectLst/>
                                        <a:latin typeface="Cambria Math" panose="02040503050406030204" pitchFamily="18" charset="0"/>
                                        <a:ea typeface="+mn-ea"/>
                                        <a:cs typeface="+mn-cs"/>
                                      </a:rPr>
                                      <m:t>𝑖𝑡</m:t>
                                    </m:r>
                                  </m:sub>
                                </m:sSub>
                                <m:r>
                                  <a:rPr lang="en-US" sz="1800" i="1" kern="1200">
                                    <a:solidFill>
                                      <a:schemeClr val="tx1"/>
                                    </a:solidFill>
                                    <a:effectLst/>
                                    <a:latin typeface="Cambria Math" panose="02040503050406030204" pitchFamily="18" charset="0"/>
                                    <a:ea typeface="+mn-ea"/>
                                    <a:cs typeface="+mn-cs"/>
                                  </a:rPr>
                                  <m:t>=0.2∗</m:t>
                                </m:r>
                                <m:r>
                                  <a:rPr lang="en-US" sz="1800" i="1" kern="1200">
                                    <a:solidFill>
                                      <a:schemeClr val="tx1"/>
                                    </a:solidFill>
                                    <a:effectLst/>
                                    <a:latin typeface="Cambria Math" panose="02040503050406030204" pitchFamily="18" charset="0"/>
                                    <a:ea typeface="+mn-ea"/>
                                    <a:cs typeface="+mn-cs"/>
                                  </a:rPr>
                                  <m:t>𝑡𝑖𝑚</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𝑒</m:t>
                                    </m:r>
                                  </m:e>
                                  <m:sub>
                                    <m:r>
                                      <a:rPr lang="en-US" sz="1800" i="1" kern="1200">
                                        <a:solidFill>
                                          <a:schemeClr val="tx1"/>
                                        </a:solidFill>
                                        <a:effectLst/>
                                        <a:latin typeface="Cambria Math" panose="02040503050406030204" pitchFamily="18" charset="0"/>
                                        <a:ea typeface="+mn-ea"/>
                                        <a:cs typeface="+mn-cs"/>
                                      </a:rPr>
                                      <m:t>𝑖𝑡</m:t>
                                    </m:r>
                                  </m:sub>
                                </m:sSub>
                                <m:r>
                                  <a:rPr lang="en-US" sz="1800" i="1" kern="1200">
                                    <a:solidFill>
                                      <a:schemeClr val="tx1"/>
                                    </a:solidFill>
                                    <a:effectLst/>
                                    <a:latin typeface="Cambria Math" panose="02040503050406030204" pitchFamily="18" charset="0"/>
                                    <a:ea typeface="+mn-ea"/>
                                    <a:cs typeface="+mn-cs"/>
                                  </a:rPr>
                                  <m:t>−0.2∗</m:t>
                                </m:r>
                                <m:r>
                                  <a:rPr lang="en-US" sz="1800" i="1" kern="1200">
                                    <a:solidFill>
                                      <a:schemeClr val="tx1"/>
                                    </a:solidFill>
                                    <a:effectLst/>
                                    <a:latin typeface="Cambria Math" panose="02040503050406030204" pitchFamily="18" charset="0"/>
                                    <a:ea typeface="+mn-ea"/>
                                    <a:cs typeface="+mn-cs"/>
                                  </a:rPr>
                                  <m:t>𝑡𝑟𝑒𝑎𝑡𝑚𝑒𝑛</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𝑡</m:t>
                                    </m:r>
                                  </m:e>
                                  <m:sub>
                                    <m:r>
                                      <a:rPr lang="en-US" sz="1800" i="1" kern="1200">
                                        <a:solidFill>
                                          <a:schemeClr val="tx1"/>
                                        </a:solidFill>
                                        <a:effectLst/>
                                        <a:latin typeface="Cambria Math" panose="02040503050406030204" pitchFamily="18" charset="0"/>
                                        <a:ea typeface="+mn-ea"/>
                                        <a:cs typeface="+mn-cs"/>
                                      </a:rPr>
                                      <m:t>𝑖</m:t>
                                    </m:r>
                                  </m:sub>
                                </m:sSub>
                                <m:r>
                                  <a:rPr lang="en-US" sz="1800" i="1" kern="1200">
                                    <a:solidFill>
                                      <a:schemeClr val="tx1"/>
                                    </a:solidFill>
                                    <a:effectLst/>
                                    <a:latin typeface="Cambria Math" panose="02040503050406030204" pitchFamily="18" charset="0"/>
                                    <a:ea typeface="+mn-ea"/>
                                    <a:cs typeface="+mn-cs"/>
                                  </a:rPr>
                                  <m:t>+1.2∗</m:t>
                                </m:r>
                                <m:r>
                                  <a:rPr lang="en-US" sz="1800" i="1" kern="1200">
                                    <a:solidFill>
                                      <a:schemeClr val="tx1"/>
                                    </a:solidFill>
                                    <a:effectLst/>
                                    <a:latin typeface="Cambria Math" panose="02040503050406030204" pitchFamily="18" charset="0"/>
                                    <a:ea typeface="+mn-ea"/>
                                    <a:cs typeface="+mn-cs"/>
                                  </a:rPr>
                                  <m:t>𝑔𝑒𝑛𝑑𝑒</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𝑟</m:t>
                                    </m:r>
                                  </m:e>
                                  <m:sub>
                                    <m:r>
                                      <a:rPr lang="en-US" sz="1800" i="1" kern="1200">
                                        <a:solidFill>
                                          <a:schemeClr val="tx1"/>
                                        </a:solidFill>
                                        <a:effectLst/>
                                        <a:latin typeface="Cambria Math" panose="02040503050406030204" pitchFamily="18" charset="0"/>
                                        <a:ea typeface="+mn-ea"/>
                                        <a:cs typeface="+mn-cs"/>
                                      </a:rPr>
                                      <m:t>𝑖</m:t>
                                    </m:r>
                                  </m:sub>
                                </m:sSub>
                                <m:r>
                                  <a:rPr lang="en-US" sz="1800" i="1" kern="1200">
                                    <a:solidFill>
                                      <a:schemeClr val="tx1"/>
                                    </a:solidFill>
                                    <a:effectLst/>
                                    <a:latin typeface="Cambria Math" panose="02040503050406030204" pitchFamily="18" charset="0"/>
                                    <a:ea typeface="+mn-ea"/>
                                    <a:cs typeface="+mn-cs"/>
                                  </a:rPr>
                                  <m:t>−0.8∗</m:t>
                                </m:r>
                                <m:r>
                                  <a:rPr lang="en-US" sz="1800" i="1" kern="1200">
                                    <a:solidFill>
                                      <a:schemeClr val="tx1"/>
                                    </a:solidFill>
                                    <a:effectLst/>
                                    <a:latin typeface="Cambria Math" panose="02040503050406030204" pitchFamily="18" charset="0"/>
                                    <a:ea typeface="+mn-ea"/>
                                    <a:cs typeface="+mn-cs"/>
                                  </a:rPr>
                                  <m:t>h𝑖𝑠𝑝𝑎𝑛𝑖</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𝑐</m:t>
                                    </m:r>
                                  </m:e>
                                  <m:sub>
                                    <m:r>
                                      <a:rPr lang="en-US" sz="1800" i="1" kern="1200">
                                        <a:solidFill>
                                          <a:schemeClr val="tx1"/>
                                        </a:solidFill>
                                        <a:effectLst/>
                                        <a:latin typeface="Cambria Math" panose="02040503050406030204" pitchFamily="18" charset="0"/>
                                        <a:ea typeface="+mn-ea"/>
                                        <a:cs typeface="+mn-cs"/>
                                      </a:rPr>
                                      <m:t>𝑖</m:t>
                                    </m:r>
                                  </m:sub>
                                </m:sSub>
                                <m:r>
                                  <a:rPr lang="en-US" sz="1800" i="1" kern="1200">
                                    <a:solidFill>
                                      <a:schemeClr val="tx1"/>
                                    </a:solidFill>
                                    <a:effectLst/>
                                    <a:latin typeface="Cambria Math" panose="02040503050406030204" pitchFamily="18" charset="0"/>
                                    <a:ea typeface="+mn-ea"/>
                                    <a:cs typeface="+mn-cs"/>
                                  </a:rPr>
                                  <m:t>−0.2∗</m:t>
                                </m:r>
                                <m:r>
                                  <a:rPr lang="en-US" sz="1800" i="1" kern="1200">
                                    <a:solidFill>
                                      <a:schemeClr val="tx1"/>
                                    </a:solidFill>
                                    <a:effectLst/>
                                    <a:latin typeface="Cambria Math" panose="02040503050406030204" pitchFamily="18" charset="0"/>
                                    <a:ea typeface="+mn-ea"/>
                                    <a:cs typeface="+mn-cs"/>
                                  </a:rPr>
                                  <m:t>𝑧𝑃𝐶</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𝑆</m:t>
                                    </m:r>
                                  </m:e>
                                  <m:sub>
                                    <m:r>
                                      <a:rPr lang="en-US" sz="1800" i="1" kern="1200">
                                        <a:solidFill>
                                          <a:schemeClr val="tx1"/>
                                        </a:solidFill>
                                        <a:effectLst/>
                                        <a:latin typeface="Cambria Math" panose="02040503050406030204" pitchFamily="18" charset="0"/>
                                        <a:ea typeface="+mn-ea"/>
                                        <a:cs typeface="+mn-cs"/>
                                      </a:rPr>
                                      <m:t>𝑖𝑡</m:t>
                                    </m:r>
                                  </m:sub>
                                </m:sSub>
                                <m:r>
                                  <a:rPr lang="en-US" sz="1800" i="1" kern="1200" smtClean="0">
                                    <a:solidFill>
                                      <a:schemeClr val="tx1"/>
                                    </a:solidFill>
                                    <a:effectLst/>
                                    <a:latin typeface="Cambria Math" panose="02040503050406030204" pitchFamily="18" charset="0"/>
                                    <a:ea typeface="+mn-ea"/>
                                    <a:cs typeface="+mn-cs"/>
                                  </a:rPr>
                                  <m:t>+</m:t>
                                </m:r>
                                <m:sSub>
                                  <m:sSubPr>
                                    <m:ctrlPr>
                                      <a:rPr lang="en-US" sz="1800" i="1" kern="1200" smtClean="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𝑢</m:t>
                                    </m:r>
                                  </m:e>
                                  <m:sub>
                                    <m:r>
                                      <a:rPr lang="en-US" sz="1800" i="1" kern="1200">
                                        <a:solidFill>
                                          <a:schemeClr val="tx1"/>
                                        </a:solidFill>
                                        <a:effectLst/>
                                        <a:latin typeface="Cambria Math" panose="02040503050406030204" pitchFamily="18" charset="0"/>
                                        <a:ea typeface="+mn-ea"/>
                                        <a:cs typeface="+mn-cs"/>
                                      </a:rPr>
                                      <m:t>𝑖</m:t>
                                    </m:r>
                                  </m:sub>
                                </m:sSub>
                              </m:oMath>
                            </m:oMathPara>
                          </a14:m>
                          <a:endParaRPr lang="en-US" sz="18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800" kern="1200" dirty="0">
                            <a:solidFill>
                              <a:schemeClr val="dk1"/>
                            </a:solidFill>
                            <a:effectLst/>
                          </a:endParaRPr>
                        </a:p>
                        <a:p>
                          <a:endParaRPr lang="en-US" dirty="0"/>
                        </a:p>
                      </a:txBody>
                      <a:tcPr anchor="ctr"/>
                    </a:tc>
                    <a:extLst>
                      <a:ext uri="{0D108BD9-81ED-4DB2-BD59-A6C34878D82A}">
                        <a16:rowId xmlns:a16="http://schemas.microsoft.com/office/drawing/2014/main" val="397970975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b="1" kern="1200" dirty="0">
                              <a:solidFill>
                                <a:schemeClr val="tx1"/>
                              </a:solidFill>
                              <a:effectLst/>
                              <a:latin typeface="+mn-lt"/>
                              <a:ea typeface="+mn-ea"/>
                              <a:cs typeface="+mn-cs"/>
                            </a:rPr>
                            <a:t>PART 2: Positive Cost model (continuous outcome, gamma regression)</a:t>
                          </a:r>
                        </a:p>
                      </a:txBody>
                      <a:tcPr anchor="ctr"/>
                    </a:tc>
                    <a:extLst>
                      <a:ext uri="{0D108BD9-81ED-4DB2-BD59-A6C34878D82A}">
                        <a16:rowId xmlns:a16="http://schemas.microsoft.com/office/drawing/2014/main" val="3840156582"/>
                      </a:ext>
                    </a:extLst>
                  </a:tr>
                  <a:tr h="370840">
                    <a:tc>
                      <a:txBody>
                        <a:bodyPr/>
                        <a:lstStyle/>
                        <a:p>
                          <a:pPr/>
                          <a14:m>
                            <m:oMathPara xmlns:m="http://schemas.openxmlformats.org/officeDocument/2006/math">
                              <m:oMathParaPr>
                                <m:jc m:val="centerGroup"/>
                              </m:oMathParaPr>
                              <m:oMath xmlns:m="http://schemas.openxmlformats.org/officeDocument/2006/math">
                                <m:func>
                                  <m:funcPr>
                                    <m:ctrlPr>
                                      <a:rPr lang="en-US" sz="1800" i="1" kern="1200" smtClean="0">
                                        <a:solidFill>
                                          <a:schemeClr val="tx1"/>
                                        </a:solidFill>
                                        <a:effectLst/>
                                        <a:latin typeface="Cambria Math" panose="02040503050406030204" pitchFamily="18" charset="0"/>
                                        <a:ea typeface="+mn-ea"/>
                                        <a:cs typeface="+mn-cs"/>
                                      </a:rPr>
                                    </m:ctrlPr>
                                  </m:funcPr>
                                  <m:fName>
                                    <m:r>
                                      <m:rPr>
                                        <m:sty m:val="p"/>
                                      </m:rPr>
                                      <a:rPr lang="en-US" sz="1800" kern="1200">
                                        <a:solidFill>
                                          <a:schemeClr val="tx1"/>
                                        </a:solidFill>
                                        <a:effectLst/>
                                        <a:latin typeface="Cambria Math" panose="02040503050406030204" pitchFamily="18" charset="0"/>
                                        <a:ea typeface="+mn-ea"/>
                                        <a:cs typeface="+mn-cs"/>
                                      </a:rPr>
                                      <m:t>log</m:t>
                                    </m:r>
                                  </m:fName>
                                  <m:e>
                                    <m:d>
                                      <m:dPr>
                                        <m:ctrlPr>
                                          <a:rPr lang="en-US" sz="1800" i="1" kern="1200">
                                            <a:solidFill>
                                              <a:schemeClr val="tx1"/>
                                            </a:solidFill>
                                            <a:effectLst/>
                                            <a:latin typeface="Cambria Math" panose="02040503050406030204" pitchFamily="18" charset="0"/>
                                            <a:ea typeface="+mn-ea"/>
                                            <a:cs typeface="+mn-cs"/>
                                          </a:rPr>
                                        </m:ctrlPr>
                                      </m:dPr>
                                      <m:e>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𝜇</m:t>
                                            </m:r>
                                          </m:e>
                                          <m:sub>
                                            <m:r>
                                              <a:rPr lang="en-US" sz="1800" i="1" kern="1200">
                                                <a:solidFill>
                                                  <a:schemeClr val="tx1"/>
                                                </a:solidFill>
                                                <a:effectLst/>
                                                <a:latin typeface="Cambria Math" panose="02040503050406030204" pitchFamily="18" charset="0"/>
                                                <a:ea typeface="+mn-ea"/>
                                                <a:cs typeface="+mn-cs"/>
                                              </a:rPr>
                                              <m:t>𝑖𝑡</m:t>
                                            </m:r>
                                          </m:sub>
                                        </m:sSub>
                                      </m:e>
                                    </m:d>
                                  </m:e>
                                </m:func>
                                <m:r>
                                  <a:rPr lang="en-US" sz="1800" i="1" kern="1200">
                                    <a:solidFill>
                                      <a:schemeClr val="tx1"/>
                                    </a:solidFill>
                                    <a:effectLst/>
                                    <a:latin typeface="Cambria Math" panose="02040503050406030204" pitchFamily="18" charset="0"/>
                                    <a:ea typeface="+mn-ea"/>
                                    <a:cs typeface="+mn-cs"/>
                                  </a:rPr>
                                  <m:t>=7+0.2∗</m:t>
                                </m:r>
                                <m:r>
                                  <a:rPr lang="en-US" sz="1800" i="1" kern="1200">
                                    <a:solidFill>
                                      <a:schemeClr val="tx1"/>
                                    </a:solidFill>
                                    <a:effectLst/>
                                    <a:latin typeface="Cambria Math" panose="02040503050406030204" pitchFamily="18" charset="0"/>
                                    <a:ea typeface="+mn-ea"/>
                                    <a:cs typeface="+mn-cs"/>
                                  </a:rPr>
                                  <m:t>𝑝𝑟𝑒𝑝𝑜𝑠</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𝑡</m:t>
                                    </m:r>
                                  </m:e>
                                  <m:sub>
                                    <m:r>
                                      <a:rPr lang="en-US" sz="1800" i="1" kern="1200">
                                        <a:solidFill>
                                          <a:schemeClr val="tx1"/>
                                        </a:solidFill>
                                        <a:effectLst/>
                                        <a:latin typeface="Cambria Math" panose="02040503050406030204" pitchFamily="18" charset="0"/>
                                        <a:ea typeface="+mn-ea"/>
                                        <a:cs typeface="+mn-cs"/>
                                      </a:rPr>
                                      <m:t>𝑖𝑡</m:t>
                                    </m:r>
                                  </m:sub>
                                </m:sSub>
                                <m:r>
                                  <a:rPr lang="en-US" sz="1800" i="1" kern="1200">
                                    <a:solidFill>
                                      <a:schemeClr val="tx1"/>
                                    </a:solidFill>
                                    <a:effectLst/>
                                    <a:latin typeface="Cambria Math" panose="02040503050406030204" pitchFamily="18" charset="0"/>
                                    <a:ea typeface="+mn-ea"/>
                                    <a:cs typeface="+mn-cs"/>
                                  </a:rPr>
                                  <m:t>+0.2∗</m:t>
                                </m:r>
                                <m:r>
                                  <a:rPr lang="en-US" sz="1800" i="1" kern="1200">
                                    <a:solidFill>
                                      <a:schemeClr val="tx1"/>
                                    </a:solidFill>
                                    <a:effectLst/>
                                    <a:latin typeface="Cambria Math" panose="02040503050406030204" pitchFamily="18" charset="0"/>
                                    <a:ea typeface="+mn-ea"/>
                                    <a:cs typeface="+mn-cs"/>
                                  </a:rPr>
                                  <m:t>𝑡𝑟𝑒𝑎𝑡𝑚𝑒𝑛</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𝑡</m:t>
                                    </m:r>
                                  </m:e>
                                  <m:sub>
                                    <m:r>
                                      <a:rPr lang="en-US" sz="1800" i="1" kern="1200">
                                        <a:solidFill>
                                          <a:schemeClr val="tx1"/>
                                        </a:solidFill>
                                        <a:effectLst/>
                                        <a:latin typeface="Cambria Math" panose="02040503050406030204" pitchFamily="18" charset="0"/>
                                        <a:ea typeface="+mn-ea"/>
                                        <a:cs typeface="+mn-cs"/>
                                      </a:rPr>
                                      <m:t>𝑖</m:t>
                                    </m:r>
                                  </m:sub>
                                </m:sSub>
                                <m:r>
                                  <a:rPr lang="en-US" sz="1800" i="1" kern="1200">
                                    <a:solidFill>
                                      <a:schemeClr val="tx1"/>
                                    </a:solidFill>
                                    <a:effectLst/>
                                    <a:latin typeface="Cambria Math" panose="02040503050406030204" pitchFamily="18" charset="0"/>
                                    <a:ea typeface="+mn-ea"/>
                                    <a:cs typeface="+mn-cs"/>
                                  </a:rPr>
                                  <m:t>−0.4∗</m:t>
                                </m:r>
                                <m:r>
                                  <a:rPr lang="en-US" sz="1800" i="1" kern="1200">
                                    <a:solidFill>
                                      <a:schemeClr val="tx1"/>
                                    </a:solidFill>
                                    <a:effectLst/>
                                    <a:latin typeface="Cambria Math" panose="02040503050406030204" pitchFamily="18" charset="0"/>
                                    <a:ea typeface="+mn-ea"/>
                                    <a:cs typeface="+mn-cs"/>
                                  </a:rPr>
                                  <m:t>𝑧𝑃𝐶</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𝑆</m:t>
                                    </m:r>
                                  </m:e>
                                  <m:sub>
                                    <m:r>
                                      <a:rPr lang="en-US" sz="1800" i="1" kern="1200">
                                        <a:solidFill>
                                          <a:schemeClr val="tx1"/>
                                        </a:solidFill>
                                        <a:effectLst/>
                                        <a:latin typeface="Cambria Math" panose="02040503050406030204" pitchFamily="18" charset="0"/>
                                        <a:ea typeface="+mn-ea"/>
                                        <a:cs typeface="+mn-cs"/>
                                      </a:rPr>
                                      <m:t>𝑖𝑡</m:t>
                                    </m:r>
                                  </m:sub>
                                </m:sSub>
                                <m:r>
                                  <a:rPr lang="en-US" sz="1800" i="1" kern="1200">
                                    <a:solidFill>
                                      <a:schemeClr val="tx1"/>
                                    </a:solidFill>
                                    <a:effectLst/>
                                    <a:latin typeface="Cambria Math" panose="02040503050406030204" pitchFamily="18" charset="0"/>
                                    <a:ea typeface="+mn-ea"/>
                                    <a:cs typeface="+mn-cs"/>
                                  </a:rPr>
                                  <m:t>+0.4∗</m:t>
                                </m:r>
                                <m:r>
                                  <a:rPr lang="en-US" sz="1800" i="1" kern="1200">
                                    <a:solidFill>
                                      <a:schemeClr val="tx1"/>
                                    </a:solidFill>
                                    <a:effectLst/>
                                    <a:latin typeface="Cambria Math" panose="02040503050406030204" pitchFamily="18" charset="0"/>
                                    <a:ea typeface="+mn-ea"/>
                                    <a:cs typeface="+mn-cs"/>
                                  </a:rPr>
                                  <m:t>𝑔𝑒𝑛𝑑𝑒𝑟</m:t>
                                </m:r>
                                <m:r>
                                  <a:rPr lang="en-US" sz="1800" i="1" kern="1200">
                                    <a:solidFill>
                                      <a:schemeClr val="tx1"/>
                                    </a:solidFill>
                                    <a:effectLst/>
                                    <a:latin typeface="Cambria Math" panose="02040503050406030204" pitchFamily="18" charset="0"/>
                                    <a:ea typeface="+mn-ea"/>
                                    <a:cs typeface="+mn-cs"/>
                                  </a:rPr>
                                  <m:t>−0.2∗</m:t>
                                </m:r>
                                <m:r>
                                  <a:rPr lang="en-US" sz="1800" i="1" kern="1200">
                                    <a:solidFill>
                                      <a:schemeClr val="tx1"/>
                                    </a:solidFill>
                                    <a:effectLst/>
                                    <a:latin typeface="Cambria Math" panose="02040503050406030204" pitchFamily="18" charset="0"/>
                                    <a:ea typeface="+mn-ea"/>
                                    <a:cs typeface="+mn-cs"/>
                                  </a:rPr>
                                  <m:t>h𝑖𝑠𝑝𝑎𝑛𝑖</m:t>
                                </m:r>
                                <m:sSub>
                                  <m:sSubPr>
                                    <m:ctrlPr>
                                      <a:rPr lang="en-US" sz="1800" i="1" kern="120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𝑐</m:t>
                                    </m:r>
                                  </m:e>
                                  <m:sub>
                                    <m:r>
                                      <a:rPr lang="en-US" sz="1800" i="1" kern="1200">
                                        <a:solidFill>
                                          <a:schemeClr val="tx1"/>
                                        </a:solidFill>
                                        <a:effectLst/>
                                        <a:latin typeface="Cambria Math" panose="02040503050406030204" pitchFamily="18" charset="0"/>
                                        <a:ea typeface="+mn-ea"/>
                                        <a:cs typeface="+mn-cs"/>
                                      </a:rPr>
                                      <m:t>𝑖</m:t>
                                    </m:r>
                                  </m:sub>
                                </m:sSub>
                                <m:r>
                                  <a:rPr lang="en-US" sz="1800" i="1" kern="1200" smtClean="0">
                                    <a:solidFill>
                                      <a:schemeClr val="tx1"/>
                                    </a:solidFill>
                                    <a:effectLst/>
                                    <a:latin typeface="Cambria Math" panose="02040503050406030204" pitchFamily="18" charset="0"/>
                                    <a:ea typeface="+mn-ea"/>
                                    <a:cs typeface="+mn-cs"/>
                                  </a:rPr>
                                  <m:t>+</m:t>
                                </m:r>
                                <m:sSub>
                                  <m:sSubPr>
                                    <m:ctrlPr>
                                      <a:rPr lang="en-US" sz="1800" i="1" kern="1200" smtClean="0">
                                        <a:solidFill>
                                          <a:schemeClr val="tx1"/>
                                        </a:solidFill>
                                        <a:effectLst/>
                                        <a:latin typeface="Cambria Math" panose="02040503050406030204" pitchFamily="18" charset="0"/>
                                        <a:ea typeface="+mn-ea"/>
                                        <a:cs typeface="+mn-cs"/>
                                      </a:rPr>
                                    </m:ctrlPr>
                                  </m:sSubPr>
                                  <m:e>
                                    <m:r>
                                      <a:rPr lang="en-US" sz="1800" i="1" kern="1200">
                                        <a:solidFill>
                                          <a:schemeClr val="tx1"/>
                                        </a:solidFill>
                                        <a:effectLst/>
                                        <a:latin typeface="Cambria Math" panose="02040503050406030204" pitchFamily="18" charset="0"/>
                                        <a:ea typeface="+mn-ea"/>
                                        <a:cs typeface="+mn-cs"/>
                                      </a:rPr>
                                      <m:t>𝑢</m:t>
                                    </m:r>
                                  </m:e>
                                  <m:sub>
                                    <m:r>
                                      <a:rPr lang="en-US" sz="1800" i="1" kern="1200">
                                        <a:solidFill>
                                          <a:schemeClr val="tx1"/>
                                        </a:solidFill>
                                        <a:effectLst/>
                                        <a:latin typeface="Cambria Math" panose="02040503050406030204" pitchFamily="18" charset="0"/>
                                        <a:ea typeface="+mn-ea"/>
                                        <a:cs typeface="+mn-cs"/>
                                      </a:rPr>
                                      <m:t>𝑖</m:t>
                                    </m:r>
                                  </m:sub>
                                </m:sSub>
                                <m:r>
                                  <a:rPr lang="en-US" sz="1800" i="1" kern="1200" smtClean="0">
                                    <a:solidFill>
                                      <a:schemeClr val="tx1"/>
                                    </a:solidFill>
                                    <a:effectLst/>
                                    <a:latin typeface="Cambria Math" panose="02040503050406030204" pitchFamily="18" charset="0"/>
                                    <a:ea typeface="+mn-ea"/>
                                    <a:cs typeface="+mn-cs"/>
                                  </a:rPr>
                                  <m:t> </m:t>
                                </m:r>
                              </m:oMath>
                            </m:oMathPara>
                          </a14:m>
                          <a:endParaRPr lang="en-US" sz="18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3502669975"/>
                      </a:ext>
                    </a:extLst>
                  </a:tr>
                </a:tbl>
              </a:graphicData>
            </a:graphic>
          </p:graphicFrame>
        </mc:Choice>
        <mc:Fallback xmlns="">
          <p:graphicFrame>
            <p:nvGraphicFramePr>
              <p:cNvPr id="3" name="Table 4">
                <a:extLst>
                  <a:ext uri="{FF2B5EF4-FFF2-40B4-BE49-F238E27FC236}">
                    <a16:creationId xmlns:a16="http://schemas.microsoft.com/office/drawing/2014/main" id="{916E46CA-BF9C-4C65-9178-9C66800F5AC9}"/>
                  </a:ext>
                </a:extLst>
              </p:cNvPr>
              <p:cNvGraphicFramePr>
                <a:graphicFrameLocks noGrp="1"/>
              </p:cNvGraphicFramePr>
              <p:nvPr>
                <p:ph idx="1"/>
                <p:extLst>
                  <p:ext uri="{D42A27DB-BD31-4B8C-83A1-F6EECF244321}">
                    <p14:modId xmlns:p14="http://schemas.microsoft.com/office/powerpoint/2010/main" val="1588845311"/>
                  </p:ext>
                </p:extLst>
              </p:nvPr>
            </p:nvGraphicFramePr>
            <p:xfrm>
              <a:off x="609601" y="2329180"/>
              <a:ext cx="10972799" cy="2199640"/>
            </p:xfrm>
            <a:graphic>
              <a:graphicData uri="http://schemas.openxmlformats.org/drawingml/2006/table">
                <a:tbl>
                  <a:tblPr firstRow="1" bandRow="1">
                    <a:tableStyleId>{2D5ABB26-0587-4C30-8999-92F81FD0307C}</a:tableStyleId>
                  </a:tblPr>
                  <a:tblGrid>
                    <a:gridCol w="10972799">
                      <a:extLst>
                        <a:ext uri="{9D8B030D-6E8A-4147-A177-3AD203B41FA5}">
                          <a16:colId xmlns:a16="http://schemas.microsoft.com/office/drawing/2014/main" val="4034303273"/>
                        </a:ext>
                      </a:extLst>
                    </a:gridCol>
                  </a:tblGrid>
                  <a:tr h="457200">
                    <a:tc>
                      <a:txBody>
                        <a:bodyPr/>
                        <a:lstStyle/>
                        <a:p>
                          <a:r>
                            <a:rPr lang="en-US" sz="2400" b="1" dirty="0"/>
                            <a:t>PART 1: Probability Model (binary outcome, logistic regression)</a:t>
                          </a:r>
                        </a:p>
                      </a:txBody>
                      <a:tcPr/>
                    </a:tc>
                    <a:extLst>
                      <a:ext uri="{0D108BD9-81ED-4DB2-BD59-A6C34878D82A}">
                        <a16:rowId xmlns:a16="http://schemas.microsoft.com/office/drawing/2014/main" val="289700628"/>
                      </a:ext>
                    </a:extLst>
                  </a:tr>
                  <a:tr h="914400">
                    <a:tc>
                      <a:txBody>
                        <a:bodyPr/>
                        <a:lstStyle/>
                        <a:p>
                          <a:endParaRPr lang="en-US"/>
                        </a:p>
                      </a:txBody>
                      <a:tcPr anchor="ctr">
                        <a:blipFill>
                          <a:blip r:embed="rId3"/>
                          <a:stretch>
                            <a:fillRect t="-55333" b="-96000"/>
                          </a:stretch>
                        </a:blipFill>
                      </a:tcPr>
                    </a:tc>
                    <a:extLst>
                      <a:ext uri="{0D108BD9-81ED-4DB2-BD59-A6C34878D82A}">
                        <a16:rowId xmlns:a16="http://schemas.microsoft.com/office/drawing/2014/main" val="3979709759"/>
                      </a:ext>
                    </a:extLst>
                  </a:tr>
                  <a:tr h="45720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b="1" kern="1200" dirty="0">
                              <a:solidFill>
                                <a:schemeClr val="tx1"/>
                              </a:solidFill>
                              <a:effectLst/>
                              <a:latin typeface="+mn-lt"/>
                              <a:ea typeface="+mn-ea"/>
                              <a:cs typeface="+mn-cs"/>
                            </a:rPr>
                            <a:t>PART 2: Positive Cost model (continuous outcome, gamma regression)</a:t>
                          </a:r>
                        </a:p>
                      </a:txBody>
                      <a:tcPr anchor="ctr"/>
                    </a:tc>
                    <a:extLst>
                      <a:ext uri="{0D108BD9-81ED-4DB2-BD59-A6C34878D82A}">
                        <a16:rowId xmlns:a16="http://schemas.microsoft.com/office/drawing/2014/main" val="3840156582"/>
                      </a:ext>
                    </a:extLst>
                  </a:tr>
                  <a:tr h="370840">
                    <a:tc>
                      <a:txBody>
                        <a:bodyPr/>
                        <a:lstStyle/>
                        <a:p>
                          <a:endParaRPr lang="en-US"/>
                        </a:p>
                      </a:txBody>
                      <a:tcPr anchor="ctr">
                        <a:blipFill>
                          <a:blip r:embed="rId3"/>
                          <a:stretch>
                            <a:fillRect t="-504918" b="-13115"/>
                          </a:stretch>
                        </a:blipFill>
                      </a:tcPr>
                    </a:tc>
                    <a:extLst>
                      <a:ext uri="{0D108BD9-81ED-4DB2-BD59-A6C34878D82A}">
                        <a16:rowId xmlns:a16="http://schemas.microsoft.com/office/drawing/2014/main" val="3502669975"/>
                      </a:ext>
                    </a:extLst>
                  </a:tr>
                </a:tbl>
              </a:graphicData>
            </a:graphic>
          </p:graphicFrame>
        </mc:Fallback>
      </mc:AlternateContent>
      <p:sp>
        <p:nvSpPr>
          <p:cNvPr id="4" name="TextBox 3">
            <a:extLst>
              <a:ext uri="{FF2B5EF4-FFF2-40B4-BE49-F238E27FC236}">
                <a16:creationId xmlns:a16="http://schemas.microsoft.com/office/drawing/2014/main" id="{8993A845-8414-4EB8-8DE4-C9513DE1BD56}"/>
              </a:ext>
            </a:extLst>
          </p:cNvPr>
          <p:cNvSpPr txBox="1"/>
          <p:nvPr/>
        </p:nvSpPr>
        <p:spPr>
          <a:xfrm>
            <a:off x="752354" y="1417638"/>
            <a:ext cx="4347024" cy="369332"/>
          </a:xfrm>
          <a:prstGeom prst="rect">
            <a:avLst/>
          </a:prstGeom>
          <a:noFill/>
        </p:spPr>
        <p:txBody>
          <a:bodyPr wrap="none" rtlCol="0">
            <a:spAutoFit/>
          </a:bodyPr>
          <a:lstStyle/>
          <a:p>
            <a:r>
              <a:rPr lang="en-US" dirty="0"/>
              <a:t>Used estimates from empirical data analysis </a:t>
            </a:r>
          </a:p>
        </p:txBody>
      </p:sp>
    </p:spTree>
    <p:extLst>
      <p:ext uri="{BB962C8B-B14F-4D97-AF65-F5344CB8AC3E}">
        <p14:creationId xmlns:p14="http://schemas.microsoft.com/office/powerpoint/2010/main" val="1114158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dirty="0">
                <a:latin typeface="Franklin Gothic Demi" panose="020B0703020102020204" pitchFamily="34" charset="0"/>
              </a:rPr>
              <a:t>Pilot Study Results</a:t>
            </a:r>
          </a:p>
        </p:txBody>
      </p:sp>
      <p:sp>
        <p:nvSpPr>
          <p:cNvPr id="3" name="Content Placeholder 2"/>
          <p:cNvSpPr>
            <a:spLocks noGrp="1"/>
          </p:cNvSpPr>
          <p:nvPr>
            <p:ph idx="1"/>
          </p:nvPr>
        </p:nvSpPr>
        <p:spPr>
          <a:xfrm>
            <a:off x="609600" y="1395663"/>
            <a:ext cx="10972800" cy="2033336"/>
          </a:xfrm>
        </p:spPr>
        <p:txBody>
          <a:bodyPr/>
          <a:lstStyle/>
          <a:p>
            <a:r>
              <a:rPr dirty="0"/>
              <a:t>Top-coding </a:t>
            </a:r>
            <a:r>
              <a:rPr lang="en-US" dirty="0"/>
              <a:t>reduces</a:t>
            </a:r>
            <a:r>
              <a:rPr dirty="0"/>
              <a:t> bias</a:t>
            </a:r>
            <a:r>
              <a:rPr lang="en-US" dirty="0"/>
              <a:t>, SE</a:t>
            </a:r>
            <a:endParaRPr dirty="0"/>
          </a:p>
          <a:p>
            <a:r>
              <a:rPr dirty="0"/>
              <a:t>Median-preserved best coverage</a:t>
            </a:r>
          </a:p>
        </p:txBody>
      </p:sp>
      <p:pic>
        <p:nvPicPr>
          <p:cNvPr id="6" name="Picture 5">
            <a:extLst>
              <a:ext uri="{FF2B5EF4-FFF2-40B4-BE49-F238E27FC236}">
                <a16:creationId xmlns:a16="http://schemas.microsoft.com/office/drawing/2014/main" id="{79C3FBBC-A05C-433C-AEA5-1075B86CCCD2}"/>
              </a:ext>
            </a:extLst>
          </p:cNvPr>
          <p:cNvPicPr>
            <a:picLocks noChangeAspect="1"/>
          </p:cNvPicPr>
          <p:nvPr/>
        </p:nvPicPr>
        <p:blipFill>
          <a:blip r:embed="rId3"/>
          <a:stretch>
            <a:fillRect/>
          </a:stretch>
        </p:blipFill>
        <p:spPr>
          <a:xfrm>
            <a:off x="1446920" y="2907587"/>
            <a:ext cx="9298159" cy="339695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C9EAA-94D1-C30A-3B22-BD2FB0171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AD3B6-7312-10B9-2E8A-A9433DE73C91}"/>
              </a:ext>
            </a:extLst>
          </p:cNvPr>
          <p:cNvSpPr>
            <a:spLocks noGrp="1"/>
          </p:cNvSpPr>
          <p:nvPr>
            <p:ph type="title"/>
          </p:nvPr>
        </p:nvSpPr>
        <p:spPr/>
        <p:txBody>
          <a:bodyPr/>
          <a:lstStyle/>
          <a:p>
            <a:pPr algn="l"/>
            <a:r>
              <a:rPr lang="en-US" dirty="0">
                <a:latin typeface="Franklin Gothic Demi" panose="020B0703020102020204" pitchFamily="34" charset="0"/>
              </a:rPr>
              <a:t>Full Factorial ANOVA</a:t>
            </a:r>
            <a:endParaRPr dirty="0">
              <a:latin typeface="Franklin Gothic Demi" panose="020B0703020102020204" pitchFamily="34" charset="0"/>
            </a:endParaRPr>
          </a:p>
        </p:txBody>
      </p:sp>
      <p:sp>
        <p:nvSpPr>
          <p:cNvPr id="3" name="Content Placeholder 2">
            <a:extLst>
              <a:ext uri="{FF2B5EF4-FFF2-40B4-BE49-F238E27FC236}">
                <a16:creationId xmlns:a16="http://schemas.microsoft.com/office/drawing/2014/main" id="{F437C6CD-52CF-4D93-778E-C311B88DC646}"/>
              </a:ext>
            </a:extLst>
          </p:cNvPr>
          <p:cNvSpPr>
            <a:spLocks noGrp="1"/>
          </p:cNvSpPr>
          <p:nvPr>
            <p:ph idx="1"/>
          </p:nvPr>
        </p:nvSpPr>
        <p:spPr>
          <a:xfrm>
            <a:off x="609600" y="2616200"/>
            <a:ext cx="10972800" cy="3789364"/>
          </a:xfrm>
        </p:spPr>
        <p:txBody>
          <a:bodyPr>
            <a:normAutofit fontScale="85000" lnSpcReduction="20000"/>
          </a:bodyPr>
          <a:lstStyle/>
          <a:p>
            <a:r>
              <a:rPr lang="en-US" dirty="0"/>
              <a:t>4-way interaction, conditional effect</a:t>
            </a:r>
          </a:p>
          <a:p>
            <a:pPr lvl="1"/>
            <a:r>
              <a:rPr lang="en-US" dirty="0"/>
              <a:t>All four factors jointly determine estimator performance</a:t>
            </a:r>
          </a:p>
          <a:p>
            <a:pPr lvl="1"/>
            <a:r>
              <a:rPr lang="en-US" dirty="0"/>
              <a:t>Statements about effects will specify all four factor levels (ex: “For large samples with high proportion of extreme values and highest magnitude, Method A reduces bias more than Method B” or “On average, Method 1 reduces bias compared to raw data, across all sample sizes and extreme-value conditions”</a:t>
            </a:r>
          </a:p>
          <a:p>
            <a:r>
              <a:rPr lang="en-US" dirty="0"/>
              <a:t>Effect size will be examined (variance explained via partial </a:t>
            </a:r>
            <a:r>
              <a:rPr lang="el-GR" dirty="0"/>
              <a:t>η</a:t>
            </a:r>
            <a:r>
              <a:rPr lang="en-US" baseline="30000" dirty="0"/>
              <a:t>2</a:t>
            </a:r>
            <a:r>
              <a:rPr lang="en-US" dirty="0"/>
              <a:t>)</a:t>
            </a:r>
          </a:p>
          <a:p>
            <a:r>
              <a:rPr lang="en-US" dirty="0"/>
              <a:t>Will look at conditional/model-based contrasts (</a:t>
            </a:r>
            <a:r>
              <a:rPr lang="en-US" dirty="0" err="1"/>
              <a:t>emmeans</a:t>
            </a:r>
            <a:r>
              <a:rPr lang="en-US" dirty="0"/>
              <a:t> in R) to quantify size of differences attributable to the interaction, including CI’s, across factor combinations</a:t>
            </a:r>
            <a:endParaRPr dirty="0"/>
          </a:p>
        </p:txBody>
      </p:sp>
      <p:sp>
        <p:nvSpPr>
          <p:cNvPr id="5" name="TextBox 4">
            <a:extLst>
              <a:ext uri="{FF2B5EF4-FFF2-40B4-BE49-F238E27FC236}">
                <a16:creationId xmlns:a16="http://schemas.microsoft.com/office/drawing/2014/main" id="{FA625E73-33F2-448D-873F-0BAF5F856597}"/>
              </a:ext>
            </a:extLst>
          </p:cNvPr>
          <p:cNvSpPr txBox="1"/>
          <p:nvPr/>
        </p:nvSpPr>
        <p:spPr>
          <a:xfrm>
            <a:off x="1117600" y="1278235"/>
            <a:ext cx="9740900" cy="1200329"/>
          </a:xfrm>
          <a:prstGeom prst="rect">
            <a:avLst/>
          </a:prstGeom>
          <a:noFill/>
        </p:spPr>
        <p:txBody>
          <a:bodyPr wrap="square">
            <a:spAutoFit/>
          </a:bodyPr>
          <a:lstStyle/>
          <a:p>
            <a:r>
              <a:rPr lang="en-US" dirty="0" err="1">
                <a:latin typeface="Courier New" panose="02070309020205020404" pitchFamily="49" charset="0"/>
                <a:cs typeface="Courier New" panose="02070309020205020404" pitchFamily="49" charset="0"/>
              </a:rPr>
              <a:t>lm_bias</a:t>
            </a:r>
            <a:r>
              <a:rPr lang="en-US" dirty="0">
                <a:latin typeface="Courier New" panose="02070309020205020404" pitchFamily="49" charset="0"/>
                <a:cs typeface="Courier New" panose="02070309020205020404" pitchFamily="49" charset="0"/>
              </a:rPr>
              <a:t> &lt;- lm(Bias ~ Method * </a:t>
            </a:r>
            <a:r>
              <a:rPr lang="en-US" dirty="0" err="1">
                <a:latin typeface="Courier New" panose="02070309020205020404" pitchFamily="49" charset="0"/>
                <a:cs typeface="Courier New" panose="02070309020205020404" pitchFamily="49" charset="0"/>
              </a:rPr>
              <a:t>SampleSize</a:t>
            </a:r>
            <a:r>
              <a:rPr lang="en-US" dirty="0">
                <a:latin typeface="Courier New" panose="02070309020205020404" pitchFamily="49" charset="0"/>
                <a:cs typeface="Courier New" panose="02070309020205020404" pitchFamily="49" charset="0"/>
              </a:rPr>
              <a:t> * Magnitude * Proportion, data = data)</a:t>
            </a:r>
          </a:p>
          <a:p>
            <a:r>
              <a:rPr lang="en-US" dirty="0"/>
              <a:t>- In R, * expands to main effects + all interactions (4 main effects, 6 two-way interactions, 4 three-way interactions, 1 four-way interaction)</a:t>
            </a:r>
          </a:p>
        </p:txBody>
      </p:sp>
    </p:spTree>
    <p:extLst>
      <p:ext uri="{BB962C8B-B14F-4D97-AF65-F5344CB8AC3E}">
        <p14:creationId xmlns:p14="http://schemas.microsoft.com/office/powerpoint/2010/main" val="29108594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7CEE9-3D19-0592-30A4-AB1A73851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1110E-D4DB-AB8B-2871-5F3284CFA3ED}"/>
              </a:ext>
            </a:extLst>
          </p:cNvPr>
          <p:cNvSpPr>
            <a:spLocks noGrp="1"/>
          </p:cNvSpPr>
          <p:nvPr>
            <p:ph type="title"/>
          </p:nvPr>
        </p:nvSpPr>
        <p:spPr/>
        <p:txBody>
          <a:bodyPr/>
          <a:lstStyle/>
          <a:p>
            <a:pPr algn="l"/>
            <a:r>
              <a:rPr lang="en-US" dirty="0">
                <a:latin typeface="Franklin Gothic Demi" panose="020B0703020102020204" pitchFamily="34" charset="0"/>
              </a:rPr>
              <a:t>Study Significance</a:t>
            </a:r>
            <a:endParaRPr dirty="0">
              <a:latin typeface="Franklin Gothic Demi" panose="020B0703020102020204" pitchFamily="34" charset="0"/>
            </a:endParaRPr>
          </a:p>
        </p:txBody>
      </p:sp>
      <p:sp>
        <p:nvSpPr>
          <p:cNvPr id="4" name="Content Placeholder 2">
            <a:extLst>
              <a:ext uri="{FF2B5EF4-FFF2-40B4-BE49-F238E27FC236}">
                <a16:creationId xmlns:a16="http://schemas.microsoft.com/office/drawing/2014/main" id="{B64A999C-23E8-45BD-B036-C6D1D2126E28}"/>
              </a:ext>
            </a:extLst>
          </p:cNvPr>
          <p:cNvSpPr>
            <a:spLocks noGrp="1"/>
          </p:cNvSpPr>
          <p:nvPr>
            <p:ph idx="1"/>
          </p:nvPr>
        </p:nvSpPr>
        <p:spPr>
          <a:xfrm>
            <a:off x="609600" y="1600201"/>
            <a:ext cx="10972800" cy="4983161"/>
          </a:xfrm>
        </p:spPr>
        <p:txBody>
          <a:bodyPr>
            <a:normAutofit fontScale="92500" lnSpcReduction="20000"/>
          </a:bodyPr>
          <a:lstStyle/>
          <a:p>
            <a:r>
              <a:rPr lang="en-US" dirty="0"/>
              <a:t>Addresses methodological gap in literature: Lack of systematic guidance on how to handle extreme values in HCE data</a:t>
            </a:r>
          </a:p>
          <a:p>
            <a:r>
              <a:rPr lang="en-US" dirty="0"/>
              <a:t>Provides simulation-based comparison of estimator performance across range of realistic data conditions.</a:t>
            </a:r>
          </a:p>
          <a:p>
            <a:r>
              <a:rPr lang="en-US" dirty="0"/>
              <a:t>Findings offer guidance for applied researchers seeking to balance need for robust estimation with realities of skewed, high-variance data.</a:t>
            </a:r>
          </a:p>
          <a:p>
            <a:r>
              <a:rPr lang="en-US" dirty="0"/>
              <a:t>Contributes to more transparent and evidence-based approach to data preprocessing in the estimation of costs of healthcare delivery in health services research</a:t>
            </a:r>
          </a:p>
          <a:p>
            <a:r>
              <a:rPr lang="en-US" dirty="0"/>
              <a:t>Broader implications for policy-relevant research</a:t>
            </a:r>
          </a:p>
        </p:txBody>
      </p:sp>
    </p:spTree>
    <p:extLst>
      <p:ext uri="{BB962C8B-B14F-4D97-AF65-F5344CB8AC3E}">
        <p14:creationId xmlns:p14="http://schemas.microsoft.com/office/powerpoint/2010/main" val="1490420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Franklin Gothic Demi" panose="020B0703020102020204" pitchFamily="34" charset="0"/>
              </a:rPr>
              <a:t>Limitations</a:t>
            </a:r>
            <a:r>
              <a:rPr dirty="0"/>
              <a:t> </a:t>
            </a:r>
            <a:r>
              <a:rPr dirty="0">
                <a:latin typeface="Franklin Gothic Demi" panose="020B0703020102020204" pitchFamily="34" charset="0"/>
              </a:rPr>
              <a:t>&amp; Assumptions</a:t>
            </a:r>
          </a:p>
        </p:txBody>
      </p:sp>
      <p:sp>
        <p:nvSpPr>
          <p:cNvPr id="3" name="Content Placeholder 2"/>
          <p:cNvSpPr>
            <a:spLocks noGrp="1"/>
          </p:cNvSpPr>
          <p:nvPr>
            <p:ph idx="1"/>
          </p:nvPr>
        </p:nvSpPr>
        <p:spPr/>
        <p:txBody>
          <a:bodyPr/>
          <a:lstStyle/>
          <a:p>
            <a:r>
              <a:rPr dirty="0"/>
              <a:t>Simulation assumptions</a:t>
            </a:r>
          </a:p>
          <a:p>
            <a:r>
              <a:rPr dirty="0"/>
              <a:t>Focus on TPM+GLM</a:t>
            </a:r>
          </a:p>
          <a:p>
            <a:r>
              <a:rPr dirty="0"/>
              <a:t>Interaction term only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347" y="2857500"/>
            <a:ext cx="10972800" cy="1143000"/>
          </a:xfrm>
        </p:spPr>
        <p:txBody>
          <a:bodyPr/>
          <a:lstStyle/>
          <a:p>
            <a:pPr algn="l"/>
            <a:r>
              <a:rPr lang="en-US" dirty="0">
                <a:latin typeface="Franklin Gothic Demi" panose="020B0703020102020204" pitchFamily="34" charset="0"/>
              </a:rPr>
              <a:t>Thank You</a:t>
            </a:r>
            <a:endParaRPr dirty="0">
              <a:latin typeface="Franklin Gothic Demi" panose="020B0703020102020204" pitchFamily="34" charset="0"/>
            </a:endParaRPr>
          </a:p>
        </p:txBody>
      </p:sp>
    </p:spTree>
    <p:extLst>
      <p:ext uri="{BB962C8B-B14F-4D97-AF65-F5344CB8AC3E}">
        <p14:creationId xmlns:p14="http://schemas.microsoft.com/office/powerpoint/2010/main" val="24467037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1022</TotalTime>
  <Words>4294</Words>
  <Application>Microsoft Office PowerPoint</Application>
  <PresentationFormat>Widescreen</PresentationFormat>
  <Paragraphs>296</Paragraphs>
  <Slides>30</Slides>
  <Notes>29</Notes>
  <HiddenSlides>1</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8" baseType="lpstr">
      <vt:lpstr>Arial</vt:lpstr>
      <vt:lpstr>Calibri</vt:lpstr>
      <vt:lpstr>Cambria Math</vt:lpstr>
      <vt:lpstr>Courier New</vt:lpstr>
      <vt:lpstr>Franklin Gothic Demi</vt:lpstr>
      <vt:lpstr>Times New Roman</vt:lpstr>
      <vt:lpstr>Office Theme</vt:lpstr>
      <vt:lpstr>Document</vt:lpstr>
      <vt:lpstr>Transforming the Tail: Evaluating Top-Coding and Distributional Adjustments in Skewed Healthcare Expenditure Models</vt:lpstr>
      <vt:lpstr>Agenda</vt:lpstr>
      <vt:lpstr>Introduction</vt:lpstr>
      <vt:lpstr>Introduction</vt:lpstr>
      <vt:lpstr>Healthcare Expenditure Modeling Challenges</vt:lpstr>
      <vt:lpstr>Healthcare Expenditure Challenges</vt:lpstr>
      <vt:lpstr>Healthcare Expenditure Modeling Challenges</vt:lpstr>
      <vt:lpstr>A Note on Extreme Values</vt:lpstr>
      <vt:lpstr>Healthcare Expenditure Challenges</vt:lpstr>
      <vt:lpstr>Modeling</vt:lpstr>
      <vt:lpstr>The Current State: Dealing with Skew</vt:lpstr>
      <vt:lpstr>Example: Empirical Study</vt:lpstr>
      <vt:lpstr>Common Approaches</vt:lpstr>
      <vt:lpstr>Difference-in-Differences</vt:lpstr>
      <vt:lpstr>Questions</vt:lpstr>
      <vt:lpstr>Purpose of the Study</vt:lpstr>
      <vt:lpstr>Top-Coding Strategies</vt:lpstr>
      <vt:lpstr>Empirical Study</vt:lpstr>
      <vt:lpstr>Research Questions</vt:lpstr>
      <vt:lpstr>Design Grid (3x3x3x4=108)</vt:lpstr>
      <vt:lpstr>Experimental Conditions</vt:lpstr>
      <vt:lpstr>Two-Part Model</vt:lpstr>
      <vt:lpstr>Empirical  Data Summary</vt:lpstr>
      <vt:lpstr>Methodological Process</vt:lpstr>
      <vt:lpstr>DGF: Two-Part Model Specifications</vt:lpstr>
      <vt:lpstr>Pilot Study Results</vt:lpstr>
      <vt:lpstr>Full Factorial ANOVA</vt:lpstr>
      <vt:lpstr>Study Significance</vt:lpstr>
      <vt:lpstr>Limitations &amp; Assumptions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Transforming the Tail: Evaluating Top-Coding and Distributional Adjustments in Skewed Healthcare Expenditure Models</dc:title>
  <dc:subject/>
  <dc:creator>Wiggins, Kimberly</dc:creator>
  <cp:keywords/>
  <dc:description>generated using python-pptx</dc:description>
  <cp:lastModifiedBy>Wiggins, Kimberly</cp:lastModifiedBy>
  <cp:revision>25</cp:revision>
  <dcterms:created xsi:type="dcterms:W3CDTF">2013-01-27T09:14:16Z</dcterms:created>
  <dcterms:modified xsi:type="dcterms:W3CDTF">2025-12-05T16:59:10Z</dcterms:modified>
  <cp:category/>
</cp:coreProperties>
</file>